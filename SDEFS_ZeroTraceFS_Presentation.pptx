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457200" y="-457200"/>
            <a:ext cx="3200400" cy="182880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463040" y="0"/>
            <a:ext cx="54864" cy="13716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18872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Triangle 4"/>
          <p:cNvSpPr/>
          <p:nvPr/>
        </p:nvSpPr>
        <p:spPr>
          <a:xfrm>
            <a:off x="9875520" y="5486400"/>
            <a:ext cx="2560320" cy="15544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89920" y="5120640"/>
            <a:ext cx="38100" cy="54864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338560" y="5394960"/>
            <a:ext cx="45720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601200" y="274320"/>
            <a:ext cx="548640" cy="68580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0" y="320040"/>
            <a:ext cx="548640" cy="594360"/>
          </a:xfrm>
          <a:prstGeom prst="rect">
            <a:avLst/>
          </a:prstGeom>
          <a:noFill/>
        </p:spPr>
        <p:txBody>
          <a:bodyPr wrap="square" anchor="ctr">
            <a:spAutoFit/>
          </a:bodyPr>
          <a:lstStyle/>
          <a:p>
            <a:pPr algn="ctr">
              <a:defRPr sz="1800" b="1" i="0">
                <a:solidFill>
                  <a:srgbClr val="FFFFFF"/>
                </a:solidFill>
                <a:latin typeface="Consolas"/>
              </a:defRPr>
            </a:pPr>
            <a:r>
              <a:t>AU</a:t>
            </a:r>
          </a:p>
        </p:txBody>
      </p:sp>
      <p:sp>
        <p:nvSpPr>
          <p:cNvPr id="10" name="TextBox 9"/>
          <p:cNvSpPr txBox="1"/>
          <p:nvPr/>
        </p:nvSpPr>
        <p:spPr>
          <a:xfrm>
            <a:off x="10241280" y="274320"/>
            <a:ext cx="1828800" cy="365760"/>
          </a:xfrm>
          <a:prstGeom prst="rect">
            <a:avLst/>
          </a:prstGeom>
          <a:noFill/>
        </p:spPr>
        <p:txBody>
          <a:bodyPr wrap="square" anchor="t">
            <a:spAutoFit/>
          </a:bodyPr>
          <a:lstStyle/>
          <a:p>
            <a:pPr algn="l">
              <a:defRPr sz="2000" b="1" i="0">
                <a:solidFill>
                  <a:srgbClr val="1A3C6E"/>
                </a:solidFill>
                <a:latin typeface="Calibri"/>
              </a:defRPr>
            </a:pPr>
            <a:r>
              <a:t>ANURAG</a:t>
            </a:r>
          </a:p>
        </p:txBody>
      </p:sp>
      <p:sp>
        <p:nvSpPr>
          <p:cNvPr id="11" name="TextBox 10"/>
          <p:cNvSpPr txBox="1"/>
          <p:nvPr/>
        </p:nvSpPr>
        <p:spPr>
          <a:xfrm>
            <a:off x="10241280" y="594360"/>
            <a:ext cx="1828800" cy="274320"/>
          </a:xfrm>
          <a:prstGeom prst="rect">
            <a:avLst/>
          </a:prstGeom>
          <a:noFill/>
        </p:spPr>
        <p:txBody>
          <a:bodyPr wrap="square" anchor="t">
            <a:spAutoFit/>
          </a:bodyPr>
          <a:lstStyle/>
          <a:p>
            <a:pPr algn="l">
              <a:defRPr sz="1000" b="1" i="0">
                <a:solidFill>
                  <a:srgbClr val="1A3C6E"/>
                </a:solidFill>
                <a:latin typeface="Calibri"/>
              </a:defRPr>
            </a:pPr>
            <a:r>
              <a:t>U N I V E R S I T Y</a:t>
            </a:r>
          </a:p>
        </p:txBody>
      </p:sp>
      <p:sp>
        <p:nvSpPr>
          <p:cNvPr id="12" name="Rectangle 11"/>
          <p:cNvSpPr/>
          <p:nvPr/>
        </p:nvSpPr>
        <p:spPr>
          <a:xfrm>
            <a:off x="1371600" y="1463040"/>
            <a:ext cx="9418320" cy="12700"/>
          </a:xfrm>
          <a:prstGeom prst="rect">
            <a:avLst/>
          </a:prstGeom>
          <a:solidFill>
            <a:srgbClr val="D0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1508760"/>
            <a:ext cx="9418320" cy="320040"/>
          </a:xfrm>
          <a:prstGeom prst="rect">
            <a:avLst/>
          </a:prstGeom>
          <a:noFill/>
        </p:spPr>
        <p:txBody>
          <a:bodyPr wrap="square" anchor="t">
            <a:spAutoFit/>
          </a:bodyPr>
          <a:lstStyle/>
          <a:p>
            <a:pPr algn="ctr">
              <a:defRPr sz="1200" b="0" i="0">
                <a:solidFill>
                  <a:srgbClr val="666677"/>
                </a:solidFill>
                <a:latin typeface="Consolas"/>
              </a:defRPr>
            </a:pPr>
            <a:r>
              <a:t>Department of Data Science  |  B.Tech CSE (Data Science)</a:t>
            </a:r>
          </a:p>
        </p:txBody>
      </p:sp>
      <p:sp>
        <p:nvSpPr>
          <p:cNvPr id="14" name="Rounded Rectangle 13"/>
          <p:cNvSpPr/>
          <p:nvPr/>
        </p:nvSpPr>
        <p:spPr>
          <a:xfrm>
            <a:off x="1097280" y="2103120"/>
            <a:ext cx="9966960" cy="228600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2194560"/>
            <a:ext cx="9418320" cy="457200"/>
          </a:xfrm>
          <a:prstGeom prst="rect">
            <a:avLst/>
          </a:prstGeom>
          <a:noFill/>
        </p:spPr>
        <p:txBody>
          <a:bodyPr wrap="square" anchor="t">
            <a:spAutoFit/>
          </a:bodyPr>
          <a:lstStyle/>
          <a:p>
            <a:pPr algn="ctr">
              <a:defRPr sz="1800" b="0" i="0">
                <a:solidFill>
                  <a:srgbClr val="F5F6FA"/>
                </a:solidFill>
                <a:latin typeface="Calibri"/>
              </a:defRPr>
            </a:pPr>
            <a:r>
              <a:t>Study Project on R</a:t>
            </a:r>
          </a:p>
        </p:txBody>
      </p:sp>
      <p:sp>
        <p:nvSpPr>
          <p:cNvPr id="16" name="TextBox 15"/>
          <p:cNvSpPr txBox="1"/>
          <p:nvPr/>
        </p:nvSpPr>
        <p:spPr>
          <a:xfrm>
            <a:off x="1371600" y="2651760"/>
            <a:ext cx="9418320" cy="731520"/>
          </a:xfrm>
          <a:prstGeom prst="rect">
            <a:avLst/>
          </a:prstGeom>
          <a:noFill/>
        </p:spPr>
        <p:txBody>
          <a:bodyPr wrap="square" anchor="t">
            <a:spAutoFit/>
          </a:bodyPr>
          <a:lstStyle/>
          <a:p>
            <a:pPr algn="ctr">
              <a:defRPr sz="3400" b="1" i="0">
                <a:solidFill>
                  <a:srgbClr val="FFFFFF"/>
                </a:solidFill>
                <a:latin typeface="Calibri"/>
              </a:defRPr>
            </a:pPr>
            <a:r>
              <a:t>Self-Destructing Encrypted File System</a:t>
            </a:r>
          </a:p>
        </p:txBody>
      </p:sp>
      <p:sp>
        <p:nvSpPr>
          <p:cNvPr id="17" name="Rectangle 16"/>
          <p:cNvSpPr/>
          <p:nvPr/>
        </p:nvSpPr>
        <p:spPr>
          <a:xfrm>
            <a:off x="3657600" y="3429000"/>
            <a:ext cx="4846320" cy="381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3566160"/>
            <a:ext cx="9418320" cy="365760"/>
          </a:xfrm>
          <a:prstGeom prst="rect">
            <a:avLst/>
          </a:prstGeom>
          <a:noFill/>
        </p:spPr>
        <p:txBody>
          <a:bodyPr wrap="square" anchor="t">
            <a:spAutoFit/>
          </a:bodyPr>
          <a:lstStyle/>
          <a:p>
            <a:pPr algn="ctr">
              <a:defRPr sz="1200" b="0" i="1">
                <a:solidFill>
                  <a:srgbClr val="E8EAEF"/>
                </a:solidFill>
                <a:latin typeface="Calibri"/>
              </a:defRPr>
            </a:pPr>
            <a:r>
              <a:t>A secure encrypted file system with automated data lifecycle management</a:t>
            </a:r>
          </a:p>
        </p:txBody>
      </p:sp>
      <p:sp>
        <p:nvSpPr>
          <p:cNvPr id="19" name="Rounded Rectangle 18"/>
          <p:cNvSpPr/>
          <p:nvPr/>
        </p:nvSpPr>
        <p:spPr>
          <a:xfrm>
            <a:off x="4114800" y="3977639"/>
            <a:ext cx="3931920" cy="320040"/>
          </a:xfrm>
          <a:prstGeom prst="round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0" y="3977639"/>
            <a:ext cx="3931920" cy="320040"/>
          </a:xfrm>
          <a:prstGeom prst="rect">
            <a:avLst/>
          </a:prstGeom>
          <a:noFill/>
        </p:spPr>
        <p:txBody>
          <a:bodyPr wrap="square" anchor="ctr">
            <a:spAutoFit/>
          </a:bodyPr>
          <a:lstStyle/>
          <a:p>
            <a:pPr algn="ctr">
              <a:defRPr sz="1000" b="1" i="0">
                <a:solidFill>
                  <a:srgbClr val="FFFFFF"/>
                </a:solidFill>
                <a:latin typeface="Consolas"/>
              </a:defRPr>
            </a:pPr>
            <a:r>
              <a:t>ZeroTraceFS  —  Because some data should never be found</a:t>
            </a:r>
          </a:p>
        </p:txBody>
      </p:sp>
      <p:sp>
        <p:nvSpPr>
          <p:cNvPr id="21" name="Rounded Rectangle 20"/>
          <p:cNvSpPr/>
          <p:nvPr/>
        </p:nvSpPr>
        <p:spPr>
          <a:xfrm>
            <a:off x="731520" y="4572000"/>
            <a:ext cx="5029200" cy="164592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0664" y="4581144"/>
            <a:ext cx="5010912" cy="508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663440"/>
            <a:ext cx="4663440" cy="274320"/>
          </a:xfrm>
          <a:prstGeom prst="rect">
            <a:avLst/>
          </a:prstGeom>
          <a:noFill/>
        </p:spPr>
        <p:txBody>
          <a:bodyPr wrap="square" anchor="t">
            <a:spAutoFit/>
          </a:bodyPr>
          <a:lstStyle/>
          <a:p>
            <a:pPr algn="l">
              <a:defRPr sz="1000" b="1" i="0">
                <a:solidFill>
                  <a:srgbClr val="D41F2C"/>
                </a:solidFill>
                <a:latin typeface="Consolas"/>
              </a:defRPr>
            </a:pPr>
            <a:r>
              <a:t>PRESENTED BY</a:t>
            </a:r>
          </a:p>
        </p:txBody>
      </p:sp>
      <p:sp>
        <p:nvSpPr>
          <p:cNvPr id="24" name="Rectangle 23"/>
          <p:cNvSpPr/>
          <p:nvPr/>
        </p:nvSpPr>
        <p:spPr>
          <a:xfrm>
            <a:off x="914400" y="4937760"/>
            <a:ext cx="4663440" cy="12700"/>
          </a:xfrm>
          <a:prstGeom prst="rect">
            <a:avLst/>
          </a:prstGeom>
          <a:solidFill>
            <a:srgbClr val="D0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029200"/>
            <a:ext cx="4663440" cy="1097280"/>
          </a:xfrm>
          <a:prstGeom prst="rect">
            <a:avLst/>
          </a:prstGeom>
          <a:noFill/>
        </p:spPr>
        <p:txBody>
          <a:bodyPr wrap="square">
            <a:spAutoFit/>
          </a:bodyPr>
          <a:lstStyle/>
          <a:p>
            <a:pPr algn="l">
              <a:spcAft>
                <a:spcPts val="600"/>
              </a:spcAft>
              <a:defRPr sz="1100" b="0" i="0">
                <a:solidFill>
                  <a:srgbClr val="1A1A2E"/>
                </a:solidFill>
                <a:latin typeface="Consolas"/>
              </a:defRPr>
            </a:pPr>
            <a:r>
              <a:t>A Bhavesh Reddy              23EG110D04</a:t>
            </a:r>
          </a:p>
          <a:p>
            <a:pPr algn="l">
              <a:spcAft>
                <a:spcPts val="600"/>
              </a:spcAft>
              <a:defRPr sz="1100" b="0" i="0">
                <a:solidFill>
                  <a:srgbClr val="1A1A2E"/>
                </a:solidFill>
                <a:latin typeface="Consolas"/>
              </a:defRPr>
            </a:pPr>
            <a:r>
              <a:t>Anish Das                    23EG110D07</a:t>
            </a:r>
          </a:p>
          <a:p>
            <a:pPr algn="l">
              <a:spcAft>
                <a:spcPts val="600"/>
              </a:spcAft>
              <a:defRPr sz="1100" b="0" i="0">
                <a:solidFill>
                  <a:srgbClr val="1A1A2E"/>
                </a:solidFill>
                <a:latin typeface="Consolas"/>
              </a:defRPr>
            </a:pPr>
            <a:r>
              <a:t>Ch Vamsha Vardhan            23EG110D16</a:t>
            </a:r>
          </a:p>
        </p:txBody>
      </p:sp>
      <p:sp>
        <p:nvSpPr>
          <p:cNvPr id="26" name="Rounded Rectangle 25"/>
          <p:cNvSpPr/>
          <p:nvPr/>
        </p:nvSpPr>
        <p:spPr>
          <a:xfrm>
            <a:off x="6400800" y="4572000"/>
            <a:ext cx="5029200" cy="164592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9944" y="4581144"/>
            <a:ext cx="5010912" cy="508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4663440"/>
            <a:ext cx="4663440" cy="274320"/>
          </a:xfrm>
          <a:prstGeom prst="rect">
            <a:avLst/>
          </a:prstGeom>
          <a:noFill/>
        </p:spPr>
        <p:txBody>
          <a:bodyPr wrap="square" anchor="t">
            <a:spAutoFit/>
          </a:bodyPr>
          <a:lstStyle/>
          <a:p>
            <a:pPr algn="l">
              <a:defRPr sz="1000" b="1" i="0">
                <a:solidFill>
                  <a:srgbClr val="1A3C6E"/>
                </a:solidFill>
                <a:latin typeface="Consolas"/>
              </a:defRPr>
            </a:pPr>
            <a:r>
              <a:t>UNDER THE GUIDANCE OF</a:t>
            </a:r>
          </a:p>
        </p:txBody>
      </p:sp>
      <p:sp>
        <p:nvSpPr>
          <p:cNvPr id="29" name="Rectangle 28"/>
          <p:cNvSpPr/>
          <p:nvPr/>
        </p:nvSpPr>
        <p:spPr>
          <a:xfrm>
            <a:off x="6583680" y="4937760"/>
            <a:ext cx="4663440" cy="12700"/>
          </a:xfrm>
          <a:prstGeom prst="rect">
            <a:avLst/>
          </a:prstGeom>
          <a:solidFill>
            <a:srgbClr val="D0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5029200"/>
            <a:ext cx="4663440" cy="1097280"/>
          </a:xfrm>
          <a:prstGeom prst="rect">
            <a:avLst/>
          </a:prstGeom>
          <a:noFill/>
        </p:spPr>
        <p:txBody>
          <a:bodyPr wrap="square">
            <a:spAutoFit/>
          </a:bodyPr>
          <a:lstStyle/>
          <a:p>
            <a:pPr algn="l">
              <a:spcAft>
                <a:spcPts val="360"/>
              </a:spcAft>
              <a:defRPr sz="1400" b="1" i="0">
                <a:solidFill>
                  <a:srgbClr val="1A1A2E"/>
                </a:solidFill>
                <a:latin typeface="Calibri"/>
              </a:defRPr>
            </a:pPr>
            <a:r>
              <a:t>Ms. B. Jyothi</a:t>
            </a:r>
          </a:p>
          <a:p>
            <a:pPr algn="l">
              <a:spcAft>
                <a:spcPts val="360"/>
              </a:spcAft>
              <a:defRPr sz="1100" b="0" i="0">
                <a:solidFill>
                  <a:srgbClr val="333344"/>
                </a:solidFill>
                <a:latin typeface="Calibri"/>
              </a:defRPr>
            </a:pPr>
            <a:r>
              <a:t>Assistant Professor</a:t>
            </a:r>
          </a:p>
          <a:p>
            <a:pPr algn="l">
              <a:spcAft>
                <a:spcPts val="360"/>
              </a:spcAft>
              <a:defRPr sz="1000" b="0" i="0">
                <a:solidFill>
                  <a:srgbClr val="666677"/>
                </a:solidFill>
                <a:latin typeface="Calibri"/>
              </a:defRPr>
            </a:pPr>
            <a:r>
              <a:t>Department of Data Science</a:t>
            </a:r>
          </a:p>
          <a:p>
            <a:pPr algn="l">
              <a:spcAft>
                <a:spcPts val="360"/>
              </a:spcAft>
              <a:defRPr sz="1000" b="0" i="0">
                <a:solidFill>
                  <a:srgbClr val="666677"/>
                </a:solidFill>
                <a:latin typeface="Calibri"/>
              </a:defRPr>
            </a:pPr>
            <a:r>
              <a:t>Anurag University, Hyderabad</a:t>
            </a:r>
          </a:p>
        </p:txBody>
      </p:sp>
      <p:sp>
        <p:nvSpPr>
          <p:cNvPr id="31" name="Rounded Rectangle 30"/>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2</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ABSTRACT</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Project Overview and Scope Summary</a:t>
            </a:r>
          </a:p>
        </p:txBody>
      </p:sp>
      <p:sp>
        <p:nvSpPr>
          <p:cNvPr id="20" name="Rounded Rectangle 19"/>
          <p:cNvSpPr/>
          <p:nvPr/>
        </p:nvSpPr>
        <p:spPr>
          <a:xfrm>
            <a:off x="457200" y="2103120"/>
            <a:ext cx="11247120" cy="301752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240280"/>
            <a:ext cx="10698480" cy="777240"/>
          </a:xfrm>
          <a:prstGeom prst="rect">
            <a:avLst/>
          </a:prstGeom>
          <a:noFill/>
        </p:spPr>
        <p:txBody>
          <a:bodyPr wrap="square" anchor="t">
            <a:spAutoFit/>
          </a:bodyPr>
          <a:lstStyle/>
          <a:p>
            <a:pPr algn="l">
              <a:defRPr sz="1200" b="0" i="0">
                <a:solidFill>
                  <a:srgbClr val="333344"/>
                </a:solidFill>
                <a:latin typeface="Calibri"/>
              </a:defRPr>
            </a:pPr>
            <a:r>
              <a:t>The Self-Destructing Encrypted File System (SDEFS), codenamed ZeroTraceFS, is a disk-backed encrypted virtual file system implemented entirely in the R programming language. It addresses a critical gap in data security: the inability of traditional file systems to automatically manage the lifecycle of sensitive information.</a:t>
            </a:r>
          </a:p>
        </p:txBody>
      </p:sp>
      <p:sp>
        <p:nvSpPr>
          <p:cNvPr id="22" name="TextBox 21"/>
          <p:cNvSpPr txBox="1"/>
          <p:nvPr/>
        </p:nvSpPr>
        <p:spPr>
          <a:xfrm>
            <a:off x="731520" y="3017520"/>
            <a:ext cx="10698480" cy="777240"/>
          </a:xfrm>
          <a:prstGeom prst="rect">
            <a:avLst/>
          </a:prstGeom>
          <a:noFill/>
        </p:spPr>
        <p:txBody>
          <a:bodyPr wrap="square" anchor="t">
            <a:spAutoFit/>
          </a:bodyPr>
          <a:lstStyle/>
          <a:p>
            <a:pPr algn="l">
              <a:defRPr sz="1200" b="0" i="0">
                <a:solidFill>
                  <a:srgbClr val="333344"/>
                </a:solidFill>
                <a:latin typeface="Calibri"/>
              </a:defRPr>
            </a:pPr>
            <a:r>
              <a:t>SDEFS combines AES-256-CBC encryption with seven independent automated data destruction triggers, ensuring that confidential data — such as medical records, API credentials, research datasets, and temporary passwords — cannot persist beyond its intended useful life. Keys are derived via PBKDF2 with 100,000 iterations, making brute-force attacks computationally infeasible.</a:t>
            </a:r>
          </a:p>
        </p:txBody>
      </p:sp>
      <p:sp>
        <p:nvSpPr>
          <p:cNvPr id="23" name="TextBox 22"/>
          <p:cNvSpPr txBox="1"/>
          <p:nvPr/>
        </p:nvSpPr>
        <p:spPr>
          <a:xfrm>
            <a:off x="731520" y="3794760"/>
            <a:ext cx="10698480" cy="777240"/>
          </a:xfrm>
          <a:prstGeom prst="rect">
            <a:avLst/>
          </a:prstGeom>
          <a:noFill/>
        </p:spPr>
        <p:txBody>
          <a:bodyPr wrap="square" anchor="t">
            <a:spAutoFit/>
          </a:bodyPr>
          <a:lstStyle/>
          <a:p>
            <a:pPr algn="l">
              <a:defRPr sz="1200" b="0" i="0">
                <a:solidFill>
                  <a:srgbClr val="333344"/>
                </a:solidFill>
                <a:latin typeface="Calibri"/>
              </a:defRPr>
            </a:pPr>
            <a:r>
              <a:t>When any trigger activates, a multi-pass secure wipe protocol overwrites all ciphertext, encryption keys, and metadata on disk with random bytes before file deletion, making data recovery virtually impossible. Built on R6 classes with openssl and digest packages, SDEFS runs on Windows, macOS, and Linux. No manual cleanup, no recoverable traces.</a:t>
            </a:r>
          </a:p>
        </p:txBody>
      </p:sp>
      <p:sp>
        <p:nvSpPr>
          <p:cNvPr id="24" name="Rounded Rectangle 23"/>
          <p:cNvSpPr/>
          <p:nvPr/>
        </p:nvSpPr>
        <p:spPr>
          <a:xfrm>
            <a:off x="640080" y="5303520"/>
            <a:ext cx="3383280" cy="868680"/>
          </a:xfrm>
          <a:prstGeom prst="roundRect">
            <a:avLst/>
          </a:prstGeom>
          <a:solidFill>
            <a:srgbClr val="E3EFFA"/>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349240"/>
            <a:ext cx="3383280" cy="320040"/>
          </a:xfrm>
          <a:prstGeom prst="rect">
            <a:avLst/>
          </a:prstGeom>
          <a:noFill/>
        </p:spPr>
        <p:txBody>
          <a:bodyPr wrap="square" anchor="t">
            <a:spAutoFit/>
          </a:bodyPr>
          <a:lstStyle/>
          <a:p>
            <a:pPr algn="ctr">
              <a:defRPr sz="1200" b="1" i="0">
                <a:solidFill>
                  <a:srgbClr val="1A3C6E"/>
                </a:solidFill>
                <a:latin typeface="Consolas"/>
              </a:defRPr>
            </a:pPr>
            <a:r>
              <a:t>AES-256-CBC</a:t>
            </a:r>
          </a:p>
        </p:txBody>
      </p:sp>
      <p:sp>
        <p:nvSpPr>
          <p:cNvPr id="26" name="TextBox 25"/>
          <p:cNvSpPr txBox="1"/>
          <p:nvPr/>
        </p:nvSpPr>
        <p:spPr>
          <a:xfrm>
            <a:off x="640080" y="5623560"/>
            <a:ext cx="3383280" cy="457200"/>
          </a:xfrm>
          <a:prstGeom prst="rect">
            <a:avLst/>
          </a:prstGeom>
          <a:noFill/>
        </p:spPr>
        <p:txBody>
          <a:bodyPr wrap="square" anchor="t">
            <a:spAutoFit/>
          </a:bodyPr>
          <a:lstStyle/>
          <a:p>
            <a:pPr algn="ctr">
              <a:defRPr sz="900" b="0" i="0">
                <a:solidFill>
                  <a:srgbClr val="666677"/>
                </a:solidFill>
                <a:latin typeface="Calibri"/>
              </a:defRPr>
            </a:pPr>
            <a:r>
              <a:t>Military-grade</a:t>
            </a:r>
            <a:br/>
            <a:r>
              <a:t>encryption</a:t>
            </a:r>
          </a:p>
        </p:txBody>
      </p:sp>
      <p:sp>
        <p:nvSpPr>
          <p:cNvPr id="27" name="Rounded Rectangle 26"/>
          <p:cNvSpPr/>
          <p:nvPr/>
        </p:nvSpPr>
        <p:spPr>
          <a:xfrm>
            <a:off x="4389120" y="5303520"/>
            <a:ext cx="3383280" cy="868680"/>
          </a:xfrm>
          <a:prstGeom prst="roundRect">
            <a:avLst/>
          </a:prstGeom>
          <a:solidFill>
            <a:srgbClr val="FDE8EA"/>
          </a:solidFill>
          <a:ln w="1905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0" y="5349240"/>
            <a:ext cx="3383280" cy="320040"/>
          </a:xfrm>
          <a:prstGeom prst="rect">
            <a:avLst/>
          </a:prstGeom>
          <a:noFill/>
        </p:spPr>
        <p:txBody>
          <a:bodyPr wrap="square" anchor="t">
            <a:spAutoFit/>
          </a:bodyPr>
          <a:lstStyle/>
          <a:p>
            <a:pPr algn="ctr">
              <a:defRPr sz="1200" b="1" i="0">
                <a:solidFill>
                  <a:srgbClr val="D41F2C"/>
                </a:solidFill>
                <a:latin typeface="Consolas"/>
              </a:defRPr>
            </a:pPr>
            <a:r>
              <a:t>7 TRIGGERS</a:t>
            </a:r>
          </a:p>
        </p:txBody>
      </p:sp>
      <p:sp>
        <p:nvSpPr>
          <p:cNvPr id="29" name="TextBox 28"/>
          <p:cNvSpPr txBox="1"/>
          <p:nvPr/>
        </p:nvSpPr>
        <p:spPr>
          <a:xfrm>
            <a:off x="4389120" y="5623560"/>
            <a:ext cx="3383280" cy="457200"/>
          </a:xfrm>
          <a:prstGeom prst="rect">
            <a:avLst/>
          </a:prstGeom>
          <a:noFill/>
        </p:spPr>
        <p:txBody>
          <a:bodyPr wrap="square" anchor="t">
            <a:spAutoFit/>
          </a:bodyPr>
          <a:lstStyle/>
          <a:p>
            <a:pPr algn="ctr">
              <a:defRPr sz="900" b="0" i="0">
                <a:solidFill>
                  <a:srgbClr val="666677"/>
                </a:solidFill>
                <a:latin typeface="Calibri"/>
              </a:defRPr>
            </a:pPr>
            <a:r>
              <a:t>Automated</a:t>
            </a:r>
            <a:br/>
            <a:r>
              <a:t>destruction</a:t>
            </a:r>
          </a:p>
        </p:txBody>
      </p:sp>
      <p:sp>
        <p:nvSpPr>
          <p:cNvPr id="30" name="Rounded Rectangle 29"/>
          <p:cNvSpPr/>
          <p:nvPr/>
        </p:nvSpPr>
        <p:spPr>
          <a:xfrm>
            <a:off x="8138159" y="5303520"/>
            <a:ext cx="3383280" cy="868680"/>
          </a:xfrm>
          <a:prstGeom prst="roundRect">
            <a:avLst/>
          </a:prstGeom>
          <a:solidFill>
            <a:srgbClr val="E6F7EE"/>
          </a:solidFill>
          <a:ln w="1905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38159" y="5349240"/>
            <a:ext cx="3383280" cy="320040"/>
          </a:xfrm>
          <a:prstGeom prst="rect">
            <a:avLst/>
          </a:prstGeom>
          <a:noFill/>
        </p:spPr>
        <p:txBody>
          <a:bodyPr wrap="square" anchor="t">
            <a:spAutoFit/>
          </a:bodyPr>
          <a:lstStyle/>
          <a:p>
            <a:pPr algn="ctr">
              <a:defRPr sz="1200" b="1" i="0">
                <a:solidFill>
                  <a:srgbClr val="1B9E5E"/>
                </a:solidFill>
                <a:latin typeface="Consolas"/>
              </a:defRPr>
            </a:pPr>
            <a:r>
              <a:t>SECURE WIPE</a:t>
            </a:r>
          </a:p>
        </p:txBody>
      </p:sp>
      <p:sp>
        <p:nvSpPr>
          <p:cNvPr id="32" name="TextBox 31"/>
          <p:cNvSpPr txBox="1"/>
          <p:nvPr/>
        </p:nvSpPr>
        <p:spPr>
          <a:xfrm>
            <a:off x="8138159" y="5623560"/>
            <a:ext cx="3383280" cy="457200"/>
          </a:xfrm>
          <a:prstGeom prst="rect">
            <a:avLst/>
          </a:prstGeom>
          <a:noFill/>
        </p:spPr>
        <p:txBody>
          <a:bodyPr wrap="square" anchor="t">
            <a:spAutoFit/>
          </a:bodyPr>
          <a:lstStyle/>
          <a:p>
            <a:pPr algn="ctr">
              <a:defRPr sz="900" b="0" i="0">
                <a:solidFill>
                  <a:srgbClr val="666677"/>
                </a:solidFill>
                <a:latin typeface="Calibri"/>
              </a:defRPr>
            </a:pPr>
            <a:r>
              <a:t>Forensic-proof</a:t>
            </a:r>
            <a:br/>
            <a:r>
              <a:t>erasure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3</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INTRODUCTION / PROBLEM STATEMENT</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Why traditional file systems fail for sensitive data</a:t>
            </a:r>
          </a:p>
        </p:txBody>
      </p:sp>
      <p:sp>
        <p:nvSpPr>
          <p:cNvPr id="20" name="Rounded Rectangle 19"/>
          <p:cNvSpPr/>
          <p:nvPr/>
        </p:nvSpPr>
        <p:spPr>
          <a:xfrm>
            <a:off x="457200" y="2103120"/>
            <a:ext cx="11247120" cy="502920"/>
          </a:xfrm>
          <a:prstGeom prst="roundRect">
            <a:avLst/>
          </a:prstGeom>
          <a:solidFill>
            <a:srgbClr val="FDE8EA"/>
          </a:solidFill>
          <a:ln w="1905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148840"/>
            <a:ext cx="10881360" cy="411480"/>
          </a:xfrm>
          <a:prstGeom prst="rect">
            <a:avLst/>
          </a:prstGeom>
          <a:noFill/>
        </p:spPr>
        <p:txBody>
          <a:bodyPr wrap="square" anchor="ctr">
            <a:spAutoFit/>
          </a:bodyPr>
          <a:lstStyle/>
          <a:p>
            <a:pPr algn="ctr">
              <a:defRPr sz="1100" b="1" i="0">
                <a:solidFill>
                  <a:srgbClr val="D41F2C"/>
                </a:solidFill>
                <a:latin typeface="Consolas"/>
              </a:defRPr>
            </a:pPr>
            <a:r>
              <a:t>Traditional file systems have a fundamental flaw: deleted files are never truly deleted. Data lingers on disk and can be recovered with forensic tools hours, days, or even years later.</a:t>
            </a:r>
          </a:p>
        </p:txBody>
      </p:sp>
      <p:sp>
        <p:nvSpPr>
          <p:cNvPr id="22" name="Rounded Rectangle 21"/>
          <p:cNvSpPr/>
          <p:nvPr/>
        </p:nvSpPr>
        <p:spPr>
          <a:xfrm>
            <a:off x="457200" y="2834640"/>
            <a:ext cx="3474720" cy="1691640"/>
          </a:xfrm>
          <a:prstGeom prst="roundRect">
            <a:avLst/>
          </a:prstGeom>
          <a:solidFill>
            <a:srgbClr val="1A1A2E"/>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971800"/>
            <a:ext cx="3108960" cy="320040"/>
          </a:xfrm>
          <a:prstGeom prst="rect">
            <a:avLst/>
          </a:prstGeom>
          <a:noFill/>
        </p:spPr>
        <p:txBody>
          <a:bodyPr wrap="square" anchor="t">
            <a:spAutoFit/>
          </a:bodyPr>
          <a:lstStyle/>
          <a:p>
            <a:pPr algn="l">
              <a:defRPr sz="1100" b="1" i="0">
                <a:solidFill>
                  <a:srgbClr val="D41F2C"/>
                </a:solidFill>
                <a:latin typeface="Consolas"/>
              </a:defRPr>
            </a:pPr>
            <a:r>
              <a:t>✘  PERSISTENT STORAGE</a:t>
            </a:r>
          </a:p>
        </p:txBody>
      </p:sp>
      <p:sp>
        <p:nvSpPr>
          <p:cNvPr id="24" name="Rectangle 23"/>
          <p:cNvSpPr/>
          <p:nvPr/>
        </p:nvSpPr>
        <p:spPr>
          <a:xfrm>
            <a:off x="640080" y="3291840"/>
            <a:ext cx="3108960" cy="127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429000"/>
            <a:ext cx="3108960" cy="1005840"/>
          </a:xfrm>
          <a:prstGeom prst="rect">
            <a:avLst/>
          </a:prstGeom>
          <a:noFill/>
        </p:spPr>
        <p:txBody>
          <a:bodyPr wrap="square" anchor="t">
            <a:spAutoFit/>
          </a:bodyPr>
          <a:lstStyle/>
          <a:p>
            <a:pPr algn="ctr">
              <a:defRPr sz="1100" b="0" i="0">
                <a:solidFill>
                  <a:srgbClr val="FFFFFF"/>
                </a:solidFill>
                <a:latin typeface="Calibri"/>
              </a:defRPr>
            </a:pPr>
            <a:r>
              <a:t>Data remains stored indefinitely</a:t>
            </a:r>
            <a:br/>
            <a:r>
              <a:t>until manually deleted by user.</a:t>
            </a:r>
            <a:br/>
            <a:r>
              <a:t>No automatic expiration exists.</a:t>
            </a:r>
          </a:p>
        </p:txBody>
      </p:sp>
      <p:sp>
        <p:nvSpPr>
          <p:cNvPr id="26" name="Rounded Rectangle 25"/>
          <p:cNvSpPr/>
          <p:nvPr/>
        </p:nvSpPr>
        <p:spPr>
          <a:xfrm>
            <a:off x="4251960" y="2834640"/>
            <a:ext cx="3474720" cy="1691640"/>
          </a:xfrm>
          <a:prstGeom prst="roundRect">
            <a:avLst/>
          </a:prstGeom>
          <a:solidFill>
            <a:srgbClr val="1A1A2E"/>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2971800"/>
            <a:ext cx="3108960" cy="320040"/>
          </a:xfrm>
          <a:prstGeom prst="rect">
            <a:avLst/>
          </a:prstGeom>
          <a:noFill/>
        </p:spPr>
        <p:txBody>
          <a:bodyPr wrap="square" anchor="t">
            <a:spAutoFit/>
          </a:bodyPr>
          <a:lstStyle/>
          <a:p>
            <a:pPr algn="l">
              <a:defRPr sz="1100" b="1" i="0">
                <a:solidFill>
                  <a:srgbClr val="D41F2C"/>
                </a:solidFill>
                <a:latin typeface="Consolas"/>
              </a:defRPr>
            </a:pPr>
            <a:r>
              <a:t>✘  NO AUTO-EXPIRY</a:t>
            </a:r>
          </a:p>
        </p:txBody>
      </p:sp>
      <p:sp>
        <p:nvSpPr>
          <p:cNvPr id="28" name="Rectangle 27"/>
          <p:cNvSpPr/>
          <p:nvPr/>
        </p:nvSpPr>
        <p:spPr>
          <a:xfrm>
            <a:off x="4434840" y="3291840"/>
            <a:ext cx="3108960" cy="127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3429000"/>
            <a:ext cx="3108960" cy="1005840"/>
          </a:xfrm>
          <a:prstGeom prst="rect">
            <a:avLst/>
          </a:prstGeom>
          <a:noFill/>
        </p:spPr>
        <p:txBody>
          <a:bodyPr wrap="square" anchor="t">
            <a:spAutoFit/>
          </a:bodyPr>
          <a:lstStyle/>
          <a:p>
            <a:pPr algn="ctr">
              <a:defRPr sz="1100" b="0" i="0">
                <a:solidFill>
                  <a:srgbClr val="FFFFFF"/>
                </a:solidFill>
                <a:latin typeface="Calibri"/>
              </a:defRPr>
            </a:pPr>
            <a:r>
              <a:t>Traditional systems have zero</a:t>
            </a:r>
            <a:br/>
            <a:r>
              <a:t>mechanism for time-based</a:t>
            </a:r>
            <a:br/>
            <a:r>
              <a:t>or condition-based deletion.</a:t>
            </a:r>
          </a:p>
        </p:txBody>
      </p:sp>
      <p:sp>
        <p:nvSpPr>
          <p:cNvPr id="30" name="Rounded Rectangle 29"/>
          <p:cNvSpPr/>
          <p:nvPr/>
        </p:nvSpPr>
        <p:spPr>
          <a:xfrm>
            <a:off x="8046720" y="2834640"/>
            <a:ext cx="3474720" cy="1691640"/>
          </a:xfrm>
          <a:prstGeom prst="roundRect">
            <a:avLst/>
          </a:prstGeom>
          <a:solidFill>
            <a:srgbClr val="1A1A2E"/>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2971800"/>
            <a:ext cx="3108960" cy="320040"/>
          </a:xfrm>
          <a:prstGeom prst="rect">
            <a:avLst/>
          </a:prstGeom>
          <a:noFill/>
        </p:spPr>
        <p:txBody>
          <a:bodyPr wrap="square" anchor="t">
            <a:spAutoFit/>
          </a:bodyPr>
          <a:lstStyle/>
          <a:p>
            <a:pPr algn="l">
              <a:defRPr sz="1100" b="1" i="0">
                <a:solidFill>
                  <a:srgbClr val="D41F2C"/>
                </a:solidFill>
                <a:latin typeface="Consolas"/>
              </a:defRPr>
            </a:pPr>
            <a:r>
              <a:t>✘  SENSITIVE DATA RISK</a:t>
            </a:r>
          </a:p>
        </p:txBody>
      </p:sp>
      <p:sp>
        <p:nvSpPr>
          <p:cNvPr id="32" name="Rectangle 31"/>
          <p:cNvSpPr/>
          <p:nvPr/>
        </p:nvSpPr>
        <p:spPr>
          <a:xfrm>
            <a:off x="8229600" y="3291840"/>
            <a:ext cx="3108960" cy="127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3429000"/>
            <a:ext cx="3108960" cy="1005840"/>
          </a:xfrm>
          <a:prstGeom prst="rect">
            <a:avLst/>
          </a:prstGeom>
          <a:noFill/>
        </p:spPr>
        <p:txBody>
          <a:bodyPr wrap="square" anchor="t">
            <a:spAutoFit/>
          </a:bodyPr>
          <a:lstStyle/>
          <a:p>
            <a:pPr algn="ctr">
              <a:defRPr sz="1100" b="0" i="0">
                <a:solidFill>
                  <a:srgbClr val="FFFFFF"/>
                </a:solidFill>
                <a:latin typeface="Calibri"/>
              </a:defRPr>
            </a:pPr>
            <a:r>
              <a:t>API keys, medical records,</a:t>
            </a:r>
            <a:br/>
            <a:r>
              <a:t>credentials persist forever</a:t>
            </a:r>
            <a:br/>
            <a:r>
              <a:t>creating massive attack surface.</a:t>
            </a:r>
          </a:p>
        </p:txBody>
      </p:sp>
      <p:sp>
        <p:nvSpPr>
          <p:cNvPr id="34" name="Rounded Rectangle 33"/>
          <p:cNvSpPr/>
          <p:nvPr/>
        </p:nvSpPr>
        <p:spPr>
          <a:xfrm>
            <a:off x="2377440" y="4754880"/>
            <a:ext cx="3474720" cy="1691640"/>
          </a:xfrm>
          <a:prstGeom prst="roundRect">
            <a:avLst/>
          </a:prstGeom>
          <a:solidFill>
            <a:srgbClr val="1A1A2E"/>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0" y="4892040"/>
            <a:ext cx="3108960" cy="320040"/>
          </a:xfrm>
          <a:prstGeom prst="rect">
            <a:avLst/>
          </a:prstGeom>
          <a:noFill/>
        </p:spPr>
        <p:txBody>
          <a:bodyPr wrap="square" anchor="t">
            <a:spAutoFit/>
          </a:bodyPr>
          <a:lstStyle/>
          <a:p>
            <a:pPr algn="l">
              <a:defRPr sz="1100" b="1" i="0">
                <a:solidFill>
                  <a:srgbClr val="D41F2C"/>
                </a:solidFill>
                <a:latin typeface="Consolas"/>
              </a:defRPr>
            </a:pPr>
            <a:r>
              <a:t>✘  UNRELIABLE DELETION</a:t>
            </a:r>
          </a:p>
        </p:txBody>
      </p:sp>
      <p:sp>
        <p:nvSpPr>
          <p:cNvPr id="36" name="Rectangle 35"/>
          <p:cNvSpPr/>
          <p:nvPr/>
        </p:nvSpPr>
        <p:spPr>
          <a:xfrm>
            <a:off x="2560320" y="5212080"/>
            <a:ext cx="3108960" cy="127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60320" y="5349240"/>
            <a:ext cx="3108960" cy="1005840"/>
          </a:xfrm>
          <a:prstGeom prst="rect">
            <a:avLst/>
          </a:prstGeom>
          <a:noFill/>
        </p:spPr>
        <p:txBody>
          <a:bodyPr wrap="square" anchor="t">
            <a:spAutoFit/>
          </a:bodyPr>
          <a:lstStyle/>
          <a:p>
            <a:pPr algn="ctr">
              <a:defRPr sz="1100" b="0" i="0">
                <a:solidFill>
                  <a:srgbClr val="FFFFFF"/>
                </a:solidFill>
                <a:latin typeface="Calibri"/>
              </a:defRPr>
            </a:pPr>
            <a:r>
              <a:t>Manual deletion is error-prone.</a:t>
            </a:r>
            <a:br/>
            <a:r>
              <a:t>Users forget, data lingers,</a:t>
            </a:r>
            <a:br/>
            <a:r>
              <a:t>recovery tools can retrieve it.</a:t>
            </a:r>
          </a:p>
        </p:txBody>
      </p:sp>
      <p:sp>
        <p:nvSpPr>
          <p:cNvPr id="38" name="Rounded Rectangle 37"/>
          <p:cNvSpPr/>
          <p:nvPr/>
        </p:nvSpPr>
        <p:spPr>
          <a:xfrm>
            <a:off x="6172200" y="4754880"/>
            <a:ext cx="3474720" cy="1691640"/>
          </a:xfrm>
          <a:prstGeom prst="roundRect">
            <a:avLst/>
          </a:prstGeom>
          <a:solidFill>
            <a:srgbClr val="1A1A2E"/>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4892040"/>
            <a:ext cx="3108960" cy="320040"/>
          </a:xfrm>
          <a:prstGeom prst="rect">
            <a:avLst/>
          </a:prstGeom>
          <a:noFill/>
        </p:spPr>
        <p:txBody>
          <a:bodyPr wrap="square" anchor="t">
            <a:spAutoFit/>
          </a:bodyPr>
          <a:lstStyle/>
          <a:p>
            <a:pPr algn="l">
              <a:defRPr sz="1100" b="1" i="0">
                <a:solidFill>
                  <a:srgbClr val="D41F2C"/>
                </a:solidFill>
                <a:latin typeface="Consolas"/>
              </a:defRPr>
            </a:pPr>
            <a:r>
              <a:t>✘  ATTACK VULNERABLE</a:t>
            </a:r>
          </a:p>
        </p:txBody>
      </p:sp>
      <p:sp>
        <p:nvSpPr>
          <p:cNvPr id="40" name="Rectangle 39"/>
          <p:cNvSpPr/>
          <p:nvPr/>
        </p:nvSpPr>
        <p:spPr>
          <a:xfrm>
            <a:off x="6355080" y="5212080"/>
            <a:ext cx="3108960" cy="127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5349240"/>
            <a:ext cx="3108960" cy="1005840"/>
          </a:xfrm>
          <a:prstGeom prst="rect">
            <a:avLst/>
          </a:prstGeom>
          <a:noFill/>
        </p:spPr>
        <p:txBody>
          <a:bodyPr wrap="square" anchor="t">
            <a:spAutoFit/>
          </a:bodyPr>
          <a:lstStyle/>
          <a:p>
            <a:pPr algn="ctr">
              <a:defRPr sz="1100" b="0" i="0">
                <a:solidFill>
                  <a:srgbClr val="FFFFFF"/>
                </a:solidFill>
                <a:latin typeface="Calibri"/>
              </a:defRPr>
            </a:pPr>
            <a:r>
              <a:t>No protection against brute-force</a:t>
            </a:r>
            <a:br/>
            <a:r>
              <a:t>password attacks or physical</a:t>
            </a:r>
            <a:br/>
            <a:r>
              <a:t>coercion scenarios.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4</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EXISTING SOLUTIONS</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Current Tools and Approaches</a:t>
            </a:r>
          </a:p>
        </p:txBody>
      </p:sp>
      <p:sp>
        <p:nvSpPr>
          <p:cNvPr id="20" name="Rounded Rectangle 19"/>
          <p:cNvSpPr/>
          <p:nvPr/>
        </p:nvSpPr>
        <p:spPr>
          <a:xfrm>
            <a:off x="457200" y="2103120"/>
            <a:ext cx="3474720" cy="3931920"/>
          </a:xfrm>
          <a:prstGeom prst="roundRect">
            <a:avLst/>
          </a:prstGeom>
          <a:solidFill>
            <a:srgbClr val="F0F2F7"/>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344" y="2112264"/>
            <a:ext cx="3456432" cy="508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240280"/>
            <a:ext cx="3474720" cy="320040"/>
          </a:xfrm>
          <a:prstGeom prst="rect">
            <a:avLst/>
          </a:prstGeom>
          <a:noFill/>
        </p:spPr>
        <p:txBody>
          <a:bodyPr wrap="square" anchor="t">
            <a:spAutoFit/>
          </a:bodyPr>
          <a:lstStyle/>
          <a:p>
            <a:pPr algn="ctr">
              <a:defRPr sz="1200" b="1" i="0">
                <a:solidFill>
                  <a:srgbClr val="1A3C6E"/>
                </a:solidFill>
                <a:latin typeface="Consolas"/>
              </a:defRPr>
            </a:pPr>
            <a:r>
              <a:t>VeraCrypt / BitLocker</a:t>
            </a:r>
          </a:p>
        </p:txBody>
      </p:sp>
      <p:sp>
        <p:nvSpPr>
          <p:cNvPr id="23" name="TextBox 22"/>
          <p:cNvSpPr txBox="1"/>
          <p:nvPr/>
        </p:nvSpPr>
        <p:spPr>
          <a:xfrm>
            <a:off x="457200" y="2560320"/>
            <a:ext cx="3474720" cy="182880"/>
          </a:xfrm>
          <a:prstGeom prst="rect">
            <a:avLst/>
          </a:prstGeom>
          <a:noFill/>
        </p:spPr>
        <p:txBody>
          <a:bodyPr wrap="square" anchor="t">
            <a:spAutoFit/>
          </a:bodyPr>
          <a:lstStyle/>
          <a:p>
            <a:pPr algn="ctr">
              <a:defRPr sz="900" b="0" i="0">
                <a:solidFill>
                  <a:srgbClr val="9999AA"/>
                </a:solidFill>
                <a:latin typeface="Consolas"/>
              </a:defRPr>
            </a:pPr>
            <a:r>
              <a:t>Full-Disk Encryption</a:t>
            </a:r>
          </a:p>
        </p:txBody>
      </p:sp>
      <p:sp>
        <p:nvSpPr>
          <p:cNvPr id="24" name="Rectangle 23"/>
          <p:cNvSpPr/>
          <p:nvPr/>
        </p:nvSpPr>
        <p:spPr>
          <a:xfrm>
            <a:off x="594360" y="2788920"/>
            <a:ext cx="32004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880360"/>
            <a:ext cx="3200400" cy="914400"/>
          </a:xfrm>
          <a:prstGeom prst="rect">
            <a:avLst/>
          </a:prstGeom>
          <a:noFill/>
        </p:spPr>
        <p:txBody>
          <a:bodyPr wrap="square" anchor="t">
            <a:spAutoFit/>
          </a:bodyPr>
          <a:lstStyle/>
          <a:p>
            <a:pPr algn="l">
              <a:defRPr sz="1000" b="0" i="0">
                <a:solidFill>
                  <a:srgbClr val="666677"/>
                </a:solidFill>
                <a:latin typeface="Calibri"/>
              </a:defRPr>
            </a:pPr>
            <a:r>
              <a:t>Encrypts entire drives.</a:t>
            </a:r>
            <a:br/>
            <a:r>
              <a:t>Industry standard for</a:t>
            </a:r>
            <a:br/>
            <a:r>
              <a:t>disk protection.</a:t>
            </a:r>
          </a:p>
        </p:txBody>
      </p:sp>
      <p:sp>
        <p:nvSpPr>
          <p:cNvPr id="26" name="Rectangle 25"/>
          <p:cNvSpPr/>
          <p:nvPr/>
        </p:nvSpPr>
        <p:spPr>
          <a:xfrm>
            <a:off x="594360" y="3840480"/>
            <a:ext cx="32004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4360" y="3995927"/>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995927"/>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29" name="TextBox 28"/>
          <p:cNvSpPr txBox="1"/>
          <p:nvPr/>
        </p:nvSpPr>
        <p:spPr>
          <a:xfrm>
            <a:off x="914400" y="3995927"/>
            <a:ext cx="2880360" cy="228600"/>
          </a:xfrm>
          <a:prstGeom prst="rect">
            <a:avLst/>
          </a:prstGeom>
          <a:noFill/>
        </p:spPr>
        <p:txBody>
          <a:bodyPr wrap="square" anchor="t">
            <a:spAutoFit/>
          </a:bodyPr>
          <a:lstStyle/>
          <a:p>
            <a:pPr algn="l">
              <a:defRPr sz="900" b="0" i="0">
                <a:solidFill>
                  <a:srgbClr val="333344"/>
                </a:solidFill>
                <a:latin typeface="Calibri"/>
              </a:defRPr>
            </a:pPr>
            <a:r>
              <a:t>Strong encryption</a:t>
            </a:r>
          </a:p>
        </p:txBody>
      </p:sp>
      <p:sp>
        <p:nvSpPr>
          <p:cNvPr id="30" name="Oval 29"/>
          <p:cNvSpPr/>
          <p:nvPr/>
        </p:nvSpPr>
        <p:spPr>
          <a:xfrm>
            <a:off x="594360" y="4361688"/>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4361688"/>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32" name="TextBox 31"/>
          <p:cNvSpPr txBox="1"/>
          <p:nvPr/>
        </p:nvSpPr>
        <p:spPr>
          <a:xfrm>
            <a:off x="914400" y="4361688"/>
            <a:ext cx="2880360" cy="228600"/>
          </a:xfrm>
          <a:prstGeom prst="rect">
            <a:avLst/>
          </a:prstGeom>
          <a:noFill/>
        </p:spPr>
        <p:txBody>
          <a:bodyPr wrap="square" anchor="t">
            <a:spAutoFit/>
          </a:bodyPr>
          <a:lstStyle/>
          <a:p>
            <a:pPr algn="l">
              <a:defRPr sz="900" b="0" i="0">
                <a:solidFill>
                  <a:srgbClr val="333344"/>
                </a:solidFill>
                <a:latin typeface="Calibri"/>
              </a:defRPr>
            </a:pPr>
            <a:r>
              <a:t>Transparent to apps</a:t>
            </a:r>
          </a:p>
        </p:txBody>
      </p:sp>
      <p:sp>
        <p:nvSpPr>
          <p:cNvPr id="33" name="Oval 32"/>
          <p:cNvSpPr/>
          <p:nvPr/>
        </p:nvSpPr>
        <p:spPr>
          <a:xfrm>
            <a:off x="594360" y="4727447"/>
            <a:ext cx="228600" cy="228600"/>
          </a:xfrm>
          <a:prstGeom prst="ellipse">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4727447"/>
            <a:ext cx="228600" cy="228600"/>
          </a:xfrm>
          <a:prstGeom prst="rect">
            <a:avLst/>
          </a:prstGeom>
          <a:noFill/>
        </p:spPr>
        <p:txBody>
          <a:bodyPr wrap="square" anchor="ctr">
            <a:spAutoFit/>
          </a:bodyPr>
          <a:lstStyle/>
          <a:p>
            <a:pPr algn="ctr">
              <a:defRPr sz="1000" b="1" i="0">
                <a:solidFill>
                  <a:srgbClr val="D41F2C"/>
                </a:solidFill>
                <a:latin typeface="Consolas"/>
              </a:defRPr>
            </a:pPr>
            <a:r>
              <a:t>✗</a:t>
            </a:r>
          </a:p>
        </p:txBody>
      </p:sp>
      <p:sp>
        <p:nvSpPr>
          <p:cNvPr id="35" name="TextBox 34"/>
          <p:cNvSpPr txBox="1"/>
          <p:nvPr/>
        </p:nvSpPr>
        <p:spPr>
          <a:xfrm>
            <a:off x="914400" y="4727447"/>
            <a:ext cx="2880360" cy="228600"/>
          </a:xfrm>
          <a:prstGeom prst="rect">
            <a:avLst/>
          </a:prstGeom>
          <a:noFill/>
        </p:spPr>
        <p:txBody>
          <a:bodyPr wrap="square" anchor="t">
            <a:spAutoFit/>
          </a:bodyPr>
          <a:lstStyle/>
          <a:p>
            <a:pPr algn="l">
              <a:defRPr sz="900" b="0" i="0">
                <a:solidFill>
                  <a:srgbClr val="333344"/>
                </a:solidFill>
                <a:latin typeface="Calibri"/>
              </a:defRPr>
            </a:pPr>
            <a:r>
              <a:t>No auto-destruction</a:t>
            </a:r>
          </a:p>
        </p:txBody>
      </p:sp>
      <p:sp>
        <p:nvSpPr>
          <p:cNvPr id="36" name="Oval 35"/>
          <p:cNvSpPr/>
          <p:nvPr/>
        </p:nvSpPr>
        <p:spPr>
          <a:xfrm>
            <a:off x="594360" y="5093208"/>
            <a:ext cx="228600" cy="228600"/>
          </a:xfrm>
          <a:prstGeom prst="ellipse">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5093208"/>
            <a:ext cx="228600" cy="228600"/>
          </a:xfrm>
          <a:prstGeom prst="rect">
            <a:avLst/>
          </a:prstGeom>
          <a:noFill/>
        </p:spPr>
        <p:txBody>
          <a:bodyPr wrap="square" anchor="ctr">
            <a:spAutoFit/>
          </a:bodyPr>
          <a:lstStyle/>
          <a:p>
            <a:pPr algn="ctr">
              <a:defRPr sz="1000" b="1" i="0">
                <a:solidFill>
                  <a:srgbClr val="D41F2C"/>
                </a:solidFill>
                <a:latin typeface="Consolas"/>
              </a:defRPr>
            </a:pPr>
            <a:r>
              <a:t>✗</a:t>
            </a:r>
          </a:p>
        </p:txBody>
      </p:sp>
      <p:sp>
        <p:nvSpPr>
          <p:cNvPr id="38" name="TextBox 37"/>
          <p:cNvSpPr txBox="1"/>
          <p:nvPr/>
        </p:nvSpPr>
        <p:spPr>
          <a:xfrm>
            <a:off x="914400" y="5093208"/>
            <a:ext cx="2880360" cy="228600"/>
          </a:xfrm>
          <a:prstGeom prst="rect">
            <a:avLst/>
          </a:prstGeom>
          <a:noFill/>
        </p:spPr>
        <p:txBody>
          <a:bodyPr wrap="square" anchor="t">
            <a:spAutoFit/>
          </a:bodyPr>
          <a:lstStyle/>
          <a:p>
            <a:pPr algn="l">
              <a:defRPr sz="900" b="0" i="0">
                <a:solidFill>
                  <a:srgbClr val="333344"/>
                </a:solidFill>
                <a:latin typeface="Calibri"/>
              </a:defRPr>
            </a:pPr>
            <a:r>
              <a:t>No per-file policies</a:t>
            </a:r>
          </a:p>
        </p:txBody>
      </p:sp>
      <p:sp>
        <p:nvSpPr>
          <p:cNvPr id="39" name="Rounded Rectangle 38"/>
          <p:cNvSpPr/>
          <p:nvPr/>
        </p:nvSpPr>
        <p:spPr>
          <a:xfrm>
            <a:off x="4251960" y="2103120"/>
            <a:ext cx="3474720" cy="3931920"/>
          </a:xfrm>
          <a:prstGeom prst="roundRect">
            <a:avLst/>
          </a:prstGeom>
          <a:solidFill>
            <a:srgbClr val="F0F2F7"/>
          </a:solidFill>
          <a:ln w="1905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61104" y="2112264"/>
            <a:ext cx="3456432" cy="50800"/>
          </a:xfrm>
          <a:prstGeom prst="rect">
            <a:avLst/>
          </a:prstGeom>
          <a:solidFill>
            <a:srgbClr val="1B9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51960" y="2240280"/>
            <a:ext cx="3474720" cy="320040"/>
          </a:xfrm>
          <a:prstGeom prst="rect">
            <a:avLst/>
          </a:prstGeom>
          <a:noFill/>
        </p:spPr>
        <p:txBody>
          <a:bodyPr wrap="square" anchor="t">
            <a:spAutoFit/>
          </a:bodyPr>
          <a:lstStyle/>
          <a:p>
            <a:pPr algn="ctr">
              <a:defRPr sz="1200" b="1" i="0">
                <a:solidFill>
                  <a:srgbClr val="1B9E5E"/>
                </a:solidFill>
                <a:latin typeface="Consolas"/>
              </a:defRPr>
            </a:pPr>
            <a:r>
              <a:t>Signal / Snapchat</a:t>
            </a:r>
          </a:p>
        </p:txBody>
      </p:sp>
      <p:sp>
        <p:nvSpPr>
          <p:cNvPr id="42" name="TextBox 41"/>
          <p:cNvSpPr txBox="1"/>
          <p:nvPr/>
        </p:nvSpPr>
        <p:spPr>
          <a:xfrm>
            <a:off x="4251960" y="2560320"/>
            <a:ext cx="3474720" cy="182880"/>
          </a:xfrm>
          <a:prstGeom prst="rect">
            <a:avLst/>
          </a:prstGeom>
          <a:noFill/>
        </p:spPr>
        <p:txBody>
          <a:bodyPr wrap="square" anchor="t">
            <a:spAutoFit/>
          </a:bodyPr>
          <a:lstStyle/>
          <a:p>
            <a:pPr algn="ctr">
              <a:defRPr sz="900" b="0" i="0">
                <a:solidFill>
                  <a:srgbClr val="9999AA"/>
                </a:solidFill>
                <a:latin typeface="Consolas"/>
              </a:defRPr>
            </a:pPr>
            <a:r>
              <a:t>Disappearing Messages</a:t>
            </a:r>
          </a:p>
        </p:txBody>
      </p:sp>
      <p:sp>
        <p:nvSpPr>
          <p:cNvPr id="43" name="Rectangle 42"/>
          <p:cNvSpPr/>
          <p:nvPr/>
        </p:nvSpPr>
        <p:spPr>
          <a:xfrm>
            <a:off x="4389120" y="2788920"/>
            <a:ext cx="32004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0" y="2880360"/>
            <a:ext cx="3200400" cy="914400"/>
          </a:xfrm>
          <a:prstGeom prst="rect">
            <a:avLst/>
          </a:prstGeom>
          <a:noFill/>
        </p:spPr>
        <p:txBody>
          <a:bodyPr wrap="square" anchor="t">
            <a:spAutoFit/>
          </a:bodyPr>
          <a:lstStyle/>
          <a:p>
            <a:pPr algn="l">
              <a:defRPr sz="1000" b="0" i="0">
                <a:solidFill>
                  <a:srgbClr val="666677"/>
                </a:solidFill>
                <a:latin typeface="Calibri"/>
              </a:defRPr>
            </a:pPr>
            <a:r>
              <a:t>Time-based message deletion.</a:t>
            </a:r>
            <a:br/>
            <a:r>
              <a:t>End-to-end encrypted.</a:t>
            </a:r>
            <a:br/>
            <a:r>
              <a:t>Consumer applications.</a:t>
            </a:r>
          </a:p>
        </p:txBody>
      </p:sp>
      <p:sp>
        <p:nvSpPr>
          <p:cNvPr id="45" name="Rectangle 44"/>
          <p:cNvSpPr/>
          <p:nvPr/>
        </p:nvSpPr>
        <p:spPr>
          <a:xfrm>
            <a:off x="4389120" y="3840480"/>
            <a:ext cx="32004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389120" y="3995927"/>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89120" y="3995927"/>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48" name="TextBox 47"/>
          <p:cNvSpPr txBox="1"/>
          <p:nvPr/>
        </p:nvSpPr>
        <p:spPr>
          <a:xfrm>
            <a:off x="4709160" y="3995927"/>
            <a:ext cx="2880360" cy="228600"/>
          </a:xfrm>
          <a:prstGeom prst="rect">
            <a:avLst/>
          </a:prstGeom>
          <a:noFill/>
        </p:spPr>
        <p:txBody>
          <a:bodyPr wrap="square" anchor="t">
            <a:spAutoFit/>
          </a:bodyPr>
          <a:lstStyle/>
          <a:p>
            <a:pPr algn="l">
              <a:defRPr sz="900" b="0" i="0">
                <a:solidFill>
                  <a:srgbClr val="333344"/>
                </a:solidFill>
                <a:latin typeface="Calibri"/>
              </a:defRPr>
            </a:pPr>
            <a:r>
              <a:t>Auto-delete</a:t>
            </a:r>
          </a:p>
        </p:txBody>
      </p:sp>
      <p:sp>
        <p:nvSpPr>
          <p:cNvPr id="49" name="Oval 48"/>
          <p:cNvSpPr/>
          <p:nvPr/>
        </p:nvSpPr>
        <p:spPr>
          <a:xfrm>
            <a:off x="4389120" y="4361688"/>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89120" y="4361688"/>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51" name="TextBox 50"/>
          <p:cNvSpPr txBox="1"/>
          <p:nvPr/>
        </p:nvSpPr>
        <p:spPr>
          <a:xfrm>
            <a:off x="4709160" y="4361688"/>
            <a:ext cx="2880360" cy="228600"/>
          </a:xfrm>
          <a:prstGeom prst="rect">
            <a:avLst/>
          </a:prstGeom>
          <a:noFill/>
        </p:spPr>
        <p:txBody>
          <a:bodyPr wrap="square" anchor="t">
            <a:spAutoFit/>
          </a:bodyPr>
          <a:lstStyle/>
          <a:p>
            <a:pPr algn="l">
              <a:defRPr sz="900" b="0" i="0">
                <a:solidFill>
                  <a:srgbClr val="333344"/>
                </a:solidFill>
                <a:latin typeface="Calibri"/>
              </a:defRPr>
            </a:pPr>
            <a:r>
              <a:t>Easy to use</a:t>
            </a:r>
          </a:p>
        </p:txBody>
      </p:sp>
      <p:sp>
        <p:nvSpPr>
          <p:cNvPr id="52" name="Oval 51"/>
          <p:cNvSpPr/>
          <p:nvPr/>
        </p:nvSpPr>
        <p:spPr>
          <a:xfrm>
            <a:off x="4389120" y="4727447"/>
            <a:ext cx="228600" cy="228600"/>
          </a:xfrm>
          <a:prstGeom prst="ellipse">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89120" y="4727447"/>
            <a:ext cx="228600" cy="228600"/>
          </a:xfrm>
          <a:prstGeom prst="rect">
            <a:avLst/>
          </a:prstGeom>
          <a:noFill/>
        </p:spPr>
        <p:txBody>
          <a:bodyPr wrap="square" anchor="ctr">
            <a:spAutoFit/>
          </a:bodyPr>
          <a:lstStyle/>
          <a:p>
            <a:pPr algn="ctr">
              <a:defRPr sz="1000" b="1" i="0">
                <a:solidFill>
                  <a:srgbClr val="D41F2C"/>
                </a:solidFill>
                <a:latin typeface="Consolas"/>
              </a:defRPr>
            </a:pPr>
            <a:r>
              <a:t>✗</a:t>
            </a:r>
          </a:p>
        </p:txBody>
      </p:sp>
      <p:sp>
        <p:nvSpPr>
          <p:cNvPr id="54" name="TextBox 53"/>
          <p:cNvSpPr txBox="1"/>
          <p:nvPr/>
        </p:nvSpPr>
        <p:spPr>
          <a:xfrm>
            <a:off x="4709160" y="4727447"/>
            <a:ext cx="2880360" cy="228600"/>
          </a:xfrm>
          <a:prstGeom prst="rect">
            <a:avLst/>
          </a:prstGeom>
          <a:noFill/>
        </p:spPr>
        <p:txBody>
          <a:bodyPr wrap="square" anchor="t">
            <a:spAutoFit/>
          </a:bodyPr>
          <a:lstStyle/>
          <a:p>
            <a:pPr algn="l">
              <a:defRPr sz="900" b="0" i="0">
                <a:solidFill>
                  <a:srgbClr val="333344"/>
                </a:solidFill>
                <a:latin typeface="Calibri"/>
              </a:defRPr>
            </a:pPr>
            <a:r>
              <a:t>Messages only</a:t>
            </a:r>
          </a:p>
        </p:txBody>
      </p:sp>
      <p:sp>
        <p:nvSpPr>
          <p:cNvPr id="55" name="Oval 54"/>
          <p:cNvSpPr/>
          <p:nvPr/>
        </p:nvSpPr>
        <p:spPr>
          <a:xfrm>
            <a:off x="4389120" y="5093208"/>
            <a:ext cx="228600" cy="228600"/>
          </a:xfrm>
          <a:prstGeom prst="ellipse">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89120" y="5093208"/>
            <a:ext cx="228600" cy="228600"/>
          </a:xfrm>
          <a:prstGeom prst="rect">
            <a:avLst/>
          </a:prstGeom>
          <a:noFill/>
        </p:spPr>
        <p:txBody>
          <a:bodyPr wrap="square" anchor="ctr">
            <a:spAutoFit/>
          </a:bodyPr>
          <a:lstStyle/>
          <a:p>
            <a:pPr algn="ctr">
              <a:defRPr sz="1000" b="1" i="0">
                <a:solidFill>
                  <a:srgbClr val="D41F2C"/>
                </a:solidFill>
                <a:latin typeface="Consolas"/>
              </a:defRPr>
            </a:pPr>
            <a:r>
              <a:t>✗</a:t>
            </a:r>
          </a:p>
        </p:txBody>
      </p:sp>
      <p:sp>
        <p:nvSpPr>
          <p:cNvPr id="57" name="TextBox 56"/>
          <p:cNvSpPr txBox="1"/>
          <p:nvPr/>
        </p:nvSpPr>
        <p:spPr>
          <a:xfrm>
            <a:off x="4709160" y="5093208"/>
            <a:ext cx="2880360" cy="228600"/>
          </a:xfrm>
          <a:prstGeom prst="rect">
            <a:avLst/>
          </a:prstGeom>
          <a:noFill/>
        </p:spPr>
        <p:txBody>
          <a:bodyPr wrap="square" anchor="t">
            <a:spAutoFit/>
          </a:bodyPr>
          <a:lstStyle/>
          <a:p>
            <a:pPr algn="l">
              <a:defRPr sz="900" b="0" i="0">
                <a:solidFill>
                  <a:srgbClr val="333344"/>
                </a:solidFill>
                <a:latin typeface="Calibri"/>
              </a:defRPr>
            </a:pPr>
            <a:r>
              <a:t>Not for data science</a:t>
            </a:r>
          </a:p>
        </p:txBody>
      </p:sp>
      <p:sp>
        <p:nvSpPr>
          <p:cNvPr id="58" name="Rounded Rectangle 57"/>
          <p:cNvSpPr/>
          <p:nvPr/>
        </p:nvSpPr>
        <p:spPr>
          <a:xfrm>
            <a:off x="8046720" y="2103120"/>
            <a:ext cx="3474720" cy="3931920"/>
          </a:xfrm>
          <a:prstGeom prst="roundRect">
            <a:avLst/>
          </a:prstGeom>
          <a:solidFill>
            <a:srgbClr val="F0F2F7"/>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055864" y="2112264"/>
            <a:ext cx="3456432" cy="5080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46720" y="2240280"/>
            <a:ext cx="3474720" cy="320040"/>
          </a:xfrm>
          <a:prstGeom prst="rect">
            <a:avLst/>
          </a:prstGeom>
          <a:noFill/>
        </p:spPr>
        <p:txBody>
          <a:bodyPr wrap="square" anchor="t">
            <a:spAutoFit/>
          </a:bodyPr>
          <a:lstStyle/>
          <a:p>
            <a:pPr algn="ctr">
              <a:defRPr sz="1200" b="1" i="0">
                <a:solidFill>
                  <a:srgbClr val="E68A00"/>
                </a:solidFill>
                <a:latin typeface="Consolas"/>
              </a:defRPr>
            </a:pPr>
            <a:r>
              <a:t>AWS S3 Lifecycle</a:t>
            </a:r>
          </a:p>
        </p:txBody>
      </p:sp>
      <p:sp>
        <p:nvSpPr>
          <p:cNvPr id="61" name="TextBox 60"/>
          <p:cNvSpPr txBox="1"/>
          <p:nvPr/>
        </p:nvSpPr>
        <p:spPr>
          <a:xfrm>
            <a:off x="8046720" y="2560320"/>
            <a:ext cx="3474720" cy="182880"/>
          </a:xfrm>
          <a:prstGeom prst="rect">
            <a:avLst/>
          </a:prstGeom>
          <a:noFill/>
        </p:spPr>
        <p:txBody>
          <a:bodyPr wrap="square" anchor="t">
            <a:spAutoFit/>
          </a:bodyPr>
          <a:lstStyle/>
          <a:p>
            <a:pPr algn="ctr">
              <a:defRPr sz="900" b="0" i="0">
                <a:solidFill>
                  <a:srgbClr val="9999AA"/>
                </a:solidFill>
                <a:latin typeface="Consolas"/>
              </a:defRPr>
            </a:pPr>
            <a:r>
              <a:t>Cloud Object Expiration</a:t>
            </a:r>
          </a:p>
        </p:txBody>
      </p:sp>
      <p:sp>
        <p:nvSpPr>
          <p:cNvPr id="62" name="Rectangle 61"/>
          <p:cNvSpPr/>
          <p:nvPr/>
        </p:nvSpPr>
        <p:spPr>
          <a:xfrm>
            <a:off x="8183880" y="2788920"/>
            <a:ext cx="32004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83880" y="2880360"/>
            <a:ext cx="3200400" cy="914400"/>
          </a:xfrm>
          <a:prstGeom prst="rect">
            <a:avLst/>
          </a:prstGeom>
          <a:noFill/>
        </p:spPr>
        <p:txBody>
          <a:bodyPr wrap="square" anchor="t">
            <a:spAutoFit/>
          </a:bodyPr>
          <a:lstStyle/>
          <a:p>
            <a:pPr algn="l">
              <a:defRPr sz="1000" b="0" i="0">
                <a:solidFill>
                  <a:srgbClr val="666677"/>
                </a:solidFill>
                <a:latin typeface="Calibri"/>
              </a:defRPr>
            </a:pPr>
            <a:r>
              <a:t>Automatic object deletion.</a:t>
            </a:r>
            <a:br/>
            <a:r>
              <a:t>Cloud-based management.</a:t>
            </a:r>
            <a:br/>
            <a:r>
              <a:t>Enterprise grade.</a:t>
            </a:r>
          </a:p>
        </p:txBody>
      </p:sp>
      <p:sp>
        <p:nvSpPr>
          <p:cNvPr id="64" name="Rectangle 63"/>
          <p:cNvSpPr/>
          <p:nvPr/>
        </p:nvSpPr>
        <p:spPr>
          <a:xfrm>
            <a:off x="8183880" y="3840480"/>
            <a:ext cx="32004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183880" y="3995927"/>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183880" y="3995927"/>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67" name="TextBox 66"/>
          <p:cNvSpPr txBox="1"/>
          <p:nvPr/>
        </p:nvSpPr>
        <p:spPr>
          <a:xfrm>
            <a:off x="8503920" y="3995927"/>
            <a:ext cx="2880360" cy="228600"/>
          </a:xfrm>
          <a:prstGeom prst="rect">
            <a:avLst/>
          </a:prstGeom>
          <a:noFill/>
        </p:spPr>
        <p:txBody>
          <a:bodyPr wrap="square" anchor="t">
            <a:spAutoFit/>
          </a:bodyPr>
          <a:lstStyle/>
          <a:p>
            <a:pPr algn="l">
              <a:defRPr sz="900" b="0" i="0">
                <a:solidFill>
                  <a:srgbClr val="333344"/>
                </a:solidFill>
                <a:latin typeface="Calibri"/>
              </a:defRPr>
            </a:pPr>
            <a:r>
              <a:t>Auto expiration</a:t>
            </a:r>
          </a:p>
        </p:txBody>
      </p:sp>
      <p:sp>
        <p:nvSpPr>
          <p:cNvPr id="68" name="Oval 67"/>
          <p:cNvSpPr/>
          <p:nvPr/>
        </p:nvSpPr>
        <p:spPr>
          <a:xfrm>
            <a:off x="8183880" y="4361688"/>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183880" y="4361688"/>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70" name="TextBox 69"/>
          <p:cNvSpPr txBox="1"/>
          <p:nvPr/>
        </p:nvSpPr>
        <p:spPr>
          <a:xfrm>
            <a:off x="8503920" y="4361688"/>
            <a:ext cx="2880360" cy="228600"/>
          </a:xfrm>
          <a:prstGeom prst="rect">
            <a:avLst/>
          </a:prstGeom>
          <a:noFill/>
        </p:spPr>
        <p:txBody>
          <a:bodyPr wrap="square" anchor="t">
            <a:spAutoFit/>
          </a:bodyPr>
          <a:lstStyle/>
          <a:p>
            <a:pPr algn="l">
              <a:defRPr sz="900" b="0" i="0">
                <a:solidFill>
                  <a:srgbClr val="333344"/>
                </a:solidFill>
                <a:latin typeface="Calibri"/>
              </a:defRPr>
            </a:pPr>
            <a:r>
              <a:t>Scalable</a:t>
            </a:r>
          </a:p>
        </p:txBody>
      </p:sp>
      <p:sp>
        <p:nvSpPr>
          <p:cNvPr id="71" name="Oval 70"/>
          <p:cNvSpPr/>
          <p:nvPr/>
        </p:nvSpPr>
        <p:spPr>
          <a:xfrm>
            <a:off x="8183880" y="4727447"/>
            <a:ext cx="228600" cy="228600"/>
          </a:xfrm>
          <a:prstGeom prst="ellipse">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183880" y="4727447"/>
            <a:ext cx="228600" cy="228600"/>
          </a:xfrm>
          <a:prstGeom prst="rect">
            <a:avLst/>
          </a:prstGeom>
          <a:noFill/>
        </p:spPr>
        <p:txBody>
          <a:bodyPr wrap="square" anchor="ctr">
            <a:spAutoFit/>
          </a:bodyPr>
          <a:lstStyle/>
          <a:p>
            <a:pPr algn="ctr">
              <a:defRPr sz="1000" b="1" i="0">
                <a:solidFill>
                  <a:srgbClr val="D41F2C"/>
                </a:solidFill>
                <a:latin typeface="Consolas"/>
              </a:defRPr>
            </a:pPr>
            <a:r>
              <a:t>✗</a:t>
            </a:r>
          </a:p>
        </p:txBody>
      </p:sp>
      <p:sp>
        <p:nvSpPr>
          <p:cNvPr id="73" name="TextBox 72"/>
          <p:cNvSpPr txBox="1"/>
          <p:nvPr/>
        </p:nvSpPr>
        <p:spPr>
          <a:xfrm>
            <a:off x="8503920" y="4727447"/>
            <a:ext cx="2880360" cy="228600"/>
          </a:xfrm>
          <a:prstGeom prst="rect">
            <a:avLst/>
          </a:prstGeom>
          <a:noFill/>
        </p:spPr>
        <p:txBody>
          <a:bodyPr wrap="square" anchor="t">
            <a:spAutoFit/>
          </a:bodyPr>
          <a:lstStyle/>
          <a:p>
            <a:pPr algn="l">
              <a:defRPr sz="900" b="0" i="0">
                <a:solidFill>
                  <a:srgbClr val="333344"/>
                </a:solidFill>
                <a:latin typeface="Calibri"/>
              </a:defRPr>
            </a:pPr>
            <a:r>
              <a:t>Requires internet</a:t>
            </a:r>
          </a:p>
        </p:txBody>
      </p:sp>
      <p:sp>
        <p:nvSpPr>
          <p:cNvPr id="74" name="Oval 73"/>
          <p:cNvSpPr/>
          <p:nvPr/>
        </p:nvSpPr>
        <p:spPr>
          <a:xfrm>
            <a:off x="8183880" y="5093208"/>
            <a:ext cx="228600" cy="228600"/>
          </a:xfrm>
          <a:prstGeom prst="ellipse">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183880" y="5093208"/>
            <a:ext cx="228600" cy="228600"/>
          </a:xfrm>
          <a:prstGeom prst="rect">
            <a:avLst/>
          </a:prstGeom>
          <a:noFill/>
        </p:spPr>
        <p:txBody>
          <a:bodyPr wrap="square" anchor="ctr">
            <a:spAutoFit/>
          </a:bodyPr>
          <a:lstStyle/>
          <a:p>
            <a:pPr algn="ctr">
              <a:defRPr sz="1000" b="1" i="0">
                <a:solidFill>
                  <a:srgbClr val="D41F2C"/>
                </a:solidFill>
                <a:latin typeface="Consolas"/>
              </a:defRPr>
            </a:pPr>
            <a:r>
              <a:t>✗</a:t>
            </a:r>
          </a:p>
        </p:txBody>
      </p:sp>
      <p:sp>
        <p:nvSpPr>
          <p:cNvPr id="76" name="TextBox 75"/>
          <p:cNvSpPr txBox="1"/>
          <p:nvPr/>
        </p:nvSpPr>
        <p:spPr>
          <a:xfrm>
            <a:off x="8503920" y="5093208"/>
            <a:ext cx="2880360" cy="228600"/>
          </a:xfrm>
          <a:prstGeom prst="rect">
            <a:avLst/>
          </a:prstGeom>
          <a:noFill/>
        </p:spPr>
        <p:txBody>
          <a:bodyPr wrap="square" anchor="t">
            <a:spAutoFit/>
          </a:bodyPr>
          <a:lstStyle/>
          <a:p>
            <a:pPr algn="l">
              <a:defRPr sz="900" b="0" i="0">
                <a:solidFill>
                  <a:srgbClr val="333344"/>
                </a:solidFill>
                <a:latin typeface="Calibri"/>
              </a:defRPr>
            </a:pPr>
            <a:r>
              <a:t>Third-party trust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5</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LIMITATIONS OF EXISTING APPROACHES</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Feature Comparison Matrix</a:t>
            </a:r>
          </a:p>
        </p:txBody>
      </p:sp>
      <p:sp>
        <p:nvSpPr>
          <p:cNvPr id="20" name="Rounded Rectangle 19"/>
          <p:cNvSpPr/>
          <p:nvPr/>
        </p:nvSpPr>
        <p:spPr>
          <a:xfrm>
            <a:off x="457200" y="2103120"/>
            <a:ext cx="11247120" cy="3931920"/>
          </a:xfrm>
          <a:prstGeom prst="roundRect">
            <a:avLst/>
          </a:prstGeom>
          <a:solidFill>
            <a:srgbClr val="FFFFFF"/>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103120"/>
            <a:ext cx="11247120" cy="4572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103120"/>
            <a:ext cx="2743200" cy="457200"/>
          </a:xfrm>
          <a:prstGeom prst="rect">
            <a:avLst/>
          </a:prstGeom>
          <a:noFill/>
        </p:spPr>
        <p:txBody>
          <a:bodyPr wrap="square" anchor="ctr">
            <a:spAutoFit/>
          </a:bodyPr>
          <a:lstStyle/>
          <a:p>
            <a:pPr algn="ctr">
              <a:defRPr sz="1000" b="1" i="0">
                <a:solidFill>
                  <a:srgbClr val="FFFFFF"/>
                </a:solidFill>
                <a:latin typeface="Consolas"/>
              </a:defRPr>
            </a:pPr>
            <a:r>
              <a:t>Feature</a:t>
            </a:r>
          </a:p>
        </p:txBody>
      </p:sp>
      <p:sp>
        <p:nvSpPr>
          <p:cNvPr id="23" name="TextBox 22"/>
          <p:cNvSpPr txBox="1"/>
          <p:nvPr/>
        </p:nvSpPr>
        <p:spPr>
          <a:xfrm>
            <a:off x="3291840" y="2103120"/>
            <a:ext cx="1371600" cy="457200"/>
          </a:xfrm>
          <a:prstGeom prst="rect">
            <a:avLst/>
          </a:prstGeom>
          <a:noFill/>
        </p:spPr>
        <p:txBody>
          <a:bodyPr wrap="square" anchor="ctr">
            <a:spAutoFit/>
          </a:bodyPr>
          <a:lstStyle/>
          <a:p>
            <a:pPr algn="ctr">
              <a:defRPr sz="1000" b="1" i="0">
                <a:solidFill>
                  <a:srgbClr val="FFFFFF"/>
                </a:solidFill>
                <a:latin typeface="Consolas"/>
              </a:defRPr>
            </a:pPr>
            <a:r>
              <a:t>VeraCrypt</a:t>
            </a:r>
          </a:p>
        </p:txBody>
      </p:sp>
      <p:sp>
        <p:nvSpPr>
          <p:cNvPr id="24" name="TextBox 23"/>
          <p:cNvSpPr txBox="1"/>
          <p:nvPr/>
        </p:nvSpPr>
        <p:spPr>
          <a:xfrm>
            <a:off x="4663440" y="2103120"/>
            <a:ext cx="1188720" cy="457200"/>
          </a:xfrm>
          <a:prstGeom prst="rect">
            <a:avLst/>
          </a:prstGeom>
          <a:noFill/>
        </p:spPr>
        <p:txBody>
          <a:bodyPr wrap="square" anchor="ctr">
            <a:spAutoFit/>
          </a:bodyPr>
          <a:lstStyle/>
          <a:p>
            <a:pPr algn="ctr">
              <a:defRPr sz="1000" b="1" i="0">
                <a:solidFill>
                  <a:srgbClr val="FFFFFF"/>
                </a:solidFill>
                <a:latin typeface="Consolas"/>
              </a:defRPr>
            </a:pPr>
            <a:r>
              <a:t>Signal</a:t>
            </a:r>
          </a:p>
        </p:txBody>
      </p:sp>
      <p:sp>
        <p:nvSpPr>
          <p:cNvPr id="25" name="TextBox 24"/>
          <p:cNvSpPr txBox="1"/>
          <p:nvPr/>
        </p:nvSpPr>
        <p:spPr>
          <a:xfrm>
            <a:off x="5852160" y="2103120"/>
            <a:ext cx="1188720" cy="457200"/>
          </a:xfrm>
          <a:prstGeom prst="rect">
            <a:avLst/>
          </a:prstGeom>
          <a:noFill/>
        </p:spPr>
        <p:txBody>
          <a:bodyPr wrap="square" anchor="ctr">
            <a:spAutoFit/>
          </a:bodyPr>
          <a:lstStyle/>
          <a:p>
            <a:pPr algn="ctr">
              <a:defRPr sz="1000" b="1" i="0">
                <a:solidFill>
                  <a:srgbClr val="FFFFFF"/>
                </a:solidFill>
                <a:latin typeface="Consolas"/>
              </a:defRPr>
            </a:pPr>
            <a:r>
              <a:t>AWS S3</a:t>
            </a:r>
          </a:p>
        </p:txBody>
      </p:sp>
      <p:sp>
        <p:nvSpPr>
          <p:cNvPr id="26" name="TextBox 25"/>
          <p:cNvSpPr txBox="1"/>
          <p:nvPr/>
        </p:nvSpPr>
        <p:spPr>
          <a:xfrm>
            <a:off x="7040880" y="2103120"/>
            <a:ext cx="1280160" cy="457200"/>
          </a:xfrm>
          <a:prstGeom prst="rect">
            <a:avLst/>
          </a:prstGeom>
          <a:noFill/>
        </p:spPr>
        <p:txBody>
          <a:bodyPr wrap="square" anchor="ctr">
            <a:spAutoFit/>
          </a:bodyPr>
          <a:lstStyle/>
          <a:p>
            <a:pPr algn="ctr">
              <a:defRPr sz="1000" b="1" i="0">
                <a:solidFill>
                  <a:srgbClr val="FFFFFF"/>
                </a:solidFill>
                <a:latin typeface="Consolas"/>
              </a:defRPr>
            </a:pPr>
            <a:r>
              <a:t>encryptr</a:t>
            </a:r>
          </a:p>
        </p:txBody>
      </p:sp>
      <p:sp>
        <p:nvSpPr>
          <p:cNvPr id="27" name="TextBox 26"/>
          <p:cNvSpPr txBox="1"/>
          <p:nvPr/>
        </p:nvSpPr>
        <p:spPr>
          <a:xfrm>
            <a:off x="8321040" y="2103120"/>
            <a:ext cx="1645920" cy="457200"/>
          </a:xfrm>
          <a:prstGeom prst="rect">
            <a:avLst/>
          </a:prstGeom>
          <a:noFill/>
        </p:spPr>
        <p:txBody>
          <a:bodyPr wrap="square" anchor="ctr">
            <a:spAutoFit/>
          </a:bodyPr>
          <a:lstStyle/>
          <a:p>
            <a:pPr algn="ctr">
              <a:defRPr sz="1000" b="1" i="0">
                <a:solidFill>
                  <a:srgbClr val="FFFFFF"/>
                </a:solidFill>
                <a:latin typeface="Consolas"/>
              </a:defRPr>
            </a:pPr>
            <a:r>
              <a:t>ZeroTraceFS</a:t>
            </a:r>
          </a:p>
        </p:txBody>
      </p:sp>
      <p:sp>
        <p:nvSpPr>
          <p:cNvPr id="28" name="Rectangle 27"/>
          <p:cNvSpPr/>
          <p:nvPr/>
        </p:nvSpPr>
        <p:spPr>
          <a:xfrm>
            <a:off x="466344" y="2606040"/>
            <a:ext cx="11228832" cy="347472"/>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2606040"/>
            <a:ext cx="2560320" cy="347472"/>
          </a:xfrm>
          <a:prstGeom prst="rect">
            <a:avLst/>
          </a:prstGeom>
          <a:noFill/>
        </p:spPr>
        <p:txBody>
          <a:bodyPr wrap="square" anchor="ctr">
            <a:spAutoFit/>
          </a:bodyPr>
          <a:lstStyle/>
          <a:p>
            <a:pPr algn="l">
              <a:defRPr sz="1000" b="0" i="0">
                <a:solidFill>
                  <a:srgbClr val="1A1A2E"/>
                </a:solidFill>
                <a:latin typeface="Calibri"/>
              </a:defRPr>
            </a:pPr>
            <a:r>
              <a:t>AES-256 Encryption</a:t>
            </a:r>
          </a:p>
        </p:txBody>
      </p:sp>
      <p:sp>
        <p:nvSpPr>
          <p:cNvPr id="30" name="TextBox 29"/>
          <p:cNvSpPr txBox="1"/>
          <p:nvPr/>
        </p:nvSpPr>
        <p:spPr>
          <a:xfrm>
            <a:off x="3291840" y="2606040"/>
            <a:ext cx="137160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31" name="TextBox 30"/>
          <p:cNvSpPr txBox="1"/>
          <p:nvPr/>
        </p:nvSpPr>
        <p:spPr>
          <a:xfrm>
            <a:off x="4663440" y="2606040"/>
            <a:ext cx="118872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32" name="TextBox 31"/>
          <p:cNvSpPr txBox="1"/>
          <p:nvPr/>
        </p:nvSpPr>
        <p:spPr>
          <a:xfrm>
            <a:off x="5852160" y="2606040"/>
            <a:ext cx="118872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33" name="TextBox 32"/>
          <p:cNvSpPr txBox="1"/>
          <p:nvPr/>
        </p:nvSpPr>
        <p:spPr>
          <a:xfrm>
            <a:off x="7040880" y="2606040"/>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34" name="TextBox 33"/>
          <p:cNvSpPr txBox="1"/>
          <p:nvPr/>
        </p:nvSpPr>
        <p:spPr>
          <a:xfrm>
            <a:off x="8595360" y="2606040"/>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35" name="Rectangle 34"/>
          <p:cNvSpPr/>
          <p:nvPr/>
        </p:nvSpPr>
        <p:spPr>
          <a:xfrm>
            <a:off x="466344" y="2962656"/>
            <a:ext cx="11228832"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2962656"/>
            <a:ext cx="2560320" cy="347472"/>
          </a:xfrm>
          <a:prstGeom prst="rect">
            <a:avLst/>
          </a:prstGeom>
          <a:noFill/>
        </p:spPr>
        <p:txBody>
          <a:bodyPr wrap="square" anchor="ctr">
            <a:spAutoFit/>
          </a:bodyPr>
          <a:lstStyle/>
          <a:p>
            <a:pPr algn="l">
              <a:defRPr sz="1000" b="0" i="0">
                <a:solidFill>
                  <a:srgbClr val="1A1A2E"/>
                </a:solidFill>
                <a:latin typeface="Calibri"/>
              </a:defRPr>
            </a:pPr>
            <a:r>
              <a:t>Auto Time Destruction</a:t>
            </a:r>
          </a:p>
        </p:txBody>
      </p:sp>
      <p:sp>
        <p:nvSpPr>
          <p:cNvPr id="37" name="TextBox 36"/>
          <p:cNvSpPr txBox="1"/>
          <p:nvPr/>
        </p:nvSpPr>
        <p:spPr>
          <a:xfrm>
            <a:off x="3291840" y="2962656"/>
            <a:ext cx="137160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38" name="TextBox 37"/>
          <p:cNvSpPr txBox="1"/>
          <p:nvPr/>
        </p:nvSpPr>
        <p:spPr>
          <a:xfrm>
            <a:off x="4663440" y="2962656"/>
            <a:ext cx="118872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39" name="TextBox 38"/>
          <p:cNvSpPr txBox="1"/>
          <p:nvPr/>
        </p:nvSpPr>
        <p:spPr>
          <a:xfrm>
            <a:off x="5852160" y="2962656"/>
            <a:ext cx="118872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40" name="TextBox 39"/>
          <p:cNvSpPr txBox="1"/>
          <p:nvPr/>
        </p:nvSpPr>
        <p:spPr>
          <a:xfrm>
            <a:off x="7040880" y="2962656"/>
            <a:ext cx="128016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41" name="TextBox 40"/>
          <p:cNvSpPr txBox="1"/>
          <p:nvPr/>
        </p:nvSpPr>
        <p:spPr>
          <a:xfrm>
            <a:off x="8595360" y="2962656"/>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42" name="Rectangle 41"/>
          <p:cNvSpPr/>
          <p:nvPr/>
        </p:nvSpPr>
        <p:spPr>
          <a:xfrm>
            <a:off x="466344" y="3319272"/>
            <a:ext cx="11228832" cy="347472"/>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3319272"/>
            <a:ext cx="2560320" cy="347472"/>
          </a:xfrm>
          <a:prstGeom prst="rect">
            <a:avLst/>
          </a:prstGeom>
          <a:noFill/>
        </p:spPr>
        <p:txBody>
          <a:bodyPr wrap="square" anchor="ctr">
            <a:spAutoFit/>
          </a:bodyPr>
          <a:lstStyle/>
          <a:p>
            <a:pPr algn="l">
              <a:defRPr sz="1000" b="0" i="0">
                <a:solidFill>
                  <a:srgbClr val="1A1A2E"/>
                </a:solidFill>
                <a:latin typeface="Calibri"/>
              </a:defRPr>
            </a:pPr>
            <a:r>
              <a:t>Read Count Limits</a:t>
            </a:r>
          </a:p>
        </p:txBody>
      </p:sp>
      <p:sp>
        <p:nvSpPr>
          <p:cNvPr id="44" name="TextBox 43"/>
          <p:cNvSpPr txBox="1"/>
          <p:nvPr/>
        </p:nvSpPr>
        <p:spPr>
          <a:xfrm>
            <a:off x="3291840" y="3319272"/>
            <a:ext cx="137160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45" name="TextBox 44"/>
          <p:cNvSpPr txBox="1"/>
          <p:nvPr/>
        </p:nvSpPr>
        <p:spPr>
          <a:xfrm>
            <a:off x="4663440" y="3319272"/>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46" name="TextBox 45"/>
          <p:cNvSpPr txBox="1"/>
          <p:nvPr/>
        </p:nvSpPr>
        <p:spPr>
          <a:xfrm>
            <a:off x="5852160" y="3319272"/>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47" name="TextBox 46"/>
          <p:cNvSpPr txBox="1"/>
          <p:nvPr/>
        </p:nvSpPr>
        <p:spPr>
          <a:xfrm>
            <a:off x="7040880" y="3319272"/>
            <a:ext cx="128016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48" name="TextBox 47"/>
          <p:cNvSpPr txBox="1"/>
          <p:nvPr/>
        </p:nvSpPr>
        <p:spPr>
          <a:xfrm>
            <a:off x="8595360" y="3319272"/>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49" name="Rectangle 48"/>
          <p:cNvSpPr/>
          <p:nvPr/>
        </p:nvSpPr>
        <p:spPr>
          <a:xfrm>
            <a:off x="466344" y="3675887"/>
            <a:ext cx="11228832"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3675887"/>
            <a:ext cx="2560320" cy="347472"/>
          </a:xfrm>
          <a:prstGeom prst="rect">
            <a:avLst/>
          </a:prstGeom>
          <a:noFill/>
        </p:spPr>
        <p:txBody>
          <a:bodyPr wrap="square" anchor="ctr">
            <a:spAutoFit/>
          </a:bodyPr>
          <a:lstStyle/>
          <a:p>
            <a:pPr algn="l">
              <a:defRPr sz="1000" b="0" i="0">
                <a:solidFill>
                  <a:srgbClr val="1A1A2E"/>
                </a:solidFill>
                <a:latin typeface="Calibri"/>
              </a:defRPr>
            </a:pPr>
            <a:r>
              <a:t>Duress Password</a:t>
            </a:r>
          </a:p>
        </p:txBody>
      </p:sp>
      <p:sp>
        <p:nvSpPr>
          <p:cNvPr id="51" name="TextBox 50"/>
          <p:cNvSpPr txBox="1"/>
          <p:nvPr/>
        </p:nvSpPr>
        <p:spPr>
          <a:xfrm>
            <a:off x="3291840" y="3675887"/>
            <a:ext cx="137160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52" name="TextBox 51"/>
          <p:cNvSpPr txBox="1"/>
          <p:nvPr/>
        </p:nvSpPr>
        <p:spPr>
          <a:xfrm>
            <a:off x="4663440" y="3675887"/>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53" name="TextBox 52"/>
          <p:cNvSpPr txBox="1"/>
          <p:nvPr/>
        </p:nvSpPr>
        <p:spPr>
          <a:xfrm>
            <a:off x="5852160" y="3675887"/>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54" name="TextBox 53"/>
          <p:cNvSpPr txBox="1"/>
          <p:nvPr/>
        </p:nvSpPr>
        <p:spPr>
          <a:xfrm>
            <a:off x="7040880" y="3675887"/>
            <a:ext cx="128016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55" name="TextBox 54"/>
          <p:cNvSpPr txBox="1"/>
          <p:nvPr/>
        </p:nvSpPr>
        <p:spPr>
          <a:xfrm>
            <a:off x="8595360" y="3675887"/>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56" name="Rectangle 55"/>
          <p:cNvSpPr/>
          <p:nvPr/>
        </p:nvSpPr>
        <p:spPr>
          <a:xfrm>
            <a:off x="466344" y="4032504"/>
            <a:ext cx="11228832" cy="347472"/>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080" y="4032504"/>
            <a:ext cx="2560320" cy="347472"/>
          </a:xfrm>
          <a:prstGeom prst="rect">
            <a:avLst/>
          </a:prstGeom>
          <a:noFill/>
        </p:spPr>
        <p:txBody>
          <a:bodyPr wrap="square" anchor="ctr">
            <a:spAutoFit/>
          </a:bodyPr>
          <a:lstStyle/>
          <a:p>
            <a:pPr algn="l">
              <a:defRPr sz="1000" b="0" i="0">
                <a:solidFill>
                  <a:srgbClr val="1A1A2E"/>
                </a:solidFill>
                <a:latin typeface="Calibri"/>
              </a:defRPr>
            </a:pPr>
            <a:r>
              <a:t>Dead Man's Switch</a:t>
            </a:r>
          </a:p>
        </p:txBody>
      </p:sp>
      <p:sp>
        <p:nvSpPr>
          <p:cNvPr id="58" name="TextBox 57"/>
          <p:cNvSpPr txBox="1"/>
          <p:nvPr/>
        </p:nvSpPr>
        <p:spPr>
          <a:xfrm>
            <a:off x="3291840" y="4032504"/>
            <a:ext cx="137160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59" name="TextBox 58"/>
          <p:cNvSpPr txBox="1"/>
          <p:nvPr/>
        </p:nvSpPr>
        <p:spPr>
          <a:xfrm>
            <a:off x="4663440" y="4032504"/>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60" name="TextBox 59"/>
          <p:cNvSpPr txBox="1"/>
          <p:nvPr/>
        </p:nvSpPr>
        <p:spPr>
          <a:xfrm>
            <a:off x="5852160" y="4032504"/>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61" name="TextBox 60"/>
          <p:cNvSpPr txBox="1"/>
          <p:nvPr/>
        </p:nvSpPr>
        <p:spPr>
          <a:xfrm>
            <a:off x="7040880" y="4032504"/>
            <a:ext cx="128016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62" name="TextBox 61"/>
          <p:cNvSpPr txBox="1"/>
          <p:nvPr/>
        </p:nvSpPr>
        <p:spPr>
          <a:xfrm>
            <a:off x="8595360" y="4032504"/>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63" name="Rectangle 62"/>
          <p:cNvSpPr/>
          <p:nvPr/>
        </p:nvSpPr>
        <p:spPr>
          <a:xfrm>
            <a:off x="466344" y="4389120"/>
            <a:ext cx="11228832"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0080" y="4389120"/>
            <a:ext cx="2560320" cy="347472"/>
          </a:xfrm>
          <a:prstGeom prst="rect">
            <a:avLst/>
          </a:prstGeom>
          <a:noFill/>
        </p:spPr>
        <p:txBody>
          <a:bodyPr wrap="square" anchor="ctr">
            <a:spAutoFit/>
          </a:bodyPr>
          <a:lstStyle/>
          <a:p>
            <a:pPr algn="l">
              <a:defRPr sz="1000" b="0" i="0">
                <a:solidFill>
                  <a:srgbClr val="1A1A2E"/>
                </a:solidFill>
                <a:latin typeface="Calibri"/>
              </a:defRPr>
            </a:pPr>
            <a:r>
              <a:t>Secure Disk Wipe</a:t>
            </a:r>
          </a:p>
        </p:txBody>
      </p:sp>
      <p:sp>
        <p:nvSpPr>
          <p:cNvPr id="65" name="TextBox 64"/>
          <p:cNvSpPr txBox="1"/>
          <p:nvPr/>
        </p:nvSpPr>
        <p:spPr>
          <a:xfrm>
            <a:off x="3291840" y="4389120"/>
            <a:ext cx="137160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66" name="TextBox 65"/>
          <p:cNvSpPr txBox="1"/>
          <p:nvPr/>
        </p:nvSpPr>
        <p:spPr>
          <a:xfrm>
            <a:off x="4663440" y="4389120"/>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67" name="TextBox 66"/>
          <p:cNvSpPr txBox="1"/>
          <p:nvPr/>
        </p:nvSpPr>
        <p:spPr>
          <a:xfrm>
            <a:off x="5852160" y="4389120"/>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68" name="TextBox 67"/>
          <p:cNvSpPr txBox="1"/>
          <p:nvPr/>
        </p:nvSpPr>
        <p:spPr>
          <a:xfrm>
            <a:off x="7040880" y="4389120"/>
            <a:ext cx="128016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69" name="TextBox 68"/>
          <p:cNvSpPr txBox="1"/>
          <p:nvPr/>
        </p:nvSpPr>
        <p:spPr>
          <a:xfrm>
            <a:off x="8595360" y="4389120"/>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70" name="Rectangle 69"/>
          <p:cNvSpPr/>
          <p:nvPr/>
        </p:nvSpPr>
        <p:spPr>
          <a:xfrm>
            <a:off x="466344" y="4745736"/>
            <a:ext cx="11228832" cy="347472"/>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40080" y="4745736"/>
            <a:ext cx="2560320" cy="347472"/>
          </a:xfrm>
          <a:prstGeom prst="rect">
            <a:avLst/>
          </a:prstGeom>
          <a:noFill/>
        </p:spPr>
        <p:txBody>
          <a:bodyPr wrap="square" anchor="ctr">
            <a:spAutoFit/>
          </a:bodyPr>
          <a:lstStyle/>
          <a:p>
            <a:pPr algn="l">
              <a:defRPr sz="1000" b="0" i="0">
                <a:solidFill>
                  <a:srgbClr val="1A1A2E"/>
                </a:solidFill>
                <a:latin typeface="Calibri"/>
              </a:defRPr>
            </a:pPr>
            <a:r>
              <a:t>R-Native Integration</a:t>
            </a:r>
          </a:p>
        </p:txBody>
      </p:sp>
      <p:sp>
        <p:nvSpPr>
          <p:cNvPr id="72" name="TextBox 71"/>
          <p:cNvSpPr txBox="1"/>
          <p:nvPr/>
        </p:nvSpPr>
        <p:spPr>
          <a:xfrm>
            <a:off x="3291840" y="4745736"/>
            <a:ext cx="137160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73" name="TextBox 72"/>
          <p:cNvSpPr txBox="1"/>
          <p:nvPr/>
        </p:nvSpPr>
        <p:spPr>
          <a:xfrm>
            <a:off x="4663440" y="4745736"/>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74" name="TextBox 73"/>
          <p:cNvSpPr txBox="1"/>
          <p:nvPr/>
        </p:nvSpPr>
        <p:spPr>
          <a:xfrm>
            <a:off x="5852160" y="4745736"/>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75" name="TextBox 74"/>
          <p:cNvSpPr txBox="1"/>
          <p:nvPr/>
        </p:nvSpPr>
        <p:spPr>
          <a:xfrm>
            <a:off x="7040880" y="4745736"/>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76" name="TextBox 75"/>
          <p:cNvSpPr txBox="1"/>
          <p:nvPr/>
        </p:nvSpPr>
        <p:spPr>
          <a:xfrm>
            <a:off x="8595360" y="4745736"/>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77" name="Rectangle 76"/>
          <p:cNvSpPr/>
          <p:nvPr/>
        </p:nvSpPr>
        <p:spPr>
          <a:xfrm>
            <a:off x="466344" y="5102352"/>
            <a:ext cx="11228832"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40080" y="5102352"/>
            <a:ext cx="2560320" cy="347472"/>
          </a:xfrm>
          <a:prstGeom prst="rect">
            <a:avLst/>
          </a:prstGeom>
          <a:noFill/>
        </p:spPr>
        <p:txBody>
          <a:bodyPr wrap="square" anchor="ctr">
            <a:spAutoFit/>
          </a:bodyPr>
          <a:lstStyle/>
          <a:p>
            <a:pPr algn="l">
              <a:defRPr sz="1000" b="0" i="0">
                <a:solidFill>
                  <a:srgbClr val="1A1A2E"/>
                </a:solidFill>
                <a:latin typeface="Calibri"/>
              </a:defRPr>
            </a:pPr>
            <a:r>
              <a:t>Offline Capable</a:t>
            </a:r>
          </a:p>
        </p:txBody>
      </p:sp>
      <p:sp>
        <p:nvSpPr>
          <p:cNvPr id="79" name="TextBox 78"/>
          <p:cNvSpPr txBox="1"/>
          <p:nvPr/>
        </p:nvSpPr>
        <p:spPr>
          <a:xfrm>
            <a:off x="3291840" y="5102352"/>
            <a:ext cx="137160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80" name="TextBox 79"/>
          <p:cNvSpPr txBox="1"/>
          <p:nvPr/>
        </p:nvSpPr>
        <p:spPr>
          <a:xfrm>
            <a:off x="4663440" y="5102352"/>
            <a:ext cx="118872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81" name="TextBox 80"/>
          <p:cNvSpPr txBox="1"/>
          <p:nvPr/>
        </p:nvSpPr>
        <p:spPr>
          <a:xfrm>
            <a:off x="5852160" y="5102352"/>
            <a:ext cx="118872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82" name="TextBox 81"/>
          <p:cNvSpPr txBox="1"/>
          <p:nvPr/>
        </p:nvSpPr>
        <p:spPr>
          <a:xfrm>
            <a:off x="7040880" y="5102352"/>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83" name="TextBox 82"/>
          <p:cNvSpPr txBox="1"/>
          <p:nvPr/>
        </p:nvSpPr>
        <p:spPr>
          <a:xfrm>
            <a:off x="8595360" y="5102352"/>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84" name="Rectangle 83"/>
          <p:cNvSpPr/>
          <p:nvPr/>
        </p:nvSpPr>
        <p:spPr>
          <a:xfrm>
            <a:off x="466344" y="5458968"/>
            <a:ext cx="11228832" cy="347472"/>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0080" y="5458968"/>
            <a:ext cx="2560320" cy="347472"/>
          </a:xfrm>
          <a:prstGeom prst="rect">
            <a:avLst/>
          </a:prstGeom>
          <a:noFill/>
        </p:spPr>
        <p:txBody>
          <a:bodyPr wrap="square" anchor="ctr">
            <a:spAutoFit/>
          </a:bodyPr>
          <a:lstStyle/>
          <a:p>
            <a:pPr algn="l">
              <a:defRPr sz="1000" b="0" i="0">
                <a:solidFill>
                  <a:srgbClr val="1A1A2E"/>
                </a:solidFill>
                <a:latin typeface="Calibri"/>
              </a:defRPr>
            </a:pPr>
            <a:r>
              <a:t>No Admin Rights</a:t>
            </a:r>
          </a:p>
        </p:txBody>
      </p:sp>
      <p:sp>
        <p:nvSpPr>
          <p:cNvPr id="86" name="TextBox 85"/>
          <p:cNvSpPr txBox="1"/>
          <p:nvPr/>
        </p:nvSpPr>
        <p:spPr>
          <a:xfrm>
            <a:off x="3291840" y="5458968"/>
            <a:ext cx="1371600" cy="347472"/>
          </a:xfrm>
          <a:prstGeom prst="rect">
            <a:avLst/>
          </a:prstGeom>
          <a:noFill/>
        </p:spPr>
        <p:txBody>
          <a:bodyPr wrap="square" anchor="ctr">
            <a:spAutoFit/>
          </a:bodyPr>
          <a:lstStyle/>
          <a:p>
            <a:pPr algn="ctr">
              <a:defRPr sz="1300" b="0" i="0">
                <a:solidFill>
                  <a:srgbClr val="9999AA"/>
                </a:solidFill>
                <a:latin typeface="Consolas"/>
              </a:defRPr>
            </a:pPr>
            <a:r>
              <a:t>—</a:t>
            </a:r>
          </a:p>
        </p:txBody>
      </p:sp>
      <p:sp>
        <p:nvSpPr>
          <p:cNvPr id="87" name="TextBox 86"/>
          <p:cNvSpPr txBox="1"/>
          <p:nvPr/>
        </p:nvSpPr>
        <p:spPr>
          <a:xfrm>
            <a:off x="4663440" y="5458968"/>
            <a:ext cx="118872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88" name="TextBox 87"/>
          <p:cNvSpPr txBox="1"/>
          <p:nvPr/>
        </p:nvSpPr>
        <p:spPr>
          <a:xfrm>
            <a:off x="5852160" y="5458968"/>
            <a:ext cx="118872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89" name="TextBox 88"/>
          <p:cNvSpPr txBox="1"/>
          <p:nvPr/>
        </p:nvSpPr>
        <p:spPr>
          <a:xfrm>
            <a:off x="7040880" y="5458968"/>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90" name="TextBox 89"/>
          <p:cNvSpPr txBox="1"/>
          <p:nvPr/>
        </p:nvSpPr>
        <p:spPr>
          <a:xfrm>
            <a:off x="8595360" y="5458968"/>
            <a:ext cx="1280160" cy="347472"/>
          </a:xfrm>
          <a:prstGeom prst="rect">
            <a:avLst/>
          </a:prstGeom>
          <a:noFill/>
        </p:spPr>
        <p:txBody>
          <a:bodyPr wrap="square" anchor="ctr">
            <a:spAutoFit/>
          </a:bodyPr>
          <a:lstStyle/>
          <a:p>
            <a:pPr algn="ctr">
              <a:defRPr sz="1300" b="1" i="0">
                <a:solidFill>
                  <a:srgbClr val="1B9E5E"/>
                </a:solidFill>
                <a:latin typeface="Consolas"/>
              </a:defRPr>
            </a:pPr>
            <a:r>
              <a:t>✓</a:t>
            </a:r>
          </a:p>
        </p:txBody>
      </p:sp>
      <p:sp>
        <p:nvSpPr>
          <p:cNvPr id="91" name="Rounded Rectangle 90"/>
          <p:cNvSpPr/>
          <p:nvPr/>
        </p:nvSpPr>
        <p:spPr>
          <a:xfrm>
            <a:off x="457200" y="5760720"/>
            <a:ext cx="11247120" cy="320040"/>
          </a:xfrm>
          <a:prstGeom prst="roundRect">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40080" y="5760720"/>
            <a:ext cx="10881360" cy="320040"/>
          </a:xfrm>
          <a:prstGeom prst="rect">
            <a:avLst/>
          </a:prstGeom>
          <a:noFill/>
        </p:spPr>
        <p:txBody>
          <a:bodyPr wrap="square" anchor="ctr">
            <a:spAutoFit/>
          </a:bodyPr>
          <a:lstStyle/>
          <a:p>
            <a:pPr algn="ctr">
              <a:defRPr sz="1000" b="1" i="0">
                <a:solidFill>
                  <a:srgbClr val="D41F2C"/>
                </a:solidFill>
                <a:latin typeface="Consolas"/>
              </a:defRPr>
            </a:pPr>
            <a:r>
              <a:t>ZeroTraceFS is the only solution covering ALL features in a single R-native package.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6</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Proposed Solution / System</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What is ZeroTraceFS and How It Works</a:t>
            </a:r>
          </a:p>
        </p:txBody>
      </p:sp>
      <p:sp>
        <p:nvSpPr>
          <p:cNvPr id="20" name="Rounded Rectangle 19"/>
          <p:cNvSpPr/>
          <p:nvPr/>
        </p:nvSpPr>
        <p:spPr>
          <a:xfrm>
            <a:off x="457200" y="2103120"/>
            <a:ext cx="11247120" cy="77724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194560"/>
            <a:ext cx="10881360" cy="274320"/>
          </a:xfrm>
          <a:prstGeom prst="rect">
            <a:avLst/>
          </a:prstGeom>
          <a:noFill/>
        </p:spPr>
        <p:txBody>
          <a:bodyPr wrap="square" anchor="t">
            <a:spAutoFit/>
          </a:bodyPr>
          <a:lstStyle/>
          <a:p>
            <a:pPr algn="ctr">
              <a:defRPr sz="1600" b="1" i="0">
                <a:solidFill>
                  <a:srgbClr val="FFFFFF"/>
                </a:solidFill>
                <a:latin typeface="Consolas"/>
              </a:defRPr>
            </a:pPr>
            <a:r>
              <a:t>ZeroTraceFS = Self-Destructing Encrypted File System</a:t>
            </a:r>
          </a:p>
        </p:txBody>
      </p:sp>
      <p:sp>
        <p:nvSpPr>
          <p:cNvPr id="22" name="TextBox 21"/>
          <p:cNvSpPr txBox="1"/>
          <p:nvPr/>
        </p:nvSpPr>
        <p:spPr>
          <a:xfrm>
            <a:off x="640080" y="2514600"/>
            <a:ext cx="10881360" cy="274320"/>
          </a:xfrm>
          <a:prstGeom prst="rect">
            <a:avLst/>
          </a:prstGeom>
          <a:noFill/>
        </p:spPr>
        <p:txBody>
          <a:bodyPr wrap="square" anchor="t">
            <a:spAutoFit/>
          </a:bodyPr>
          <a:lstStyle/>
          <a:p>
            <a:pPr algn="ctr">
              <a:defRPr sz="1100" b="0" i="0">
                <a:solidFill>
                  <a:srgbClr val="F5F6FA"/>
                </a:solidFill>
                <a:latin typeface="Calibri"/>
              </a:defRPr>
            </a:pPr>
            <a:r>
              <a:t>A disk-backed encrypted virtual file system that encrypts all stored data and automatically destroys it based on configurable policies.</a:t>
            </a:r>
          </a:p>
        </p:txBody>
      </p:sp>
      <p:sp>
        <p:nvSpPr>
          <p:cNvPr id="23" name="Rounded Rectangle 22"/>
          <p:cNvSpPr/>
          <p:nvPr/>
        </p:nvSpPr>
        <p:spPr>
          <a:xfrm>
            <a:off x="457200" y="3108960"/>
            <a:ext cx="3474720" cy="1280160"/>
          </a:xfrm>
          <a:prstGeom prst="roundRect">
            <a:avLst/>
          </a:prstGeom>
          <a:solidFill>
            <a:srgbClr val="E3EFFA"/>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6344" y="3118104"/>
            <a:ext cx="3456432" cy="508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218688"/>
            <a:ext cx="3474720" cy="320040"/>
          </a:xfrm>
          <a:prstGeom prst="rect">
            <a:avLst/>
          </a:prstGeom>
          <a:noFill/>
        </p:spPr>
        <p:txBody>
          <a:bodyPr wrap="square" anchor="t">
            <a:spAutoFit/>
          </a:bodyPr>
          <a:lstStyle/>
          <a:p>
            <a:pPr algn="ctr">
              <a:defRPr sz="1300" b="1" i="0">
                <a:solidFill>
                  <a:srgbClr val="1A3C6E"/>
                </a:solidFill>
                <a:latin typeface="Consolas"/>
              </a:defRPr>
            </a:pPr>
            <a:r>
              <a:t>Encrypted at Rest</a:t>
            </a:r>
          </a:p>
        </p:txBody>
      </p:sp>
      <p:sp>
        <p:nvSpPr>
          <p:cNvPr id="26" name="Rectangle 25"/>
          <p:cNvSpPr/>
          <p:nvPr/>
        </p:nvSpPr>
        <p:spPr>
          <a:xfrm>
            <a:off x="640080" y="3566160"/>
            <a:ext cx="310896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657600"/>
            <a:ext cx="3108960" cy="640080"/>
          </a:xfrm>
          <a:prstGeom prst="rect">
            <a:avLst/>
          </a:prstGeom>
          <a:noFill/>
        </p:spPr>
        <p:txBody>
          <a:bodyPr wrap="square" anchor="t">
            <a:spAutoFit/>
          </a:bodyPr>
          <a:lstStyle/>
          <a:p>
            <a:pPr algn="ctr">
              <a:defRPr sz="1000" b="0" i="0">
                <a:solidFill>
                  <a:srgbClr val="333344"/>
                </a:solidFill>
                <a:latin typeface="Calibri"/>
              </a:defRPr>
            </a:pPr>
            <a:r>
              <a:t>All data stored encrypted</a:t>
            </a:r>
            <a:br/>
            <a:r>
              <a:t>on disk. Plaintext never</a:t>
            </a:r>
            <a:br/>
            <a:r>
              <a:t>touches disk.</a:t>
            </a:r>
          </a:p>
        </p:txBody>
      </p:sp>
      <p:sp>
        <p:nvSpPr>
          <p:cNvPr id="28" name="Rounded Rectangle 27"/>
          <p:cNvSpPr/>
          <p:nvPr/>
        </p:nvSpPr>
        <p:spPr>
          <a:xfrm>
            <a:off x="4251960" y="3108960"/>
            <a:ext cx="3474720" cy="1280160"/>
          </a:xfrm>
          <a:prstGeom prst="roundRect">
            <a:avLst/>
          </a:prstGeom>
          <a:solidFill>
            <a:srgbClr val="E6F7EE"/>
          </a:solidFill>
          <a:ln w="1905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61104" y="3118104"/>
            <a:ext cx="3456432" cy="50800"/>
          </a:xfrm>
          <a:prstGeom prst="rect">
            <a:avLst/>
          </a:prstGeom>
          <a:solidFill>
            <a:srgbClr val="1B9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51960" y="3218688"/>
            <a:ext cx="3474720" cy="320040"/>
          </a:xfrm>
          <a:prstGeom prst="rect">
            <a:avLst/>
          </a:prstGeom>
          <a:noFill/>
        </p:spPr>
        <p:txBody>
          <a:bodyPr wrap="square" anchor="t">
            <a:spAutoFit/>
          </a:bodyPr>
          <a:lstStyle/>
          <a:p>
            <a:pPr algn="ctr">
              <a:defRPr sz="1300" b="1" i="0">
                <a:solidFill>
                  <a:srgbClr val="1B9E5E"/>
                </a:solidFill>
                <a:latin typeface="Consolas"/>
              </a:defRPr>
            </a:pPr>
            <a:r>
              <a:t>Encrypted</a:t>
            </a:r>
          </a:p>
        </p:txBody>
      </p:sp>
      <p:sp>
        <p:nvSpPr>
          <p:cNvPr id="31" name="Rectangle 30"/>
          <p:cNvSpPr/>
          <p:nvPr/>
        </p:nvSpPr>
        <p:spPr>
          <a:xfrm>
            <a:off x="4434840" y="3566160"/>
            <a:ext cx="310896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3657600"/>
            <a:ext cx="3108960" cy="640080"/>
          </a:xfrm>
          <a:prstGeom prst="rect">
            <a:avLst/>
          </a:prstGeom>
          <a:noFill/>
        </p:spPr>
        <p:txBody>
          <a:bodyPr wrap="square" anchor="t">
            <a:spAutoFit/>
          </a:bodyPr>
          <a:lstStyle/>
          <a:p>
            <a:pPr algn="ctr">
              <a:defRPr sz="1000" b="0" i="0">
                <a:solidFill>
                  <a:srgbClr val="333344"/>
                </a:solidFill>
                <a:latin typeface="Calibri"/>
              </a:defRPr>
            </a:pPr>
            <a:r>
              <a:t>AES-256-CBC encryption.</a:t>
            </a:r>
            <a:br/>
            <a:r>
              <a:t>Unique IV per file per write.</a:t>
            </a:r>
            <a:br/>
            <a:r>
              <a:t>Military-grade security.</a:t>
            </a:r>
          </a:p>
        </p:txBody>
      </p:sp>
      <p:sp>
        <p:nvSpPr>
          <p:cNvPr id="33" name="Rounded Rectangle 32"/>
          <p:cNvSpPr/>
          <p:nvPr/>
        </p:nvSpPr>
        <p:spPr>
          <a:xfrm>
            <a:off x="8046720" y="3108960"/>
            <a:ext cx="3474720" cy="1280160"/>
          </a:xfrm>
          <a:prstGeom prst="roundRect">
            <a:avLst/>
          </a:prstGeom>
          <a:solidFill>
            <a:srgbClr val="FDE8EA"/>
          </a:solidFill>
          <a:ln w="1905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55864" y="3118104"/>
            <a:ext cx="3456432" cy="508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3218688"/>
            <a:ext cx="3474720" cy="320040"/>
          </a:xfrm>
          <a:prstGeom prst="rect">
            <a:avLst/>
          </a:prstGeom>
          <a:noFill/>
        </p:spPr>
        <p:txBody>
          <a:bodyPr wrap="square" anchor="t">
            <a:spAutoFit/>
          </a:bodyPr>
          <a:lstStyle/>
          <a:p>
            <a:pPr algn="ctr">
              <a:defRPr sz="1300" b="1" i="0">
                <a:solidFill>
                  <a:srgbClr val="D41F2C"/>
                </a:solidFill>
                <a:latin typeface="Consolas"/>
              </a:defRPr>
            </a:pPr>
            <a:r>
              <a:t>Self-Destructing</a:t>
            </a:r>
          </a:p>
        </p:txBody>
      </p:sp>
      <p:sp>
        <p:nvSpPr>
          <p:cNvPr id="36" name="Rectangle 35"/>
          <p:cNvSpPr/>
          <p:nvPr/>
        </p:nvSpPr>
        <p:spPr>
          <a:xfrm>
            <a:off x="8229600" y="3566160"/>
            <a:ext cx="310896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0" y="3657600"/>
            <a:ext cx="3108960" cy="640080"/>
          </a:xfrm>
          <a:prstGeom prst="rect">
            <a:avLst/>
          </a:prstGeom>
          <a:noFill/>
        </p:spPr>
        <p:txBody>
          <a:bodyPr wrap="square" anchor="t">
            <a:spAutoFit/>
          </a:bodyPr>
          <a:lstStyle/>
          <a:p>
            <a:pPr algn="ctr">
              <a:defRPr sz="1000" b="0" i="0">
                <a:solidFill>
                  <a:srgbClr val="333344"/>
                </a:solidFill>
                <a:latin typeface="Calibri"/>
              </a:defRPr>
            </a:pPr>
            <a:r>
              <a:t>7 automatic triggers.</a:t>
            </a:r>
            <a:br/>
            <a:r>
              <a:t>Immediate, irrecoverable</a:t>
            </a:r>
            <a:br/>
            <a:r>
              <a:t>secure wipe.</a:t>
            </a:r>
          </a:p>
        </p:txBody>
      </p:sp>
      <p:sp>
        <p:nvSpPr>
          <p:cNvPr id="38" name="Rounded Rectangle 37"/>
          <p:cNvSpPr/>
          <p:nvPr/>
        </p:nvSpPr>
        <p:spPr>
          <a:xfrm>
            <a:off x="457200" y="4617720"/>
            <a:ext cx="3474720" cy="1280160"/>
          </a:xfrm>
          <a:prstGeom prst="roundRect">
            <a:avLst/>
          </a:prstGeom>
          <a:solidFill>
            <a:srgbClr val="EDE5FC"/>
          </a:solidFill>
          <a:ln w="19050">
            <a:solidFill>
              <a:srgbClr val="6C4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66344" y="4626864"/>
            <a:ext cx="3456432" cy="50800"/>
          </a:xfrm>
          <a:prstGeom prst="rect">
            <a:avLst/>
          </a:prstGeom>
          <a:solidFill>
            <a:srgbClr val="6C47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727448"/>
            <a:ext cx="3474720" cy="320040"/>
          </a:xfrm>
          <a:prstGeom prst="rect">
            <a:avLst/>
          </a:prstGeom>
          <a:noFill/>
        </p:spPr>
        <p:txBody>
          <a:bodyPr wrap="square" anchor="t">
            <a:spAutoFit/>
          </a:bodyPr>
          <a:lstStyle/>
          <a:p>
            <a:pPr algn="ctr">
              <a:defRPr sz="1300" b="1" i="0">
                <a:solidFill>
                  <a:srgbClr val="6C47C0"/>
                </a:solidFill>
                <a:latin typeface="Consolas"/>
              </a:defRPr>
            </a:pPr>
            <a:r>
              <a:t>R-Native</a:t>
            </a:r>
          </a:p>
        </p:txBody>
      </p:sp>
      <p:sp>
        <p:nvSpPr>
          <p:cNvPr id="41" name="Rectangle 40"/>
          <p:cNvSpPr/>
          <p:nvPr/>
        </p:nvSpPr>
        <p:spPr>
          <a:xfrm>
            <a:off x="640080" y="5074920"/>
            <a:ext cx="310896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166360"/>
            <a:ext cx="3108960" cy="640080"/>
          </a:xfrm>
          <a:prstGeom prst="rect">
            <a:avLst/>
          </a:prstGeom>
          <a:noFill/>
        </p:spPr>
        <p:txBody>
          <a:bodyPr wrap="square" anchor="t">
            <a:spAutoFit/>
          </a:bodyPr>
          <a:lstStyle/>
          <a:p>
            <a:pPr algn="ctr">
              <a:defRPr sz="1000" b="0" i="0">
                <a:solidFill>
                  <a:srgbClr val="333344"/>
                </a:solidFill>
                <a:latin typeface="Calibri"/>
              </a:defRPr>
            </a:pPr>
            <a:r>
              <a:t>Built entirely in R.</a:t>
            </a:r>
            <a:br/>
            <a:r>
              <a:t>Direct workflow integration.</a:t>
            </a:r>
            <a:br/>
            <a:r>
              <a:t>R6 OOP framework.</a:t>
            </a:r>
          </a:p>
        </p:txBody>
      </p:sp>
      <p:sp>
        <p:nvSpPr>
          <p:cNvPr id="43" name="Rounded Rectangle 42"/>
          <p:cNvSpPr/>
          <p:nvPr/>
        </p:nvSpPr>
        <p:spPr>
          <a:xfrm>
            <a:off x="4251960" y="4617720"/>
            <a:ext cx="3474720" cy="1280160"/>
          </a:xfrm>
          <a:prstGeom prst="roundRect">
            <a:avLst/>
          </a:prstGeom>
          <a:solidFill>
            <a:srgbClr val="FEF3DE"/>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261104" y="4626864"/>
            <a:ext cx="3456432" cy="5080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51960" y="4727448"/>
            <a:ext cx="3474720" cy="320040"/>
          </a:xfrm>
          <a:prstGeom prst="rect">
            <a:avLst/>
          </a:prstGeom>
          <a:noFill/>
        </p:spPr>
        <p:txBody>
          <a:bodyPr wrap="square" anchor="t">
            <a:spAutoFit/>
          </a:bodyPr>
          <a:lstStyle/>
          <a:p>
            <a:pPr algn="ctr">
              <a:defRPr sz="1300" b="1" i="0">
                <a:solidFill>
                  <a:srgbClr val="E68A00"/>
                </a:solidFill>
                <a:latin typeface="Consolas"/>
              </a:defRPr>
            </a:pPr>
            <a:r>
              <a:t>Cross-Platform</a:t>
            </a:r>
          </a:p>
        </p:txBody>
      </p:sp>
      <p:sp>
        <p:nvSpPr>
          <p:cNvPr id="46" name="Rectangle 45"/>
          <p:cNvSpPr/>
          <p:nvPr/>
        </p:nvSpPr>
        <p:spPr>
          <a:xfrm>
            <a:off x="4434840" y="5074920"/>
            <a:ext cx="310896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34840" y="5166360"/>
            <a:ext cx="3108960" cy="640080"/>
          </a:xfrm>
          <a:prstGeom prst="rect">
            <a:avLst/>
          </a:prstGeom>
          <a:noFill/>
        </p:spPr>
        <p:txBody>
          <a:bodyPr wrap="square" anchor="t">
            <a:spAutoFit/>
          </a:bodyPr>
          <a:lstStyle/>
          <a:p>
            <a:pPr algn="ctr">
              <a:defRPr sz="1000" b="0" i="0">
                <a:solidFill>
                  <a:srgbClr val="333344"/>
                </a:solidFill>
                <a:latin typeface="Calibri"/>
              </a:defRPr>
            </a:pPr>
            <a:r>
              <a:t>Windows, macOS, Linux.</a:t>
            </a:r>
            <a:br/>
            <a:r>
              <a:t>No admin rights needed.</a:t>
            </a:r>
            <a:br/>
            <a:r>
              <a:t>No internet required.</a:t>
            </a:r>
          </a:p>
        </p:txBody>
      </p:sp>
      <p:sp>
        <p:nvSpPr>
          <p:cNvPr id="48" name="Rounded Rectangle 47"/>
          <p:cNvSpPr/>
          <p:nvPr/>
        </p:nvSpPr>
        <p:spPr>
          <a:xfrm>
            <a:off x="8046720" y="4617720"/>
            <a:ext cx="3474720" cy="1280160"/>
          </a:xfrm>
          <a:prstGeom prst="roundRect">
            <a:avLst/>
          </a:prstGeom>
          <a:solidFill>
            <a:srgbClr val="E3EFFA"/>
          </a:solidFill>
          <a:ln w="19050">
            <a:solidFill>
              <a:srgbClr val="008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055864" y="4626864"/>
            <a:ext cx="3456432" cy="508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6720" y="4727448"/>
            <a:ext cx="3474720" cy="320040"/>
          </a:xfrm>
          <a:prstGeom prst="rect">
            <a:avLst/>
          </a:prstGeom>
          <a:noFill/>
        </p:spPr>
        <p:txBody>
          <a:bodyPr wrap="square" anchor="t">
            <a:spAutoFit/>
          </a:bodyPr>
          <a:lstStyle/>
          <a:p>
            <a:pPr algn="ctr">
              <a:defRPr sz="1300" b="1" i="0">
                <a:solidFill>
                  <a:srgbClr val="008ED6"/>
                </a:solidFill>
                <a:latin typeface="Consolas"/>
              </a:defRPr>
            </a:pPr>
            <a:r>
              <a:t>Auditable</a:t>
            </a:r>
          </a:p>
        </p:txBody>
      </p:sp>
      <p:sp>
        <p:nvSpPr>
          <p:cNvPr id="51" name="Rectangle 50"/>
          <p:cNvSpPr/>
          <p:nvPr/>
        </p:nvSpPr>
        <p:spPr>
          <a:xfrm>
            <a:off x="8229600" y="5074920"/>
            <a:ext cx="310896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0" y="5166360"/>
            <a:ext cx="3108960" cy="640080"/>
          </a:xfrm>
          <a:prstGeom prst="rect">
            <a:avLst/>
          </a:prstGeom>
          <a:noFill/>
        </p:spPr>
        <p:txBody>
          <a:bodyPr wrap="square" anchor="t">
            <a:spAutoFit/>
          </a:bodyPr>
          <a:lstStyle/>
          <a:p>
            <a:pPr algn="ctr">
              <a:defRPr sz="1000" b="0" i="0">
                <a:solidFill>
                  <a:srgbClr val="333344"/>
                </a:solidFill>
                <a:latin typeface="Calibri"/>
              </a:defRPr>
            </a:pPr>
            <a:r>
              <a:t>Tamper-evident record of</a:t>
            </a:r>
            <a:br/>
            <a:r>
              <a:t>every file operation.</a:t>
            </a:r>
            <a:br/>
            <a:r>
              <a:t>GDPR/HIPAA compliant.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7</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PROPOSED SOLUTION</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ZeroTraceFS Design Overview</a:t>
            </a:r>
          </a:p>
        </p:txBody>
      </p:sp>
      <p:sp>
        <p:nvSpPr>
          <p:cNvPr id="20" name="Rounded Rectangle 19"/>
          <p:cNvSpPr/>
          <p:nvPr/>
        </p:nvSpPr>
        <p:spPr>
          <a:xfrm>
            <a:off x="457200" y="2103120"/>
            <a:ext cx="11247120" cy="594360"/>
          </a:xfrm>
          <a:prstGeom prst="roundRect">
            <a:avLst/>
          </a:prstGeom>
          <a:solidFill>
            <a:srgbClr val="E3EFFA"/>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148840"/>
            <a:ext cx="10881360" cy="502920"/>
          </a:xfrm>
          <a:prstGeom prst="rect">
            <a:avLst/>
          </a:prstGeom>
          <a:noFill/>
        </p:spPr>
        <p:txBody>
          <a:bodyPr wrap="square" anchor="ctr">
            <a:spAutoFit/>
          </a:bodyPr>
          <a:lstStyle/>
          <a:p>
            <a:pPr algn="ctr">
              <a:defRPr sz="1200" b="1" i="0">
                <a:solidFill>
                  <a:srgbClr val="1A3C6E"/>
                </a:solidFill>
                <a:latin typeface="Consolas"/>
              </a:defRPr>
            </a:pPr>
            <a:r>
              <a:t>ZeroTraceFS: An R6-based disk-backed encrypted virtual file system with 7 automated self-destruct triggers and multi-pass secure wiping.</a:t>
            </a:r>
          </a:p>
        </p:txBody>
      </p:sp>
      <p:sp>
        <p:nvSpPr>
          <p:cNvPr id="22" name="TextBox 21"/>
          <p:cNvSpPr txBox="1"/>
          <p:nvPr/>
        </p:nvSpPr>
        <p:spPr>
          <a:xfrm>
            <a:off x="457200" y="2880360"/>
            <a:ext cx="11247120" cy="274320"/>
          </a:xfrm>
          <a:prstGeom prst="rect">
            <a:avLst/>
          </a:prstGeom>
          <a:noFill/>
        </p:spPr>
        <p:txBody>
          <a:bodyPr wrap="square" anchor="t">
            <a:spAutoFit/>
          </a:bodyPr>
          <a:lstStyle/>
          <a:p>
            <a:pPr algn="ctr">
              <a:defRPr sz="1100" b="1" i="0">
                <a:solidFill>
                  <a:srgbClr val="1A1A2E"/>
                </a:solidFill>
                <a:latin typeface="Consolas"/>
              </a:defRPr>
            </a:pPr>
            <a:r>
              <a:t>THREE CORE COMPONENTS</a:t>
            </a:r>
          </a:p>
        </p:txBody>
      </p:sp>
      <p:sp>
        <p:nvSpPr>
          <p:cNvPr id="23" name="Rounded Rectangle 22"/>
          <p:cNvSpPr/>
          <p:nvPr/>
        </p:nvSpPr>
        <p:spPr>
          <a:xfrm>
            <a:off x="457200" y="3200400"/>
            <a:ext cx="3474720" cy="2194560"/>
          </a:xfrm>
          <a:prstGeom prst="roundRect">
            <a:avLst/>
          </a:prstGeom>
          <a:solidFill>
            <a:srgbClr val="E3EFFA"/>
          </a:solidFill>
          <a:ln w="2540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6344" y="3209544"/>
            <a:ext cx="3456432" cy="635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337560"/>
            <a:ext cx="3474720" cy="320040"/>
          </a:xfrm>
          <a:prstGeom prst="rect">
            <a:avLst/>
          </a:prstGeom>
          <a:noFill/>
        </p:spPr>
        <p:txBody>
          <a:bodyPr wrap="square" anchor="t">
            <a:spAutoFit/>
          </a:bodyPr>
          <a:lstStyle/>
          <a:p>
            <a:pPr algn="ctr">
              <a:defRPr sz="1200" b="1" i="0">
                <a:solidFill>
                  <a:srgbClr val="1A3C6E"/>
                </a:solidFill>
                <a:latin typeface="Consolas"/>
              </a:defRPr>
            </a:pPr>
            <a:r>
              <a:t>ENCRYPTION SYSTEM</a:t>
            </a:r>
          </a:p>
        </p:txBody>
      </p:sp>
      <p:sp>
        <p:nvSpPr>
          <p:cNvPr id="26" name="Rectangle 25"/>
          <p:cNvSpPr/>
          <p:nvPr/>
        </p:nvSpPr>
        <p:spPr>
          <a:xfrm>
            <a:off x="640080" y="3703320"/>
            <a:ext cx="310896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94760"/>
            <a:ext cx="3108960" cy="1463040"/>
          </a:xfrm>
          <a:prstGeom prst="rect">
            <a:avLst/>
          </a:prstGeom>
          <a:noFill/>
        </p:spPr>
        <p:txBody>
          <a:bodyPr wrap="square" anchor="t">
            <a:spAutoFit/>
          </a:bodyPr>
          <a:lstStyle/>
          <a:p>
            <a:pPr algn="ctr">
              <a:defRPr sz="1000" b="0" i="0">
                <a:solidFill>
                  <a:srgbClr val="333344"/>
                </a:solidFill>
                <a:latin typeface="Calibri"/>
              </a:defRPr>
            </a:pPr>
            <a:r>
              <a:t>AES-256-CBC cipher</a:t>
            </a:r>
            <a:br/>
            <a:r>
              <a:t>PBKDF2 key derivation (100K iter)</a:t>
            </a:r>
            <a:br/>
            <a:r>
              <a:t>Unique IV per file per write</a:t>
            </a:r>
            <a:br/>
            <a:r>
              <a:t>SHA-256 integrity checks</a:t>
            </a:r>
          </a:p>
        </p:txBody>
      </p:sp>
      <p:sp>
        <p:nvSpPr>
          <p:cNvPr id="28" name="Rounded Rectangle 27"/>
          <p:cNvSpPr/>
          <p:nvPr/>
        </p:nvSpPr>
        <p:spPr>
          <a:xfrm>
            <a:off x="4251960" y="3200400"/>
            <a:ext cx="3474720" cy="2194560"/>
          </a:xfrm>
          <a:prstGeom prst="roundRect">
            <a:avLst/>
          </a:prstGeom>
          <a:solidFill>
            <a:srgbClr val="FDE8EA"/>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61104" y="3209544"/>
            <a:ext cx="3456432" cy="635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51960" y="3337560"/>
            <a:ext cx="3474720" cy="320040"/>
          </a:xfrm>
          <a:prstGeom prst="rect">
            <a:avLst/>
          </a:prstGeom>
          <a:noFill/>
        </p:spPr>
        <p:txBody>
          <a:bodyPr wrap="square" anchor="t">
            <a:spAutoFit/>
          </a:bodyPr>
          <a:lstStyle/>
          <a:p>
            <a:pPr algn="ctr">
              <a:defRPr sz="1200" b="1" i="0">
                <a:solidFill>
                  <a:srgbClr val="D41F2C"/>
                </a:solidFill>
                <a:latin typeface="Consolas"/>
              </a:defRPr>
            </a:pPr>
            <a:r>
              <a:t>DESTRUCTION ENGINE</a:t>
            </a:r>
          </a:p>
        </p:txBody>
      </p:sp>
      <p:sp>
        <p:nvSpPr>
          <p:cNvPr id="31" name="Rectangle 30"/>
          <p:cNvSpPr/>
          <p:nvPr/>
        </p:nvSpPr>
        <p:spPr>
          <a:xfrm>
            <a:off x="4434840" y="3703320"/>
            <a:ext cx="310896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3794760"/>
            <a:ext cx="3108960" cy="1463040"/>
          </a:xfrm>
          <a:prstGeom prst="rect">
            <a:avLst/>
          </a:prstGeom>
          <a:noFill/>
        </p:spPr>
        <p:txBody>
          <a:bodyPr wrap="square" anchor="t">
            <a:spAutoFit/>
          </a:bodyPr>
          <a:lstStyle/>
          <a:p>
            <a:pPr algn="ctr">
              <a:defRPr sz="1000" b="0" i="0">
                <a:solidFill>
                  <a:srgbClr val="333344"/>
                </a:solidFill>
                <a:latin typeface="Calibri"/>
              </a:defRPr>
            </a:pPr>
            <a:r>
              <a:t>7 independent triggers</a:t>
            </a:r>
            <a:br/>
            <a:r>
              <a:t>Time-based, access-based</a:t>
            </a:r>
            <a:br/>
            <a:r>
              <a:t>Authentication-based</a:t>
            </a:r>
            <a:br/>
            <a:r>
              <a:t>Coercion protection (duress)</a:t>
            </a:r>
          </a:p>
        </p:txBody>
      </p:sp>
      <p:sp>
        <p:nvSpPr>
          <p:cNvPr id="33" name="Rounded Rectangle 32"/>
          <p:cNvSpPr/>
          <p:nvPr/>
        </p:nvSpPr>
        <p:spPr>
          <a:xfrm>
            <a:off x="8046720" y="3200400"/>
            <a:ext cx="3474720" cy="2194560"/>
          </a:xfrm>
          <a:prstGeom prst="roundRect">
            <a:avLst/>
          </a:prstGeom>
          <a:solidFill>
            <a:srgbClr val="E6F7EE"/>
          </a:solidFill>
          <a:ln w="254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55864" y="3209544"/>
            <a:ext cx="3456432" cy="63500"/>
          </a:xfrm>
          <a:prstGeom prst="rect">
            <a:avLst/>
          </a:prstGeom>
          <a:solidFill>
            <a:srgbClr val="1B9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3337560"/>
            <a:ext cx="3474720" cy="320040"/>
          </a:xfrm>
          <a:prstGeom prst="rect">
            <a:avLst/>
          </a:prstGeom>
          <a:noFill/>
        </p:spPr>
        <p:txBody>
          <a:bodyPr wrap="square" anchor="t">
            <a:spAutoFit/>
          </a:bodyPr>
          <a:lstStyle/>
          <a:p>
            <a:pPr algn="ctr">
              <a:defRPr sz="1200" b="1" i="0">
                <a:solidFill>
                  <a:srgbClr val="1B9E5E"/>
                </a:solidFill>
                <a:latin typeface="Consolas"/>
              </a:defRPr>
            </a:pPr>
            <a:r>
              <a:t>SECURE WIPE PROTOCOL</a:t>
            </a:r>
          </a:p>
        </p:txBody>
      </p:sp>
      <p:sp>
        <p:nvSpPr>
          <p:cNvPr id="36" name="Rectangle 35"/>
          <p:cNvSpPr/>
          <p:nvPr/>
        </p:nvSpPr>
        <p:spPr>
          <a:xfrm>
            <a:off x="8229600" y="3703320"/>
            <a:ext cx="310896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0" y="3794760"/>
            <a:ext cx="3108960" cy="1463040"/>
          </a:xfrm>
          <a:prstGeom prst="rect">
            <a:avLst/>
          </a:prstGeom>
          <a:noFill/>
        </p:spPr>
        <p:txBody>
          <a:bodyPr wrap="square" anchor="t">
            <a:spAutoFit/>
          </a:bodyPr>
          <a:lstStyle/>
          <a:p>
            <a:pPr algn="ctr">
              <a:defRPr sz="1000" b="0" i="0">
                <a:solidFill>
                  <a:srgbClr val="333344"/>
                </a:solidFill>
                <a:latin typeface="Calibri"/>
              </a:defRPr>
            </a:pPr>
            <a:r>
              <a:t>4-pass disk overwrite</a:t>
            </a:r>
            <a:br/>
            <a:r>
              <a:t>3x random + 1x zeros</a:t>
            </a:r>
            <a:br/>
            <a:r>
              <a:t>Key destruction</a:t>
            </a:r>
            <a:br/>
            <a:r>
              <a:t>File deletion</a:t>
            </a:r>
          </a:p>
        </p:txBody>
      </p:sp>
      <p:sp>
        <p:nvSpPr>
          <p:cNvPr id="38" name="TextBox 37"/>
          <p:cNvSpPr txBox="1"/>
          <p:nvPr/>
        </p:nvSpPr>
        <p:spPr>
          <a:xfrm>
            <a:off x="3977639" y="4114800"/>
            <a:ext cx="365760" cy="274320"/>
          </a:xfrm>
          <a:prstGeom prst="rect">
            <a:avLst/>
          </a:prstGeom>
          <a:noFill/>
        </p:spPr>
        <p:txBody>
          <a:bodyPr wrap="square" anchor="t">
            <a:spAutoFit/>
          </a:bodyPr>
          <a:lstStyle/>
          <a:p>
            <a:pPr algn="ctr">
              <a:defRPr sz="2000" b="0" i="0">
                <a:solidFill>
                  <a:srgbClr val="9999AA"/>
                </a:solidFill>
                <a:latin typeface="Consolas"/>
              </a:defRPr>
            </a:pPr>
            <a:r>
              <a:t>↔</a:t>
            </a:r>
          </a:p>
        </p:txBody>
      </p:sp>
      <p:sp>
        <p:nvSpPr>
          <p:cNvPr id="39" name="TextBox 38"/>
          <p:cNvSpPr txBox="1"/>
          <p:nvPr/>
        </p:nvSpPr>
        <p:spPr>
          <a:xfrm>
            <a:off x="7772400" y="4114800"/>
            <a:ext cx="365760" cy="274320"/>
          </a:xfrm>
          <a:prstGeom prst="rect">
            <a:avLst/>
          </a:prstGeom>
          <a:noFill/>
        </p:spPr>
        <p:txBody>
          <a:bodyPr wrap="square" anchor="t">
            <a:spAutoFit/>
          </a:bodyPr>
          <a:lstStyle/>
          <a:p>
            <a:pPr algn="ctr">
              <a:defRPr sz="2000" b="0" i="0">
                <a:solidFill>
                  <a:srgbClr val="9999AA"/>
                </a:solidFill>
                <a:latin typeface="Consolas"/>
              </a:defRPr>
            </a:pPr>
            <a:r>
              <a:t>↔</a:t>
            </a:r>
          </a:p>
        </p:txBody>
      </p:sp>
      <p:sp>
        <p:nvSpPr>
          <p:cNvPr id="40" name="Rectangle 39"/>
          <p:cNvSpPr/>
          <p:nvPr/>
        </p:nvSpPr>
        <p:spPr>
          <a:xfrm>
            <a:off x="457200" y="5577840"/>
            <a:ext cx="11247120" cy="12700"/>
          </a:xfrm>
          <a:prstGeom prst="rect">
            <a:avLst/>
          </a:prstGeom>
          <a:solidFill>
            <a:srgbClr val="D0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48640" y="5715000"/>
            <a:ext cx="228600" cy="228600"/>
          </a:xfrm>
          <a:prstGeom prst="ellipse">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715000"/>
            <a:ext cx="228600" cy="228600"/>
          </a:xfrm>
          <a:prstGeom prst="rect">
            <a:avLst/>
          </a:prstGeom>
          <a:noFill/>
        </p:spPr>
        <p:txBody>
          <a:bodyPr wrap="square" anchor="ctr">
            <a:spAutoFit/>
          </a:bodyPr>
          <a:lstStyle/>
          <a:p>
            <a:pPr algn="ctr">
              <a:defRPr sz="900" b="1" i="0">
                <a:solidFill>
                  <a:srgbClr val="FFFFFF"/>
                </a:solidFill>
                <a:latin typeface="Consolas"/>
              </a:defRPr>
            </a:pPr>
            <a:r>
              <a:t>✓</a:t>
            </a:r>
          </a:p>
        </p:txBody>
      </p:sp>
      <p:sp>
        <p:nvSpPr>
          <p:cNvPr id="43" name="TextBox 42"/>
          <p:cNvSpPr txBox="1"/>
          <p:nvPr/>
        </p:nvSpPr>
        <p:spPr>
          <a:xfrm>
            <a:off x="868680" y="5715000"/>
            <a:ext cx="1828800" cy="228600"/>
          </a:xfrm>
          <a:prstGeom prst="rect">
            <a:avLst/>
          </a:prstGeom>
          <a:noFill/>
        </p:spPr>
        <p:txBody>
          <a:bodyPr wrap="square" anchor="ctr">
            <a:spAutoFit/>
          </a:bodyPr>
          <a:lstStyle/>
          <a:p>
            <a:pPr algn="l">
              <a:defRPr sz="1000" b="0" i="0">
                <a:solidFill>
                  <a:srgbClr val="333344"/>
                </a:solidFill>
                <a:latin typeface="Calibri"/>
              </a:defRPr>
            </a:pPr>
            <a:r>
              <a:t>Encrypted Disk Storage</a:t>
            </a:r>
          </a:p>
        </p:txBody>
      </p:sp>
      <p:sp>
        <p:nvSpPr>
          <p:cNvPr id="44" name="Oval 43"/>
          <p:cNvSpPr/>
          <p:nvPr/>
        </p:nvSpPr>
        <p:spPr>
          <a:xfrm>
            <a:off x="2834640" y="5715000"/>
            <a:ext cx="228600" cy="228600"/>
          </a:xfrm>
          <a:prstGeom prst="ellipse">
            <a:avLst/>
          </a:prstGeom>
          <a:solidFill>
            <a:srgbClr val="1B9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0" y="5715000"/>
            <a:ext cx="228600" cy="228600"/>
          </a:xfrm>
          <a:prstGeom prst="rect">
            <a:avLst/>
          </a:prstGeom>
          <a:noFill/>
        </p:spPr>
        <p:txBody>
          <a:bodyPr wrap="square" anchor="ctr">
            <a:spAutoFit/>
          </a:bodyPr>
          <a:lstStyle/>
          <a:p>
            <a:pPr algn="ctr">
              <a:defRPr sz="900" b="1" i="0">
                <a:solidFill>
                  <a:srgbClr val="FFFFFF"/>
                </a:solidFill>
                <a:latin typeface="Consolas"/>
              </a:defRPr>
            </a:pPr>
            <a:r>
              <a:t>✓</a:t>
            </a:r>
          </a:p>
        </p:txBody>
      </p:sp>
      <p:sp>
        <p:nvSpPr>
          <p:cNvPr id="46" name="TextBox 45"/>
          <p:cNvSpPr txBox="1"/>
          <p:nvPr/>
        </p:nvSpPr>
        <p:spPr>
          <a:xfrm>
            <a:off x="3154680" y="5715000"/>
            <a:ext cx="1828800" cy="228600"/>
          </a:xfrm>
          <a:prstGeom prst="rect">
            <a:avLst/>
          </a:prstGeom>
          <a:noFill/>
        </p:spPr>
        <p:txBody>
          <a:bodyPr wrap="square" anchor="ctr">
            <a:spAutoFit/>
          </a:bodyPr>
          <a:lstStyle/>
          <a:p>
            <a:pPr algn="l">
              <a:defRPr sz="1000" b="0" i="0">
                <a:solidFill>
                  <a:srgbClr val="333344"/>
                </a:solidFill>
                <a:latin typeface="Calibri"/>
              </a:defRPr>
            </a:pPr>
            <a:r>
              <a:t>Automatic Lifecycle</a:t>
            </a:r>
          </a:p>
        </p:txBody>
      </p:sp>
      <p:sp>
        <p:nvSpPr>
          <p:cNvPr id="47" name="Oval 46"/>
          <p:cNvSpPr/>
          <p:nvPr/>
        </p:nvSpPr>
        <p:spPr>
          <a:xfrm>
            <a:off x="5120640" y="5715000"/>
            <a:ext cx="228600" cy="22860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20640" y="5715000"/>
            <a:ext cx="228600" cy="228600"/>
          </a:xfrm>
          <a:prstGeom prst="rect">
            <a:avLst/>
          </a:prstGeom>
          <a:noFill/>
        </p:spPr>
        <p:txBody>
          <a:bodyPr wrap="square" anchor="ctr">
            <a:spAutoFit/>
          </a:bodyPr>
          <a:lstStyle/>
          <a:p>
            <a:pPr algn="ctr">
              <a:defRPr sz="900" b="1" i="0">
                <a:solidFill>
                  <a:srgbClr val="FFFFFF"/>
                </a:solidFill>
                <a:latin typeface="Consolas"/>
              </a:defRPr>
            </a:pPr>
            <a:r>
              <a:t>✓</a:t>
            </a:r>
          </a:p>
        </p:txBody>
      </p:sp>
      <p:sp>
        <p:nvSpPr>
          <p:cNvPr id="49" name="TextBox 48"/>
          <p:cNvSpPr txBox="1"/>
          <p:nvPr/>
        </p:nvSpPr>
        <p:spPr>
          <a:xfrm>
            <a:off x="5440680" y="5715000"/>
            <a:ext cx="1828800" cy="228600"/>
          </a:xfrm>
          <a:prstGeom prst="rect">
            <a:avLst/>
          </a:prstGeom>
          <a:noFill/>
        </p:spPr>
        <p:txBody>
          <a:bodyPr wrap="square" anchor="ctr">
            <a:spAutoFit/>
          </a:bodyPr>
          <a:lstStyle/>
          <a:p>
            <a:pPr algn="l">
              <a:defRPr sz="1000" b="0" i="0">
                <a:solidFill>
                  <a:srgbClr val="333344"/>
                </a:solidFill>
                <a:latin typeface="Calibri"/>
              </a:defRPr>
            </a:pPr>
            <a:r>
              <a:t>Forensic-Proof Delete</a:t>
            </a:r>
          </a:p>
        </p:txBody>
      </p:sp>
      <p:sp>
        <p:nvSpPr>
          <p:cNvPr id="50" name="Oval 49"/>
          <p:cNvSpPr/>
          <p:nvPr/>
        </p:nvSpPr>
        <p:spPr>
          <a:xfrm>
            <a:off x="7406640" y="5715000"/>
            <a:ext cx="228600" cy="228600"/>
          </a:xfrm>
          <a:prstGeom prst="ellipse">
            <a:avLst/>
          </a:prstGeom>
          <a:solidFill>
            <a:srgbClr val="6C47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06640" y="5715000"/>
            <a:ext cx="228600" cy="228600"/>
          </a:xfrm>
          <a:prstGeom prst="rect">
            <a:avLst/>
          </a:prstGeom>
          <a:noFill/>
        </p:spPr>
        <p:txBody>
          <a:bodyPr wrap="square" anchor="ctr">
            <a:spAutoFit/>
          </a:bodyPr>
          <a:lstStyle/>
          <a:p>
            <a:pPr algn="ctr">
              <a:defRPr sz="900" b="1" i="0">
                <a:solidFill>
                  <a:srgbClr val="FFFFFF"/>
                </a:solidFill>
                <a:latin typeface="Consolas"/>
              </a:defRPr>
            </a:pPr>
            <a:r>
              <a:t>✓</a:t>
            </a:r>
          </a:p>
        </p:txBody>
      </p:sp>
      <p:sp>
        <p:nvSpPr>
          <p:cNvPr id="52" name="TextBox 51"/>
          <p:cNvSpPr txBox="1"/>
          <p:nvPr/>
        </p:nvSpPr>
        <p:spPr>
          <a:xfrm>
            <a:off x="7726680" y="5715000"/>
            <a:ext cx="1828800" cy="228600"/>
          </a:xfrm>
          <a:prstGeom prst="rect">
            <a:avLst/>
          </a:prstGeom>
          <a:noFill/>
        </p:spPr>
        <p:txBody>
          <a:bodyPr wrap="square" anchor="ctr">
            <a:spAutoFit/>
          </a:bodyPr>
          <a:lstStyle/>
          <a:p>
            <a:pPr algn="l">
              <a:defRPr sz="1000" b="0" i="0">
                <a:solidFill>
                  <a:srgbClr val="333344"/>
                </a:solidFill>
                <a:latin typeface="Calibri"/>
              </a:defRPr>
            </a:pPr>
            <a:r>
              <a:t>R Integration</a:t>
            </a:r>
          </a:p>
        </p:txBody>
      </p:sp>
      <p:sp>
        <p:nvSpPr>
          <p:cNvPr id="53" name="Oval 52"/>
          <p:cNvSpPr/>
          <p:nvPr/>
        </p:nvSpPr>
        <p:spPr>
          <a:xfrm>
            <a:off x="9692640" y="5715000"/>
            <a:ext cx="228600" cy="228600"/>
          </a:xfrm>
          <a:prstGeom prst="ellipse">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92640" y="5715000"/>
            <a:ext cx="228600" cy="228600"/>
          </a:xfrm>
          <a:prstGeom prst="rect">
            <a:avLst/>
          </a:prstGeom>
          <a:noFill/>
        </p:spPr>
        <p:txBody>
          <a:bodyPr wrap="square" anchor="ctr">
            <a:spAutoFit/>
          </a:bodyPr>
          <a:lstStyle/>
          <a:p>
            <a:pPr algn="ctr">
              <a:defRPr sz="900" b="1" i="0">
                <a:solidFill>
                  <a:srgbClr val="FFFFFF"/>
                </a:solidFill>
                <a:latin typeface="Consolas"/>
              </a:defRPr>
            </a:pPr>
            <a:r>
              <a:t>✓</a:t>
            </a:r>
          </a:p>
        </p:txBody>
      </p:sp>
      <p:sp>
        <p:nvSpPr>
          <p:cNvPr id="55" name="TextBox 54"/>
          <p:cNvSpPr txBox="1"/>
          <p:nvPr/>
        </p:nvSpPr>
        <p:spPr>
          <a:xfrm>
            <a:off x="10012680" y="5715000"/>
            <a:ext cx="1828800" cy="228600"/>
          </a:xfrm>
          <a:prstGeom prst="rect">
            <a:avLst/>
          </a:prstGeom>
          <a:noFill/>
        </p:spPr>
        <p:txBody>
          <a:bodyPr wrap="square" anchor="ctr">
            <a:spAutoFit/>
          </a:bodyPr>
          <a:lstStyle/>
          <a:p>
            <a:pPr algn="l">
              <a:defRPr sz="1000" b="0" i="0">
                <a:solidFill>
                  <a:srgbClr val="333344"/>
                </a:solidFill>
                <a:latin typeface="Calibri"/>
              </a:defRPr>
            </a:pPr>
            <a:r>
              <a:t>GDPR/HIPAA Ready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8</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SYSTEM ARCHITECTURE</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Technical Design Diagram</a:t>
            </a:r>
          </a:p>
        </p:txBody>
      </p:sp>
      <p:sp>
        <p:nvSpPr>
          <p:cNvPr id="20" name="Rounded Rectangle 19"/>
          <p:cNvSpPr/>
          <p:nvPr/>
        </p:nvSpPr>
        <p:spPr>
          <a:xfrm>
            <a:off x="2286000" y="2103120"/>
            <a:ext cx="7589520" cy="594360"/>
          </a:xfrm>
          <a:prstGeom prst="roundRect">
            <a:avLst/>
          </a:prstGeom>
          <a:solidFill>
            <a:srgbClr val="E3EFFA"/>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2157984"/>
            <a:ext cx="7589520" cy="292608"/>
          </a:xfrm>
          <a:prstGeom prst="rect">
            <a:avLst/>
          </a:prstGeom>
          <a:noFill/>
        </p:spPr>
        <p:txBody>
          <a:bodyPr wrap="square" anchor="t">
            <a:spAutoFit/>
          </a:bodyPr>
          <a:lstStyle/>
          <a:p>
            <a:pPr algn="ctr">
              <a:defRPr sz="1100" b="1" i="0">
                <a:solidFill>
                  <a:srgbClr val="1A3C6E"/>
                </a:solidFill>
                <a:latin typeface="Consolas"/>
              </a:defRPr>
            </a:pPr>
            <a:r>
              <a:t>USER API LAYER</a:t>
            </a:r>
          </a:p>
        </p:txBody>
      </p:sp>
      <p:sp>
        <p:nvSpPr>
          <p:cNvPr id="22" name="TextBox 21"/>
          <p:cNvSpPr txBox="1"/>
          <p:nvPr/>
        </p:nvSpPr>
        <p:spPr>
          <a:xfrm>
            <a:off x="2331720" y="2450592"/>
            <a:ext cx="7498080" cy="210312"/>
          </a:xfrm>
          <a:prstGeom prst="rect">
            <a:avLst/>
          </a:prstGeom>
          <a:noFill/>
        </p:spPr>
        <p:txBody>
          <a:bodyPr wrap="square" anchor="t">
            <a:spAutoFit/>
          </a:bodyPr>
          <a:lstStyle/>
          <a:p>
            <a:pPr algn="ctr">
              <a:defRPr sz="900" b="0" i="0">
                <a:solidFill>
                  <a:srgbClr val="666677"/>
                </a:solidFill>
                <a:latin typeface="Calibri"/>
              </a:defRPr>
            </a:pPr>
            <a:r>
              <a:t>write()  |  read()  |  list_files()  |  delete()  |  destroy()  |  save_container()</a:t>
            </a:r>
          </a:p>
        </p:txBody>
      </p:sp>
      <p:sp>
        <p:nvSpPr>
          <p:cNvPr id="23" name="TextBox 22"/>
          <p:cNvSpPr txBox="1"/>
          <p:nvPr/>
        </p:nvSpPr>
        <p:spPr>
          <a:xfrm>
            <a:off x="5943600" y="2697480"/>
            <a:ext cx="274320" cy="228600"/>
          </a:xfrm>
          <a:prstGeom prst="rect">
            <a:avLst/>
          </a:prstGeom>
          <a:noFill/>
        </p:spPr>
        <p:txBody>
          <a:bodyPr wrap="square" anchor="ctr">
            <a:spAutoFit/>
          </a:bodyPr>
          <a:lstStyle/>
          <a:p>
            <a:pPr algn="ctr">
              <a:defRPr sz="1600" b="0" i="0">
                <a:solidFill>
                  <a:srgbClr val="1A3C6E"/>
                </a:solidFill>
                <a:latin typeface="Consolas"/>
              </a:defRPr>
            </a:pPr>
            <a:r>
              <a:t>↓</a:t>
            </a:r>
          </a:p>
        </p:txBody>
      </p:sp>
      <p:sp>
        <p:nvSpPr>
          <p:cNvPr id="24" name="TextBox 23"/>
          <p:cNvSpPr txBox="1"/>
          <p:nvPr/>
        </p:nvSpPr>
        <p:spPr>
          <a:xfrm>
            <a:off x="457200" y="2971800"/>
            <a:ext cx="11247120" cy="228600"/>
          </a:xfrm>
          <a:prstGeom prst="rect">
            <a:avLst/>
          </a:prstGeom>
          <a:noFill/>
        </p:spPr>
        <p:txBody>
          <a:bodyPr wrap="square" anchor="t">
            <a:spAutoFit/>
          </a:bodyPr>
          <a:lstStyle/>
          <a:p>
            <a:pPr algn="ctr">
              <a:defRPr sz="900" b="1" i="0">
                <a:solidFill>
                  <a:srgbClr val="9999AA"/>
                </a:solidFill>
                <a:latin typeface="Consolas"/>
              </a:defRPr>
            </a:pPr>
            <a:r>
              <a:t>CORE PROCESSING LAYER</a:t>
            </a:r>
          </a:p>
        </p:txBody>
      </p:sp>
      <p:sp>
        <p:nvSpPr>
          <p:cNvPr id="25" name="Rounded Rectangle 24"/>
          <p:cNvSpPr/>
          <p:nvPr/>
        </p:nvSpPr>
        <p:spPr>
          <a:xfrm>
            <a:off x="640080" y="3246120"/>
            <a:ext cx="3291840" cy="1280160"/>
          </a:xfrm>
          <a:prstGeom prst="roundRect">
            <a:avLst/>
          </a:prstGeom>
          <a:solidFill>
            <a:srgbClr val="EDE5FC"/>
          </a:solidFill>
          <a:ln w="19050">
            <a:solidFill>
              <a:srgbClr val="6C4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300984"/>
            <a:ext cx="3291840" cy="292608"/>
          </a:xfrm>
          <a:prstGeom prst="rect">
            <a:avLst/>
          </a:prstGeom>
          <a:noFill/>
        </p:spPr>
        <p:txBody>
          <a:bodyPr wrap="square" anchor="t">
            <a:spAutoFit/>
          </a:bodyPr>
          <a:lstStyle/>
          <a:p>
            <a:pPr algn="ctr">
              <a:defRPr sz="1100" b="1" i="0">
                <a:solidFill>
                  <a:srgbClr val="6C47C0"/>
                </a:solidFill>
                <a:latin typeface="Consolas"/>
              </a:defRPr>
            </a:pPr>
            <a:r>
              <a:t>AUTH ENGINE</a:t>
            </a:r>
          </a:p>
        </p:txBody>
      </p:sp>
      <p:sp>
        <p:nvSpPr>
          <p:cNvPr id="27" name="TextBox 26"/>
          <p:cNvSpPr txBox="1"/>
          <p:nvPr/>
        </p:nvSpPr>
        <p:spPr>
          <a:xfrm>
            <a:off x="685800" y="3593592"/>
            <a:ext cx="3200400" cy="896112"/>
          </a:xfrm>
          <a:prstGeom prst="rect">
            <a:avLst/>
          </a:prstGeom>
          <a:noFill/>
        </p:spPr>
        <p:txBody>
          <a:bodyPr wrap="square" anchor="t">
            <a:spAutoFit/>
          </a:bodyPr>
          <a:lstStyle/>
          <a:p>
            <a:pPr algn="ctr">
              <a:defRPr sz="900" b="0" i="0">
                <a:solidFill>
                  <a:srgbClr val="666677"/>
                </a:solidFill>
                <a:latin typeface="Calibri"/>
              </a:defRPr>
            </a:pPr>
            <a:r>
              <a:t>PBKDF2 derivation</a:t>
            </a:r>
            <a:br/>
            <a:r>
              <a:t>Password verify</a:t>
            </a:r>
            <a:br/>
            <a:r>
              <a:t>Salt management</a:t>
            </a:r>
          </a:p>
        </p:txBody>
      </p:sp>
      <p:sp>
        <p:nvSpPr>
          <p:cNvPr id="28" name="Rounded Rectangle 27"/>
          <p:cNvSpPr/>
          <p:nvPr/>
        </p:nvSpPr>
        <p:spPr>
          <a:xfrm>
            <a:off x="4434840" y="3246120"/>
            <a:ext cx="3291840" cy="1280160"/>
          </a:xfrm>
          <a:prstGeom prst="roundRect">
            <a:avLst/>
          </a:prstGeom>
          <a:solidFill>
            <a:srgbClr val="E3EFFA"/>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3300984"/>
            <a:ext cx="3291840" cy="292608"/>
          </a:xfrm>
          <a:prstGeom prst="rect">
            <a:avLst/>
          </a:prstGeom>
          <a:noFill/>
        </p:spPr>
        <p:txBody>
          <a:bodyPr wrap="square" anchor="t">
            <a:spAutoFit/>
          </a:bodyPr>
          <a:lstStyle/>
          <a:p>
            <a:pPr algn="ctr">
              <a:defRPr sz="1100" b="1" i="0">
                <a:solidFill>
                  <a:srgbClr val="1A3C6E"/>
                </a:solidFill>
                <a:latin typeface="Consolas"/>
              </a:defRPr>
            </a:pPr>
            <a:r>
              <a:t>CRYPTO ENGINE</a:t>
            </a:r>
          </a:p>
        </p:txBody>
      </p:sp>
      <p:sp>
        <p:nvSpPr>
          <p:cNvPr id="30" name="TextBox 29"/>
          <p:cNvSpPr txBox="1"/>
          <p:nvPr/>
        </p:nvSpPr>
        <p:spPr>
          <a:xfrm>
            <a:off x="4480560" y="3593592"/>
            <a:ext cx="3200400" cy="896112"/>
          </a:xfrm>
          <a:prstGeom prst="rect">
            <a:avLst/>
          </a:prstGeom>
          <a:noFill/>
        </p:spPr>
        <p:txBody>
          <a:bodyPr wrap="square" anchor="t">
            <a:spAutoFit/>
          </a:bodyPr>
          <a:lstStyle/>
          <a:p>
            <a:pPr algn="ctr">
              <a:defRPr sz="900" b="0" i="0">
                <a:solidFill>
                  <a:srgbClr val="666677"/>
                </a:solidFill>
                <a:latin typeface="Calibri"/>
              </a:defRPr>
            </a:pPr>
            <a:r>
              <a:t>AES-256-CBC</a:t>
            </a:r>
            <a:br/>
            <a:r>
              <a:t>IV generation</a:t>
            </a:r>
            <a:br/>
            <a:r>
              <a:t>Serialize/Deserialize</a:t>
            </a:r>
          </a:p>
        </p:txBody>
      </p:sp>
      <p:sp>
        <p:nvSpPr>
          <p:cNvPr id="31" name="Rounded Rectangle 30"/>
          <p:cNvSpPr/>
          <p:nvPr/>
        </p:nvSpPr>
        <p:spPr>
          <a:xfrm>
            <a:off x="8229600" y="3246120"/>
            <a:ext cx="3291840" cy="1280160"/>
          </a:xfrm>
          <a:prstGeom prst="roundRect">
            <a:avLst/>
          </a:prstGeom>
          <a:solidFill>
            <a:srgbClr val="FDE8EA"/>
          </a:solidFill>
          <a:ln w="1905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3300984"/>
            <a:ext cx="3291840" cy="292608"/>
          </a:xfrm>
          <a:prstGeom prst="rect">
            <a:avLst/>
          </a:prstGeom>
          <a:noFill/>
        </p:spPr>
        <p:txBody>
          <a:bodyPr wrap="square" anchor="t">
            <a:spAutoFit/>
          </a:bodyPr>
          <a:lstStyle/>
          <a:p>
            <a:pPr algn="ctr">
              <a:defRPr sz="1100" b="1" i="0">
                <a:solidFill>
                  <a:srgbClr val="D41F2C"/>
                </a:solidFill>
                <a:latin typeface="Consolas"/>
              </a:defRPr>
            </a:pPr>
            <a:r>
              <a:t>DESTRUCT ENGINE</a:t>
            </a:r>
          </a:p>
        </p:txBody>
      </p:sp>
      <p:sp>
        <p:nvSpPr>
          <p:cNvPr id="33" name="TextBox 32"/>
          <p:cNvSpPr txBox="1"/>
          <p:nvPr/>
        </p:nvSpPr>
        <p:spPr>
          <a:xfrm>
            <a:off x="8275320" y="3593592"/>
            <a:ext cx="3200400" cy="896112"/>
          </a:xfrm>
          <a:prstGeom prst="rect">
            <a:avLst/>
          </a:prstGeom>
          <a:noFill/>
        </p:spPr>
        <p:txBody>
          <a:bodyPr wrap="square" anchor="t">
            <a:spAutoFit/>
          </a:bodyPr>
          <a:lstStyle/>
          <a:p>
            <a:pPr algn="ctr">
              <a:defRPr sz="900" b="0" i="0">
                <a:solidFill>
                  <a:srgbClr val="666677"/>
                </a:solidFill>
                <a:latin typeface="Calibri"/>
              </a:defRPr>
            </a:pPr>
            <a:r>
              <a:t>7 trigger monitors</a:t>
            </a:r>
            <a:br/>
            <a:r>
              <a:t>Policy enforcement</a:t>
            </a:r>
            <a:br/>
            <a:r>
              <a:t>Secure wipe exec</a:t>
            </a:r>
          </a:p>
        </p:txBody>
      </p:sp>
      <p:sp>
        <p:nvSpPr>
          <p:cNvPr id="34" name="TextBox 33"/>
          <p:cNvSpPr txBox="1"/>
          <p:nvPr/>
        </p:nvSpPr>
        <p:spPr>
          <a:xfrm>
            <a:off x="3977639" y="3703320"/>
            <a:ext cx="274320" cy="274320"/>
          </a:xfrm>
          <a:prstGeom prst="rect">
            <a:avLst/>
          </a:prstGeom>
          <a:noFill/>
        </p:spPr>
        <p:txBody>
          <a:bodyPr wrap="square" anchor="t">
            <a:spAutoFit/>
          </a:bodyPr>
          <a:lstStyle/>
          <a:p>
            <a:pPr algn="ctr">
              <a:defRPr sz="1800" b="0" i="0">
                <a:solidFill>
                  <a:srgbClr val="9999AA"/>
                </a:solidFill>
                <a:latin typeface="Consolas"/>
              </a:defRPr>
            </a:pPr>
            <a:r>
              <a:t>↔</a:t>
            </a:r>
          </a:p>
        </p:txBody>
      </p:sp>
      <p:sp>
        <p:nvSpPr>
          <p:cNvPr id="35" name="TextBox 34"/>
          <p:cNvSpPr txBox="1"/>
          <p:nvPr/>
        </p:nvSpPr>
        <p:spPr>
          <a:xfrm>
            <a:off x="7772400" y="3703320"/>
            <a:ext cx="274320" cy="274320"/>
          </a:xfrm>
          <a:prstGeom prst="rect">
            <a:avLst/>
          </a:prstGeom>
          <a:noFill/>
        </p:spPr>
        <p:txBody>
          <a:bodyPr wrap="square" anchor="t">
            <a:spAutoFit/>
          </a:bodyPr>
          <a:lstStyle/>
          <a:p>
            <a:pPr algn="ctr">
              <a:defRPr sz="1800" b="0" i="0">
                <a:solidFill>
                  <a:srgbClr val="9999AA"/>
                </a:solidFill>
                <a:latin typeface="Consolas"/>
              </a:defRPr>
            </a:pPr>
            <a:r>
              <a:t>↔</a:t>
            </a:r>
          </a:p>
        </p:txBody>
      </p:sp>
      <p:sp>
        <p:nvSpPr>
          <p:cNvPr id="36" name="TextBox 35"/>
          <p:cNvSpPr txBox="1"/>
          <p:nvPr/>
        </p:nvSpPr>
        <p:spPr>
          <a:xfrm>
            <a:off x="5943600" y="4526280"/>
            <a:ext cx="274320" cy="228600"/>
          </a:xfrm>
          <a:prstGeom prst="rect">
            <a:avLst/>
          </a:prstGeom>
          <a:noFill/>
        </p:spPr>
        <p:txBody>
          <a:bodyPr wrap="square" anchor="ctr">
            <a:spAutoFit/>
          </a:bodyPr>
          <a:lstStyle/>
          <a:p>
            <a:pPr algn="ctr">
              <a:defRPr sz="1600" b="0" i="0">
                <a:solidFill>
                  <a:srgbClr val="1A3C6E"/>
                </a:solidFill>
                <a:latin typeface="Consolas"/>
              </a:defRPr>
            </a:pPr>
            <a:r>
              <a:t>↓</a:t>
            </a:r>
          </a:p>
        </p:txBody>
      </p:sp>
      <p:sp>
        <p:nvSpPr>
          <p:cNvPr id="37" name="Rounded Rectangle 36"/>
          <p:cNvSpPr/>
          <p:nvPr/>
        </p:nvSpPr>
        <p:spPr>
          <a:xfrm>
            <a:off x="1828800" y="4754880"/>
            <a:ext cx="8503920" cy="548640"/>
          </a:xfrm>
          <a:prstGeom prst="roundRect">
            <a:avLst/>
          </a:prstGeom>
          <a:solidFill>
            <a:srgbClr val="FEF3DE"/>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828800" y="4809744"/>
            <a:ext cx="8503920" cy="292608"/>
          </a:xfrm>
          <a:prstGeom prst="rect">
            <a:avLst/>
          </a:prstGeom>
          <a:noFill/>
        </p:spPr>
        <p:txBody>
          <a:bodyPr wrap="square" anchor="t">
            <a:spAutoFit/>
          </a:bodyPr>
          <a:lstStyle/>
          <a:p>
            <a:pPr algn="ctr">
              <a:defRPr sz="1100" b="1" i="0">
                <a:solidFill>
                  <a:srgbClr val="E68A00"/>
                </a:solidFill>
                <a:latin typeface="Consolas"/>
              </a:defRPr>
            </a:pPr>
            <a:r>
              <a:t>ENCRYPTED DISK FILE STORAGE</a:t>
            </a:r>
          </a:p>
        </p:txBody>
      </p:sp>
      <p:sp>
        <p:nvSpPr>
          <p:cNvPr id="39" name="TextBox 38"/>
          <p:cNvSpPr txBox="1"/>
          <p:nvPr/>
        </p:nvSpPr>
        <p:spPr>
          <a:xfrm>
            <a:off x="1874520" y="5102352"/>
            <a:ext cx="8412480" cy="164592"/>
          </a:xfrm>
          <a:prstGeom prst="rect">
            <a:avLst/>
          </a:prstGeom>
          <a:noFill/>
        </p:spPr>
        <p:txBody>
          <a:bodyPr wrap="square" anchor="t">
            <a:spAutoFit/>
          </a:bodyPr>
          <a:lstStyle/>
          <a:p>
            <a:pPr algn="ctr">
              <a:defRPr sz="900" b="0" i="0">
                <a:solidFill>
                  <a:srgbClr val="666677"/>
                </a:solidFill>
                <a:latin typeface="Calibri"/>
              </a:defRPr>
            </a:pPr>
            <a:r>
              <a:t>Encrypted files | Per-file TTL | Read counters | Deadlines | Checksums | Hashed filenames</a:t>
            </a:r>
          </a:p>
        </p:txBody>
      </p:sp>
      <p:sp>
        <p:nvSpPr>
          <p:cNvPr id="40" name="TextBox 39"/>
          <p:cNvSpPr txBox="1"/>
          <p:nvPr/>
        </p:nvSpPr>
        <p:spPr>
          <a:xfrm>
            <a:off x="5943600" y="5303520"/>
            <a:ext cx="274320" cy="228600"/>
          </a:xfrm>
          <a:prstGeom prst="rect">
            <a:avLst/>
          </a:prstGeom>
          <a:noFill/>
        </p:spPr>
        <p:txBody>
          <a:bodyPr wrap="square" anchor="ctr">
            <a:spAutoFit/>
          </a:bodyPr>
          <a:lstStyle/>
          <a:p>
            <a:pPr algn="ctr">
              <a:defRPr sz="1600" b="0" i="0">
                <a:solidFill>
                  <a:srgbClr val="1A3C6E"/>
                </a:solidFill>
                <a:latin typeface="Consolas"/>
              </a:defRPr>
            </a:pPr>
            <a:r>
              <a:t>↓</a:t>
            </a:r>
          </a:p>
        </p:txBody>
      </p:sp>
      <p:sp>
        <p:nvSpPr>
          <p:cNvPr id="41" name="Rounded Rectangle 40"/>
          <p:cNvSpPr/>
          <p:nvPr/>
        </p:nvSpPr>
        <p:spPr>
          <a:xfrm>
            <a:off x="640080" y="5577840"/>
            <a:ext cx="2560320" cy="457200"/>
          </a:xfrm>
          <a:prstGeom prst="roundRect">
            <a:avLst/>
          </a:prstGeom>
          <a:solidFill>
            <a:srgbClr val="E3EFFA"/>
          </a:solidFill>
          <a:ln w="12700">
            <a:solidFill>
              <a:srgbClr val="008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577840"/>
            <a:ext cx="2560320" cy="457200"/>
          </a:xfrm>
          <a:prstGeom prst="rect">
            <a:avLst/>
          </a:prstGeom>
          <a:noFill/>
        </p:spPr>
        <p:txBody>
          <a:bodyPr wrap="square" anchor="ctr">
            <a:spAutoFit/>
          </a:bodyPr>
          <a:lstStyle/>
          <a:p>
            <a:pPr algn="ctr">
              <a:defRPr sz="900" b="1" i="0">
                <a:solidFill>
                  <a:srgbClr val="008ED6"/>
                </a:solidFill>
                <a:latin typeface="Consolas"/>
              </a:defRPr>
            </a:pPr>
            <a:r>
              <a:t>CONTAINER I/O</a:t>
            </a:r>
          </a:p>
        </p:txBody>
      </p:sp>
      <p:sp>
        <p:nvSpPr>
          <p:cNvPr id="43" name="Rounded Rectangle 42"/>
          <p:cNvSpPr/>
          <p:nvPr/>
        </p:nvSpPr>
        <p:spPr>
          <a:xfrm>
            <a:off x="3520439" y="5577840"/>
            <a:ext cx="2560320" cy="457200"/>
          </a:xfrm>
          <a:prstGeom prst="roundRect">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520439" y="5577840"/>
            <a:ext cx="2560320" cy="457200"/>
          </a:xfrm>
          <a:prstGeom prst="rect">
            <a:avLst/>
          </a:prstGeom>
          <a:noFill/>
        </p:spPr>
        <p:txBody>
          <a:bodyPr wrap="square" anchor="ctr">
            <a:spAutoFit/>
          </a:bodyPr>
          <a:lstStyle/>
          <a:p>
            <a:pPr algn="ctr">
              <a:defRPr sz="900" b="1" i="0">
                <a:solidFill>
                  <a:srgbClr val="1B9E5E"/>
                </a:solidFill>
                <a:latin typeface="Consolas"/>
              </a:defRPr>
            </a:pPr>
            <a:r>
              <a:t>INTEGRITY CHECK</a:t>
            </a:r>
          </a:p>
        </p:txBody>
      </p:sp>
      <p:sp>
        <p:nvSpPr>
          <p:cNvPr id="45" name="Rounded Rectangle 44"/>
          <p:cNvSpPr/>
          <p:nvPr/>
        </p:nvSpPr>
        <p:spPr>
          <a:xfrm>
            <a:off x="6400800" y="5577840"/>
            <a:ext cx="2560320" cy="457200"/>
          </a:xfrm>
          <a:prstGeom prst="roundRect">
            <a:avLst/>
          </a:prstGeom>
          <a:solidFill>
            <a:srgbClr val="FEF3DE"/>
          </a:solidFill>
          <a:ln w="1270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5577840"/>
            <a:ext cx="2560320" cy="457200"/>
          </a:xfrm>
          <a:prstGeom prst="rect">
            <a:avLst/>
          </a:prstGeom>
          <a:noFill/>
        </p:spPr>
        <p:txBody>
          <a:bodyPr wrap="square" anchor="ctr">
            <a:spAutoFit/>
          </a:bodyPr>
          <a:lstStyle/>
          <a:p>
            <a:pPr algn="ctr">
              <a:defRPr sz="900" b="1" i="0">
                <a:solidFill>
                  <a:srgbClr val="E68A00"/>
                </a:solidFill>
                <a:latin typeface="Consolas"/>
              </a:defRPr>
            </a:pPr>
            <a:r>
              <a:t>AUDIT LOGGER</a:t>
            </a:r>
          </a:p>
        </p:txBody>
      </p:sp>
      <p:sp>
        <p:nvSpPr>
          <p:cNvPr id="47" name="Rounded Rectangle 46"/>
          <p:cNvSpPr/>
          <p:nvPr/>
        </p:nvSpPr>
        <p:spPr>
          <a:xfrm>
            <a:off x="9281159" y="5577840"/>
            <a:ext cx="2560320" cy="457200"/>
          </a:xfrm>
          <a:prstGeom prst="roundRect">
            <a:avLst/>
          </a:prstGeom>
          <a:solidFill>
            <a:srgbClr val="EDE5FC"/>
          </a:solidFill>
          <a:ln w="12700">
            <a:solidFill>
              <a:srgbClr val="6C4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81159" y="5577840"/>
            <a:ext cx="2560320" cy="457200"/>
          </a:xfrm>
          <a:prstGeom prst="rect">
            <a:avLst/>
          </a:prstGeom>
          <a:noFill/>
        </p:spPr>
        <p:txBody>
          <a:bodyPr wrap="square" anchor="ctr">
            <a:spAutoFit/>
          </a:bodyPr>
          <a:lstStyle/>
          <a:p>
            <a:pPr algn="ctr">
              <a:defRPr sz="900" b="1" i="0">
                <a:solidFill>
                  <a:srgbClr val="6C47C0"/>
                </a:solidFill>
                <a:latin typeface="Consolas"/>
              </a:defRPr>
            </a:pPr>
            <a:r>
              <a:t>DISK MANAGER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9</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ENCRYPTION PIPELINE</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How Data is Encrypted and Decrypted</a:t>
            </a:r>
          </a:p>
        </p:txBody>
      </p:sp>
      <p:sp>
        <p:nvSpPr>
          <p:cNvPr id="20" name="TextBox 19"/>
          <p:cNvSpPr txBox="1"/>
          <p:nvPr/>
        </p:nvSpPr>
        <p:spPr>
          <a:xfrm>
            <a:off x="457200" y="2057400"/>
            <a:ext cx="5303520" cy="274320"/>
          </a:xfrm>
          <a:prstGeom prst="rect">
            <a:avLst/>
          </a:prstGeom>
          <a:noFill/>
        </p:spPr>
        <p:txBody>
          <a:bodyPr wrap="square" anchor="t">
            <a:spAutoFit/>
          </a:bodyPr>
          <a:lstStyle/>
          <a:p>
            <a:pPr algn="l">
              <a:defRPr sz="1200" b="1" i="0">
                <a:solidFill>
                  <a:srgbClr val="1A3C6E"/>
                </a:solidFill>
                <a:latin typeface="Consolas"/>
              </a:defRPr>
            </a:pPr>
            <a:r>
              <a:t>WRITE (Encrypt)</a:t>
            </a:r>
          </a:p>
        </p:txBody>
      </p:sp>
      <p:sp>
        <p:nvSpPr>
          <p:cNvPr id="21" name="Rectangle 20"/>
          <p:cNvSpPr/>
          <p:nvPr/>
        </p:nvSpPr>
        <p:spPr>
          <a:xfrm>
            <a:off x="457200" y="2331720"/>
            <a:ext cx="5303520" cy="254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2468880"/>
            <a:ext cx="1463040" cy="411480"/>
          </a:xfrm>
          <a:prstGeom prst="roundRect">
            <a:avLst/>
          </a:prstGeom>
          <a:solidFill>
            <a:srgbClr val="FFFFFF"/>
          </a:solidFill>
          <a:ln w="19050">
            <a:solidFill>
              <a:srgbClr val="6C4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468880"/>
            <a:ext cx="1463040" cy="411480"/>
          </a:xfrm>
          <a:prstGeom prst="rect">
            <a:avLst/>
          </a:prstGeom>
          <a:noFill/>
        </p:spPr>
        <p:txBody>
          <a:bodyPr wrap="square" anchor="ctr">
            <a:spAutoFit/>
          </a:bodyPr>
          <a:lstStyle/>
          <a:p>
            <a:pPr algn="ctr">
              <a:defRPr sz="900" b="1" i="0">
                <a:solidFill>
                  <a:srgbClr val="6C47C0"/>
                </a:solidFill>
                <a:latin typeface="Consolas"/>
              </a:defRPr>
            </a:pPr>
            <a:r>
              <a:t>R OBJECT</a:t>
            </a:r>
          </a:p>
        </p:txBody>
      </p:sp>
      <p:sp>
        <p:nvSpPr>
          <p:cNvPr id="24" name="TextBox 23"/>
          <p:cNvSpPr txBox="1"/>
          <p:nvPr/>
        </p:nvSpPr>
        <p:spPr>
          <a:xfrm>
            <a:off x="2286000" y="2542032"/>
            <a:ext cx="3200400" cy="274320"/>
          </a:xfrm>
          <a:prstGeom prst="rect">
            <a:avLst/>
          </a:prstGeom>
          <a:noFill/>
        </p:spPr>
        <p:txBody>
          <a:bodyPr wrap="square" anchor="t">
            <a:spAutoFit/>
          </a:bodyPr>
          <a:lstStyle/>
          <a:p>
            <a:pPr algn="l">
              <a:defRPr sz="1000" b="0" i="0">
                <a:solidFill>
                  <a:srgbClr val="666677"/>
                </a:solidFill>
                <a:latin typeface="Calibri"/>
              </a:defRPr>
            </a:pPr>
            <a:r>
              <a:t>Any R data type input</a:t>
            </a:r>
          </a:p>
        </p:txBody>
      </p:sp>
      <p:sp>
        <p:nvSpPr>
          <p:cNvPr id="25" name="TextBox 24"/>
          <p:cNvSpPr txBox="1"/>
          <p:nvPr/>
        </p:nvSpPr>
        <p:spPr>
          <a:xfrm>
            <a:off x="1234440" y="286207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26" name="Rounded Rectangle 25"/>
          <p:cNvSpPr/>
          <p:nvPr/>
        </p:nvSpPr>
        <p:spPr>
          <a:xfrm>
            <a:off x="640080" y="3063240"/>
            <a:ext cx="1463040" cy="411480"/>
          </a:xfrm>
          <a:prstGeom prst="roundRect">
            <a:avLst/>
          </a:prstGeom>
          <a:solidFill>
            <a:srgbClr val="FFFFFF"/>
          </a:solidFill>
          <a:ln w="19050">
            <a:solidFill>
              <a:srgbClr val="666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063240"/>
            <a:ext cx="1463040" cy="411480"/>
          </a:xfrm>
          <a:prstGeom prst="rect">
            <a:avLst/>
          </a:prstGeom>
          <a:noFill/>
        </p:spPr>
        <p:txBody>
          <a:bodyPr wrap="square" anchor="ctr">
            <a:spAutoFit/>
          </a:bodyPr>
          <a:lstStyle/>
          <a:p>
            <a:pPr algn="ctr">
              <a:defRPr sz="900" b="1" i="0">
                <a:solidFill>
                  <a:srgbClr val="666677"/>
                </a:solidFill>
                <a:latin typeface="Consolas"/>
              </a:defRPr>
            </a:pPr>
            <a:r>
              <a:t>SERIALIZE</a:t>
            </a:r>
          </a:p>
        </p:txBody>
      </p:sp>
      <p:sp>
        <p:nvSpPr>
          <p:cNvPr id="28" name="TextBox 27"/>
          <p:cNvSpPr txBox="1"/>
          <p:nvPr/>
        </p:nvSpPr>
        <p:spPr>
          <a:xfrm>
            <a:off x="2286000" y="3136392"/>
            <a:ext cx="3200400" cy="274320"/>
          </a:xfrm>
          <a:prstGeom prst="rect">
            <a:avLst/>
          </a:prstGeom>
          <a:noFill/>
        </p:spPr>
        <p:txBody>
          <a:bodyPr wrap="square" anchor="t">
            <a:spAutoFit/>
          </a:bodyPr>
          <a:lstStyle/>
          <a:p>
            <a:pPr algn="l">
              <a:defRPr sz="1000" b="0" i="0">
                <a:solidFill>
                  <a:srgbClr val="666677"/>
                </a:solidFill>
                <a:latin typeface="Calibri"/>
              </a:defRPr>
            </a:pPr>
            <a:r>
              <a:t>Convert to raw bytes</a:t>
            </a:r>
          </a:p>
        </p:txBody>
      </p:sp>
      <p:sp>
        <p:nvSpPr>
          <p:cNvPr id="29" name="TextBox 28"/>
          <p:cNvSpPr txBox="1"/>
          <p:nvPr/>
        </p:nvSpPr>
        <p:spPr>
          <a:xfrm>
            <a:off x="1234440" y="345643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30" name="Rounded Rectangle 29"/>
          <p:cNvSpPr/>
          <p:nvPr/>
        </p:nvSpPr>
        <p:spPr>
          <a:xfrm>
            <a:off x="640080" y="3657600"/>
            <a:ext cx="1463040" cy="411480"/>
          </a:xfrm>
          <a:prstGeom prst="roundRect">
            <a:avLst/>
          </a:prstGeom>
          <a:solidFill>
            <a:srgbClr val="FFFFFF"/>
          </a:solidFill>
          <a:ln w="1905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3657600"/>
            <a:ext cx="1463040" cy="411480"/>
          </a:xfrm>
          <a:prstGeom prst="rect">
            <a:avLst/>
          </a:prstGeom>
          <a:noFill/>
        </p:spPr>
        <p:txBody>
          <a:bodyPr wrap="square" anchor="ctr">
            <a:spAutoFit/>
          </a:bodyPr>
          <a:lstStyle/>
          <a:p>
            <a:pPr algn="ctr">
              <a:defRPr sz="900" b="1" i="0">
                <a:solidFill>
                  <a:srgbClr val="1B9E5E"/>
                </a:solidFill>
                <a:latin typeface="Consolas"/>
              </a:defRPr>
            </a:pPr>
            <a:r>
              <a:t>SHA-256</a:t>
            </a:r>
          </a:p>
        </p:txBody>
      </p:sp>
      <p:sp>
        <p:nvSpPr>
          <p:cNvPr id="32" name="TextBox 31"/>
          <p:cNvSpPr txBox="1"/>
          <p:nvPr/>
        </p:nvSpPr>
        <p:spPr>
          <a:xfrm>
            <a:off x="2286000" y="3730752"/>
            <a:ext cx="3200400" cy="274320"/>
          </a:xfrm>
          <a:prstGeom prst="rect">
            <a:avLst/>
          </a:prstGeom>
          <a:noFill/>
        </p:spPr>
        <p:txBody>
          <a:bodyPr wrap="square" anchor="t">
            <a:spAutoFit/>
          </a:bodyPr>
          <a:lstStyle/>
          <a:p>
            <a:pPr algn="l">
              <a:defRPr sz="1000" b="0" i="0">
                <a:solidFill>
                  <a:srgbClr val="666677"/>
                </a:solidFill>
                <a:latin typeface="Calibri"/>
              </a:defRPr>
            </a:pPr>
            <a:r>
              <a:t>Compute integrity hash</a:t>
            </a:r>
          </a:p>
        </p:txBody>
      </p:sp>
      <p:sp>
        <p:nvSpPr>
          <p:cNvPr id="33" name="TextBox 32"/>
          <p:cNvSpPr txBox="1"/>
          <p:nvPr/>
        </p:nvSpPr>
        <p:spPr>
          <a:xfrm>
            <a:off x="1234440" y="405079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34" name="Rounded Rectangle 33"/>
          <p:cNvSpPr/>
          <p:nvPr/>
        </p:nvSpPr>
        <p:spPr>
          <a:xfrm>
            <a:off x="640080" y="4251960"/>
            <a:ext cx="1463040" cy="411480"/>
          </a:xfrm>
          <a:prstGeom prst="roundRect">
            <a:avLst/>
          </a:prstGeom>
          <a:solidFill>
            <a:srgbClr val="FFFFFF"/>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4251960"/>
            <a:ext cx="1463040" cy="411480"/>
          </a:xfrm>
          <a:prstGeom prst="rect">
            <a:avLst/>
          </a:prstGeom>
          <a:noFill/>
        </p:spPr>
        <p:txBody>
          <a:bodyPr wrap="square" anchor="ctr">
            <a:spAutoFit/>
          </a:bodyPr>
          <a:lstStyle/>
          <a:p>
            <a:pPr algn="ctr">
              <a:defRPr sz="900" b="1" i="0">
                <a:solidFill>
                  <a:srgbClr val="E68A00"/>
                </a:solidFill>
                <a:latin typeface="Consolas"/>
              </a:defRPr>
            </a:pPr>
            <a:r>
              <a:t>GENERATE IV</a:t>
            </a:r>
          </a:p>
        </p:txBody>
      </p:sp>
      <p:sp>
        <p:nvSpPr>
          <p:cNvPr id="36" name="TextBox 35"/>
          <p:cNvSpPr txBox="1"/>
          <p:nvPr/>
        </p:nvSpPr>
        <p:spPr>
          <a:xfrm>
            <a:off x="2286000" y="4325112"/>
            <a:ext cx="3200400" cy="274320"/>
          </a:xfrm>
          <a:prstGeom prst="rect">
            <a:avLst/>
          </a:prstGeom>
          <a:noFill/>
        </p:spPr>
        <p:txBody>
          <a:bodyPr wrap="square" anchor="t">
            <a:spAutoFit/>
          </a:bodyPr>
          <a:lstStyle/>
          <a:p>
            <a:pPr algn="l">
              <a:defRPr sz="1000" b="0" i="0">
                <a:solidFill>
                  <a:srgbClr val="666677"/>
                </a:solidFill>
                <a:latin typeface="Calibri"/>
              </a:defRPr>
            </a:pPr>
            <a:r>
              <a:t>Unique 16-byte IV per file per write</a:t>
            </a:r>
          </a:p>
        </p:txBody>
      </p:sp>
      <p:sp>
        <p:nvSpPr>
          <p:cNvPr id="37" name="TextBox 36"/>
          <p:cNvSpPr txBox="1"/>
          <p:nvPr/>
        </p:nvSpPr>
        <p:spPr>
          <a:xfrm>
            <a:off x="1234440" y="464515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38" name="Rounded Rectangle 37"/>
          <p:cNvSpPr/>
          <p:nvPr/>
        </p:nvSpPr>
        <p:spPr>
          <a:xfrm>
            <a:off x="640080" y="4846320"/>
            <a:ext cx="1463040" cy="411480"/>
          </a:xfrm>
          <a:prstGeom prst="roundRect">
            <a:avLst/>
          </a:prstGeom>
          <a:solidFill>
            <a:srgbClr val="FFFFFF"/>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846320"/>
            <a:ext cx="1463040" cy="411480"/>
          </a:xfrm>
          <a:prstGeom prst="rect">
            <a:avLst/>
          </a:prstGeom>
          <a:noFill/>
        </p:spPr>
        <p:txBody>
          <a:bodyPr wrap="square" anchor="ctr">
            <a:spAutoFit/>
          </a:bodyPr>
          <a:lstStyle/>
          <a:p>
            <a:pPr algn="ctr">
              <a:defRPr sz="900" b="1" i="0">
                <a:solidFill>
                  <a:srgbClr val="1A3C6E"/>
                </a:solidFill>
                <a:latin typeface="Consolas"/>
              </a:defRPr>
            </a:pPr>
            <a:r>
              <a:t>AES-256-CBC</a:t>
            </a:r>
          </a:p>
        </p:txBody>
      </p:sp>
      <p:sp>
        <p:nvSpPr>
          <p:cNvPr id="40" name="TextBox 39"/>
          <p:cNvSpPr txBox="1"/>
          <p:nvPr/>
        </p:nvSpPr>
        <p:spPr>
          <a:xfrm>
            <a:off x="2286000" y="4919472"/>
            <a:ext cx="3200400" cy="274320"/>
          </a:xfrm>
          <a:prstGeom prst="rect">
            <a:avLst/>
          </a:prstGeom>
          <a:noFill/>
        </p:spPr>
        <p:txBody>
          <a:bodyPr wrap="square" anchor="t">
            <a:spAutoFit/>
          </a:bodyPr>
          <a:lstStyle/>
          <a:p>
            <a:pPr algn="l">
              <a:defRPr sz="1000" b="0" i="0">
                <a:solidFill>
                  <a:srgbClr val="666677"/>
                </a:solidFill>
                <a:latin typeface="Calibri"/>
              </a:defRPr>
            </a:pPr>
            <a:r>
              <a:t>Encrypt with derived key</a:t>
            </a:r>
          </a:p>
        </p:txBody>
      </p:sp>
      <p:sp>
        <p:nvSpPr>
          <p:cNvPr id="41" name="TextBox 40"/>
          <p:cNvSpPr txBox="1"/>
          <p:nvPr/>
        </p:nvSpPr>
        <p:spPr>
          <a:xfrm>
            <a:off x="1234440" y="523951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42" name="Rounded Rectangle 41"/>
          <p:cNvSpPr/>
          <p:nvPr/>
        </p:nvSpPr>
        <p:spPr>
          <a:xfrm>
            <a:off x="640080" y="5440680"/>
            <a:ext cx="1463040" cy="411480"/>
          </a:xfrm>
          <a:prstGeom prst="roundRect">
            <a:avLst/>
          </a:prstGeom>
          <a:solidFill>
            <a:srgbClr val="FFFFFF"/>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5440680"/>
            <a:ext cx="1463040" cy="411480"/>
          </a:xfrm>
          <a:prstGeom prst="rect">
            <a:avLst/>
          </a:prstGeom>
          <a:noFill/>
        </p:spPr>
        <p:txBody>
          <a:bodyPr wrap="square" anchor="ctr">
            <a:spAutoFit/>
          </a:bodyPr>
          <a:lstStyle/>
          <a:p>
            <a:pPr algn="ctr">
              <a:defRPr sz="900" b="1" i="0">
                <a:solidFill>
                  <a:srgbClr val="1A3C6E"/>
                </a:solidFill>
                <a:latin typeface="Consolas"/>
              </a:defRPr>
            </a:pPr>
            <a:r>
              <a:t>STORE TO DISK</a:t>
            </a:r>
          </a:p>
        </p:txBody>
      </p:sp>
      <p:sp>
        <p:nvSpPr>
          <p:cNvPr id="44" name="TextBox 43"/>
          <p:cNvSpPr txBox="1"/>
          <p:nvPr/>
        </p:nvSpPr>
        <p:spPr>
          <a:xfrm>
            <a:off x="2286000" y="5513832"/>
            <a:ext cx="3200400" cy="274320"/>
          </a:xfrm>
          <a:prstGeom prst="rect">
            <a:avLst/>
          </a:prstGeom>
          <a:noFill/>
        </p:spPr>
        <p:txBody>
          <a:bodyPr wrap="square" anchor="t">
            <a:spAutoFit/>
          </a:bodyPr>
          <a:lstStyle/>
          <a:p>
            <a:pPr algn="l">
              <a:defRPr sz="1000" b="0" i="0">
                <a:solidFill>
                  <a:srgbClr val="666677"/>
                </a:solidFill>
                <a:latin typeface="Calibri"/>
              </a:defRPr>
            </a:pPr>
            <a:r>
              <a:t>Save encrypted file + metadata to disk</a:t>
            </a:r>
          </a:p>
        </p:txBody>
      </p:sp>
      <p:sp>
        <p:nvSpPr>
          <p:cNvPr id="45" name="Rectangle 44"/>
          <p:cNvSpPr/>
          <p:nvPr/>
        </p:nvSpPr>
        <p:spPr>
          <a:xfrm>
            <a:off x="5989320" y="2331720"/>
            <a:ext cx="12700" cy="3840480"/>
          </a:xfrm>
          <a:prstGeom prst="rect">
            <a:avLst/>
          </a:prstGeom>
          <a:solidFill>
            <a:srgbClr val="D0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0" y="2057400"/>
            <a:ext cx="5303520" cy="274320"/>
          </a:xfrm>
          <a:prstGeom prst="rect">
            <a:avLst/>
          </a:prstGeom>
          <a:noFill/>
        </p:spPr>
        <p:txBody>
          <a:bodyPr wrap="square" anchor="t">
            <a:spAutoFit/>
          </a:bodyPr>
          <a:lstStyle/>
          <a:p>
            <a:pPr algn="l">
              <a:defRPr sz="1200" b="1" i="0">
                <a:solidFill>
                  <a:srgbClr val="1B9E5E"/>
                </a:solidFill>
                <a:latin typeface="Consolas"/>
              </a:defRPr>
            </a:pPr>
            <a:r>
              <a:t>READ (Decrypt)</a:t>
            </a:r>
          </a:p>
        </p:txBody>
      </p:sp>
      <p:sp>
        <p:nvSpPr>
          <p:cNvPr id="47" name="Rectangle 46"/>
          <p:cNvSpPr/>
          <p:nvPr/>
        </p:nvSpPr>
        <p:spPr>
          <a:xfrm>
            <a:off x="6309360" y="2331720"/>
            <a:ext cx="5303520" cy="25400"/>
          </a:xfrm>
          <a:prstGeom prst="rect">
            <a:avLst/>
          </a:prstGeom>
          <a:solidFill>
            <a:srgbClr val="1B9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492240" y="2468880"/>
            <a:ext cx="1463040" cy="411480"/>
          </a:xfrm>
          <a:prstGeom prst="roundRect">
            <a:avLst/>
          </a:prstGeom>
          <a:solidFill>
            <a:srgbClr val="FFFFFF"/>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92240" y="2468880"/>
            <a:ext cx="1463040" cy="411480"/>
          </a:xfrm>
          <a:prstGeom prst="rect">
            <a:avLst/>
          </a:prstGeom>
          <a:noFill/>
        </p:spPr>
        <p:txBody>
          <a:bodyPr wrap="square" anchor="ctr">
            <a:spAutoFit/>
          </a:bodyPr>
          <a:lstStyle/>
          <a:p>
            <a:pPr algn="ctr">
              <a:defRPr sz="900" b="1" i="0">
                <a:solidFill>
                  <a:srgbClr val="1A3C6E"/>
                </a:solidFill>
                <a:latin typeface="Consolas"/>
              </a:defRPr>
            </a:pPr>
            <a:r>
              <a:t>LOAD FILE</a:t>
            </a:r>
          </a:p>
        </p:txBody>
      </p:sp>
      <p:sp>
        <p:nvSpPr>
          <p:cNvPr id="50" name="TextBox 49"/>
          <p:cNvSpPr txBox="1"/>
          <p:nvPr/>
        </p:nvSpPr>
        <p:spPr>
          <a:xfrm>
            <a:off x="8138160" y="2542032"/>
            <a:ext cx="3200400" cy="274320"/>
          </a:xfrm>
          <a:prstGeom prst="rect">
            <a:avLst/>
          </a:prstGeom>
          <a:noFill/>
        </p:spPr>
        <p:txBody>
          <a:bodyPr wrap="square" anchor="t">
            <a:spAutoFit/>
          </a:bodyPr>
          <a:lstStyle/>
          <a:p>
            <a:pPr algn="l">
              <a:defRPr sz="1000" b="0" i="0">
                <a:solidFill>
                  <a:srgbClr val="666677"/>
                </a:solidFill>
                <a:latin typeface="Calibri"/>
              </a:defRPr>
            </a:pPr>
            <a:r>
              <a:t>Read encrypted file from disk</a:t>
            </a:r>
          </a:p>
        </p:txBody>
      </p:sp>
      <p:sp>
        <p:nvSpPr>
          <p:cNvPr id="51" name="TextBox 50"/>
          <p:cNvSpPr txBox="1"/>
          <p:nvPr/>
        </p:nvSpPr>
        <p:spPr>
          <a:xfrm>
            <a:off x="7086600" y="286207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52" name="Rounded Rectangle 51"/>
          <p:cNvSpPr/>
          <p:nvPr/>
        </p:nvSpPr>
        <p:spPr>
          <a:xfrm>
            <a:off x="6492240" y="3063240"/>
            <a:ext cx="1463040" cy="411480"/>
          </a:xfrm>
          <a:prstGeom prst="roundRect">
            <a:avLst/>
          </a:prstGeom>
          <a:solidFill>
            <a:srgbClr val="FFFFFF"/>
          </a:solidFill>
          <a:ln w="1905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92240" y="3063240"/>
            <a:ext cx="1463040" cy="411480"/>
          </a:xfrm>
          <a:prstGeom prst="rect">
            <a:avLst/>
          </a:prstGeom>
          <a:noFill/>
        </p:spPr>
        <p:txBody>
          <a:bodyPr wrap="square" anchor="ctr">
            <a:spAutoFit/>
          </a:bodyPr>
          <a:lstStyle/>
          <a:p>
            <a:pPr algn="ctr">
              <a:defRPr sz="900" b="1" i="0">
                <a:solidFill>
                  <a:srgbClr val="D41F2C"/>
                </a:solidFill>
                <a:latin typeface="Consolas"/>
              </a:defRPr>
            </a:pPr>
            <a:r>
              <a:t>CHECK TRIGGERS</a:t>
            </a:r>
          </a:p>
        </p:txBody>
      </p:sp>
      <p:sp>
        <p:nvSpPr>
          <p:cNvPr id="54" name="TextBox 53"/>
          <p:cNvSpPr txBox="1"/>
          <p:nvPr/>
        </p:nvSpPr>
        <p:spPr>
          <a:xfrm>
            <a:off x="8138160" y="3136392"/>
            <a:ext cx="3200400" cy="274320"/>
          </a:xfrm>
          <a:prstGeom prst="rect">
            <a:avLst/>
          </a:prstGeom>
          <a:noFill/>
        </p:spPr>
        <p:txBody>
          <a:bodyPr wrap="square" anchor="t">
            <a:spAutoFit/>
          </a:bodyPr>
          <a:lstStyle/>
          <a:p>
            <a:pPr algn="l">
              <a:defRPr sz="1000" b="0" i="0">
                <a:solidFill>
                  <a:srgbClr val="666677"/>
                </a:solidFill>
                <a:latin typeface="Calibri"/>
              </a:defRPr>
            </a:pPr>
            <a:r>
              <a:t>Verify not expired / not exceeded</a:t>
            </a:r>
          </a:p>
        </p:txBody>
      </p:sp>
      <p:sp>
        <p:nvSpPr>
          <p:cNvPr id="55" name="TextBox 54"/>
          <p:cNvSpPr txBox="1"/>
          <p:nvPr/>
        </p:nvSpPr>
        <p:spPr>
          <a:xfrm>
            <a:off x="7086600" y="345643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56" name="Rounded Rectangle 55"/>
          <p:cNvSpPr/>
          <p:nvPr/>
        </p:nvSpPr>
        <p:spPr>
          <a:xfrm>
            <a:off x="6492240" y="3657600"/>
            <a:ext cx="1463040" cy="411480"/>
          </a:xfrm>
          <a:prstGeom prst="roundRect">
            <a:avLst/>
          </a:prstGeom>
          <a:solidFill>
            <a:srgbClr val="FFFFFF"/>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92240" y="3657600"/>
            <a:ext cx="1463040" cy="411480"/>
          </a:xfrm>
          <a:prstGeom prst="rect">
            <a:avLst/>
          </a:prstGeom>
          <a:noFill/>
        </p:spPr>
        <p:txBody>
          <a:bodyPr wrap="square" anchor="ctr">
            <a:spAutoFit/>
          </a:bodyPr>
          <a:lstStyle/>
          <a:p>
            <a:pPr algn="ctr">
              <a:defRPr sz="900" b="1" i="0">
                <a:solidFill>
                  <a:srgbClr val="1A3C6E"/>
                </a:solidFill>
                <a:latin typeface="Consolas"/>
              </a:defRPr>
            </a:pPr>
            <a:r>
              <a:t>AES-256-CBC</a:t>
            </a:r>
          </a:p>
        </p:txBody>
      </p:sp>
      <p:sp>
        <p:nvSpPr>
          <p:cNvPr id="58" name="TextBox 57"/>
          <p:cNvSpPr txBox="1"/>
          <p:nvPr/>
        </p:nvSpPr>
        <p:spPr>
          <a:xfrm>
            <a:off x="8138160" y="3730752"/>
            <a:ext cx="3200400" cy="274320"/>
          </a:xfrm>
          <a:prstGeom prst="rect">
            <a:avLst/>
          </a:prstGeom>
          <a:noFill/>
        </p:spPr>
        <p:txBody>
          <a:bodyPr wrap="square" anchor="t">
            <a:spAutoFit/>
          </a:bodyPr>
          <a:lstStyle/>
          <a:p>
            <a:pPr algn="l">
              <a:defRPr sz="1000" b="0" i="0">
                <a:solidFill>
                  <a:srgbClr val="666677"/>
                </a:solidFill>
                <a:latin typeface="Calibri"/>
              </a:defRPr>
            </a:pPr>
            <a:r>
              <a:t>Decrypt with key + IV</a:t>
            </a:r>
          </a:p>
        </p:txBody>
      </p:sp>
      <p:sp>
        <p:nvSpPr>
          <p:cNvPr id="59" name="TextBox 58"/>
          <p:cNvSpPr txBox="1"/>
          <p:nvPr/>
        </p:nvSpPr>
        <p:spPr>
          <a:xfrm>
            <a:off x="7086600" y="405079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60" name="Rounded Rectangle 59"/>
          <p:cNvSpPr/>
          <p:nvPr/>
        </p:nvSpPr>
        <p:spPr>
          <a:xfrm>
            <a:off x="6492240" y="4251960"/>
            <a:ext cx="1463040" cy="411480"/>
          </a:xfrm>
          <a:prstGeom prst="roundRect">
            <a:avLst/>
          </a:prstGeom>
          <a:solidFill>
            <a:srgbClr val="FFFFFF"/>
          </a:solidFill>
          <a:ln w="1905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92240" y="4251960"/>
            <a:ext cx="1463040" cy="411480"/>
          </a:xfrm>
          <a:prstGeom prst="rect">
            <a:avLst/>
          </a:prstGeom>
          <a:noFill/>
        </p:spPr>
        <p:txBody>
          <a:bodyPr wrap="square" anchor="ctr">
            <a:spAutoFit/>
          </a:bodyPr>
          <a:lstStyle/>
          <a:p>
            <a:pPr algn="ctr">
              <a:defRPr sz="900" b="1" i="0">
                <a:solidFill>
                  <a:srgbClr val="1B9E5E"/>
                </a:solidFill>
                <a:latin typeface="Consolas"/>
              </a:defRPr>
            </a:pPr>
            <a:r>
              <a:t>VERIFY HASH</a:t>
            </a:r>
          </a:p>
        </p:txBody>
      </p:sp>
      <p:sp>
        <p:nvSpPr>
          <p:cNvPr id="62" name="TextBox 61"/>
          <p:cNvSpPr txBox="1"/>
          <p:nvPr/>
        </p:nvSpPr>
        <p:spPr>
          <a:xfrm>
            <a:off x="8138160" y="4325112"/>
            <a:ext cx="3200400" cy="274320"/>
          </a:xfrm>
          <a:prstGeom prst="rect">
            <a:avLst/>
          </a:prstGeom>
          <a:noFill/>
        </p:spPr>
        <p:txBody>
          <a:bodyPr wrap="square" anchor="t">
            <a:spAutoFit/>
          </a:bodyPr>
          <a:lstStyle/>
          <a:p>
            <a:pPr algn="l">
              <a:defRPr sz="1000" b="0" i="0">
                <a:solidFill>
                  <a:srgbClr val="666677"/>
                </a:solidFill>
                <a:latin typeface="Calibri"/>
              </a:defRPr>
            </a:pPr>
            <a:r>
              <a:t>Compare SHA-256 checksum</a:t>
            </a:r>
          </a:p>
        </p:txBody>
      </p:sp>
      <p:sp>
        <p:nvSpPr>
          <p:cNvPr id="63" name="TextBox 62"/>
          <p:cNvSpPr txBox="1"/>
          <p:nvPr/>
        </p:nvSpPr>
        <p:spPr>
          <a:xfrm>
            <a:off x="7086600" y="464515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64" name="Rounded Rectangle 63"/>
          <p:cNvSpPr/>
          <p:nvPr/>
        </p:nvSpPr>
        <p:spPr>
          <a:xfrm>
            <a:off x="6492240" y="4846320"/>
            <a:ext cx="1463040" cy="411480"/>
          </a:xfrm>
          <a:prstGeom prst="roundRect">
            <a:avLst/>
          </a:prstGeom>
          <a:solidFill>
            <a:srgbClr val="FFFFFF"/>
          </a:solidFill>
          <a:ln w="19050">
            <a:solidFill>
              <a:srgbClr val="666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92240" y="4846320"/>
            <a:ext cx="1463040" cy="411480"/>
          </a:xfrm>
          <a:prstGeom prst="rect">
            <a:avLst/>
          </a:prstGeom>
          <a:noFill/>
        </p:spPr>
        <p:txBody>
          <a:bodyPr wrap="square" anchor="ctr">
            <a:spAutoFit/>
          </a:bodyPr>
          <a:lstStyle/>
          <a:p>
            <a:pPr algn="ctr">
              <a:defRPr sz="900" b="1" i="0">
                <a:solidFill>
                  <a:srgbClr val="666677"/>
                </a:solidFill>
                <a:latin typeface="Consolas"/>
              </a:defRPr>
            </a:pPr>
            <a:r>
              <a:t>DESERIALIZE</a:t>
            </a:r>
          </a:p>
        </p:txBody>
      </p:sp>
      <p:sp>
        <p:nvSpPr>
          <p:cNvPr id="66" name="TextBox 65"/>
          <p:cNvSpPr txBox="1"/>
          <p:nvPr/>
        </p:nvSpPr>
        <p:spPr>
          <a:xfrm>
            <a:off x="8138160" y="4919472"/>
            <a:ext cx="3200400" cy="274320"/>
          </a:xfrm>
          <a:prstGeom prst="rect">
            <a:avLst/>
          </a:prstGeom>
          <a:noFill/>
        </p:spPr>
        <p:txBody>
          <a:bodyPr wrap="square" anchor="t">
            <a:spAutoFit/>
          </a:bodyPr>
          <a:lstStyle/>
          <a:p>
            <a:pPr algn="l">
              <a:defRPr sz="1000" b="0" i="0">
                <a:solidFill>
                  <a:srgbClr val="666677"/>
                </a:solidFill>
                <a:latin typeface="Calibri"/>
              </a:defRPr>
            </a:pPr>
            <a:r>
              <a:t>Convert back to R object</a:t>
            </a:r>
          </a:p>
        </p:txBody>
      </p:sp>
      <p:sp>
        <p:nvSpPr>
          <p:cNvPr id="67" name="TextBox 66"/>
          <p:cNvSpPr txBox="1"/>
          <p:nvPr/>
        </p:nvSpPr>
        <p:spPr>
          <a:xfrm>
            <a:off x="7086600" y="5239512"/>
            <a:ext cx="274320" cy="22860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68" name="Rounded Rectangle 67"/>
          <p:cNvSpPr/>
          <p:nvPr/>
        </p:nvSpPr>
        <p:spPr>
          <a:xfrm>
            <a:off x="6492240" y="5440680"/>
            <a:ext cx="1463040" cy="411480"/>
          </a:xfrm>
          <a:prstGeom prst="roundRect">
            <a:avLst/>
          </a:prstGeom>
          <a:solidFill>
            <a:srgbClr val="FFFFFF"/>
          </a:solidFill>
          <a:ln w="19050">
            <a:solidFill>
              <a:srgbClr val="6C4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92240" y="5440680"/>
            <a:ext cx="1463040" cy="411480"/>
          </a:xfrm>
          <a:prstGeom prst="rect">
            <a:avLst/>
          </a:prstGeom>
          <a:noFill/>
        </p:spPr>
        <p:txBody>
          <a:bodyPr wrap="square" anchor="ctr">
            <a:spAutoFit/>
          </a:bodyPr>
          <a:lstStyle/>
          <a:p>
            <a:pPr algn="ctr">
              <a:defRPr sz="900" b="1" i="0">
                <a:solidFill>
                  <a:srgbClr val="6C47C0"/>
                </a:solidFill>
                <a:latin typeface="Consolas"/>
              </a:defRPr>
            </a:pPr>
            <a:r>
              <a:t>RETURN</a:t>
            </a:r>
          </a:p>
        </p:txBody>
      </p:sp>
      <p:sp>
        <p:nvSpPr>
          <p:cNvPr id="70" name="TextBox 69"/>
          <p:cNvSpPr txBox="1"/>
          <p:nvPr/>
        </p:nvSpPr>
        <p:spPr>
          <a:xfrm>
            <a:off x="8138160" y="5513832"/>
            <a:ext cx="3200400" cy="274320"/>
          </a:xfrm>
          <a:prstGeom prst="rect">
            <a:avLst/>
          </a:prstGeom>
          <a:noFill/>
        </p:spPr>
        <p:txBody>
          <a:bodyPr wrap="square" anchor="t">
            <a:spAutoFit/>
          </a:bodyPr>
          <a:lstStyle/>
          <a:p>
            <a:pPr algn="l">
              <a:defRPr sz="1000" b="0" i="0">
                <a:solidFill>
                  <a:srgbClr val="666677"/>
                </a:solidFill>
                <a:latin typeface="Calibri"/>
              </a:defRPr>
            </a:pPr>
            <a:r>
              <a:t>Deliver original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10</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7 SELF-DESTRUCT TRIGGERS</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Automated Destruction Mechanisms</a:t>
            </a:r>
          </a:p>
        </p:txBody>
      </p:sp>
      <p:sp>
        <p:nvSpPr>
          <p:cNvPr id="20" name="Rounded Rectangle 19"/>
          <p:cNvSpPr/>
          <p:nvPr/>
        </p:nvSpPr>
        <p:spPr>
          <a:xfrm>
            <a:off x="457200" y="1920240"/>
            <a:ext cx="11247120" cy="274320"/>
          </a:xfrm>
          <a:prstGeom prst="roundRect">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1920240"/>
            <a:ext cx="10881360" cy="274320"/>
          </a:xfrm>
          <a:prstGeom prst="rect">
            <a:avLst/>
          </a:prstGeom>
          <a:noFill/>
        </p:spPr>
        <p:txBody>
          <a:bodyPr wrap="square" anchor="ctr">
            <a:spAutoFit/>
          </a:bodyPr>
          <a:lstStyle/>
          <a:p>
            <a:pPr algn="ctr">
              <a:defRPr sz="900" b="1" i="0">
                <a:solidFill>
                  <a:srgbClr val="D41F2C"/>
                </a:solidFill>
                <a:latin typeface="Consolas"/>
              </a:defRPr>
            </a:pPr>
            <a:r>
              <a:t>Any single trigger firing causes an immediate, irrecoverable secure wipe of the affected data.</a:t>
            </a:r>
          </a:p>
        </p:txBody>
      </p:sp>
      <p:sp>
        <p:nvSpPr>
          <p:cNvPr id="22" name="Rounded Rectangle 21"/>
          <p:cNvSpPr/>
          <p:nvPr/>
        </p:nvSpPr>
        <p:spPr>
          <a:xfrm>
            <a:off x="457200" y="2331720"/>
            <a:ext cx="5440680" cy="868680"/>
          </a:xfrm>
          <a:prstGeom prst="roundRect">
            <a:avLst/>
          </a:prstGeom>
          <a:solidFill>
            <a:srgbClr val="F0F2F7"/>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48640" y="2404872"/>
            <a:ext cx="320040" cy="32004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404872"/>
            <a:ext cx="320040" cy="320040"/>
          </a:xfrm>
          <a:prstGeom prst="rect">
            <a:avLst/>
          </a:prstGeom>
          <a:noFill/>
        </p:spPr>
        <p:txBody>
          <a:bodyPr wrap="square" anchor="ctr">
            <a:spAutoFit/>
          </a:bodyPr>
          <a:lstStyle/>
          <a:p>
            <a:pPr algn="ctr">
              <a:defRPr sz="1400" b="1" i="0">
                <a:solidFill>
                  <a:srgbClr val="FFFFFF"/>
                </a:solidFill>
                <a:latin typeface="Consolas"/>
              </a:defRPr>
            </a:pPr>
            <a:r>
              <a:t>01</a:t>
            </a:r>
          </a:p>
        </p:txBody>
      </p:sp>
      <p:sp>
        <p:nvSpPr>
          <p:cNvPr id="25" name="TextBox 24"/>
          <p:cNvSpPr txBox="1"/>
          <p:nvPr/>
        </p:nvSpPr>
        <p:spPr>
          <a:xfrm>
            <a:off x="960120" y="2377440"/>
            <a:ext cx="4754880" cy="228600"/>
          </a:xfrm>
          <a:prstGeom prst="rect">
            <a:avLst/>
          </a:prstGeom>
          <a:noFill/>
        </p:spPr>
        <p:txBody>
          <a:bodyPr wrap="square" anchor="t">
            <a:spAutoFit/>
          </a:bodyPr>
          <a:lstStyle/>
          <a:p>
            <a:pPr algn="l">
              <a:defRPr sz="1200" b="1" i="0">
                <a:solidFill>
                  <a:srgbClr val="1A1A2E"/>
                </a:solidFill>
                <a:latin typeface="Calibri"/>
              </a:defRPr>
            </a:pPr>
            <a:r>
              <a:t>Per-File TTL</a:t>
            </a:r>
          </a:p>
        </p:txBody>
      </p:sp>
      <p:sp>
        <p:nvSpPr>
          <p:cNvPr id="26" name="TextBox 25"/>
          <p:cNvSpPr txBox="1"/>
          <p:nvPr/>
        </p:nvSpPr>
        <p:spPr>
          <a:xfrm>
            <a:off x="960120" y="2587752"/>
            <a:ext cx="4754880" cy="182880"/>
          </a:xfrm>
          <a:prstGeom prst="rect">
            <a:avLst/>
          </a:prstGeom>
          <a:noFill/>
        </p:spPr>
        <p:txBody>
          <a:bodyPr wrap="square" anchor="t">
            <a:spAutoFit/>
          </a:bodyPr>
          <a:lstStyle/>
          <a:p>
            <a:pPr algn="l">
              <a:defRPr sz="900" b="0" i="0">
                <a:solidFill>
                  <a:srgbClr val="666677"/>
                </a:solidFill>
                <a:latin typeface="Calibri"/>
              </a:defRPr>
            </a:pPr>
            <a:r>
              <a:t>Fires when: File age exceeds configured lifetime</a:t>
            </a:r>
          </a:p>
        </p:txBody>
      </p:sp>
      <p:sp>
        <p:nvSpPr>
          <p:cNvPr id="27" name="TextBox 26"/>
          <p:cNvSpPr txBox="1"/>
          <p:nvPr/>
        </p:nvSpPr>
        <p:spPr>
          <a:xfrm>
            <a:off x="960120" y="2770632"/>
            <a:ext cx="4754880" cy="182880"/>
          </a:xfrm>
          <a:prstGeom prst="rect">
            <a:avLst/>
          </a:prstGeom>
          <a:noFill/>
        </p:spPr>
        <p:txBody>
          <a:bodyPr wrap="square" anchor="t">
            <a:spAutoFit/>
          </a:bodyPr>
          <a:lstStyle/>
          <a:p>
            <a:pPr algn="l">
              <a:defRPr sz="800" b="0" i="0">
                <a:solidFill>
                  <a:srgbClr val="9999AA"/>
                </a:solidFill>
                <a:latin typeface="Calibri"/>
              </a:defRPr>
            </a:pPr>
            <a:r>
              <a:t>Time-to-live expiry per file</a:t>
            </a:r>
          </a:p>
        </p:txBody>
      </p:sp>
      <p:sp>
        <p:nvSpPr>
          <p:cNvPr id="28" name="TextBox 27"/>
          <p:cNvSpPr txBox="1"/>
          <p:nvPr/>
        </p:nvSpPr>
        <p:spPr>
          <a:xfrm>
            <a:off x="960120" y="2953512"/>
            <a:ext cx="4754880" cy="182880"/>
          </a:xfrm>
          <a:prstGeom prst="rect">
            <a:avLst/>
          </a:prstGeom>
          <a:noFill/>
        </p:spPr>
        <p:txBody>
          <a:bodyPr wrap="square" anchor="t">
            <a:spAutoFit/>
          </a:bodyPr>
          <a:lstStyle/>
          <a:p>
            <a:pPr algn="l">
              <a:defRPr sz="800" b="0" i="1">
                <a:solidFill>
                  <a:srgbClr val="E68A00"/>
                </a:solidFill>
                <a:latin typeface="Calibri"/>
              </a:defRPr>
            </a:pPr>
            <a:r>
              <a:t>Example: Temp credential expires after 5 min</a:t>
            </a:r>
          </a:p>
        </p:txBody>
      </p:sp>
      <p:sp>
        <p:nvSpPr>
          <p:cNvPr id="29" name="Rounded Rectangle 28"/>
          <p:cNvSpPr/>
          <p:nvPr/>
        </p:nvSpPr>
        <p:spPr>
          <a:xfrm>
            <a:off x="457200" y="3337560"/>
            <a:ext cx="5440680" cy="868680"/>
          </a:xfrm>
          <a:prstGeom prst="roundRect">
            <a:avLst/>
          </a:prstGeom>
          <a:solidFill>
            <a:srgbClr val="F0F2F7"/>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8640" y="3410712"/>
            <a:ext cx="320040" cy="32004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410712"/>
            <a:ext cx="320040" cy="320040"/>
          </a:xfrm>
          <a:prstGeom prst="rect">
            <a:avLst/>
          </a:prstGeom>
          <a:noFill/>
        </p:spPr>
        <p:txBody>
          <a:bodyPr wrap="square" anchor="ctr">
            <a:spAutoFit/>
          </a:bodyPr>
          <a:lstStyle/>
          <a:p>
            <a:pPr algn="ctr">
              <a:defRPr sz="1400" b="1" i="0">
                <a:solidFill>
                  <a:srgbClr val="FFFFFF"/>
                </a:solidFill>
                <a:latin typeface="Consolas"/>
              </a:defRPr>
            </a:pPr>
            <a:r>
              <a:t>02</a:t>
            </a:r>
          </a:p>
        </p:txBody>
      </p:sp>
      <p:sp>
        <p:nvSpPr>
          <p:cNvPr id="32" name="TextBox 31"/>
          <p:cNvSpPr txBox="1"/>
          <p:nvPr/>
        </p:nvSpPr>
        <p:spPr>
          <a:xfrm>
            <a:off x="960120" y="3383280"/>
            <a:ext cx="4754880" cy="228600"/>
          </a:xfrm>
          <a:prstGeom prst="rect">
            <a:avLst/>
          </a:prstGeom>
          <a:noFill/>
        </p:spPr>
        <p:txBody>
          <a:bodyPr wrap="square" anchor="t">
            <a:spAutoFit/>
          </a:bodyPr>
          <a:lstStyle/>
          <a:p>
            <a:pPr algn="l">
              <a:defRPr sz="1200" b="1" i="0">
                <a:solidFill>
                  <a:srgbClr val="1A1A2E"/>
                </a:solidFill>
                <a:latin typeface="Calibri"/>
              </a:defRPr>
            </a:pPr>
            <a:r>
              <a:t>Read Limit</a:t>
            </a:r>
          </a:p>
        </p:txBody>
      </p:sp>
      <p:sp>
        <p:nvSpPr>
          <p:cNvPr id="33" name="TextBox 32"/>
          <p:cNvSpPr txBox="1"/>
          <p:nvPr/>
        </p:nvSpPr>
        <p:spPr>
          <a:xfrm>
            <a:off x="960120" y="3593592"/>
            <a:ext cx="4754880" cy="182880"/>
          </a:xfrm>
          <a:prstGeom prst="rect">
            <a:avLst/>
          </a:prstGeom>
          <a:noFill/>
        </p:spPr>
        <p:txBody>
          <a:bodyPr wrap="square" anchor="t">
            <a:spAutoFit/>
          </a:bodyPr>
          <a:lstStyle/>
          <a:p>
            <a:pPr algn="l">
              <a:defRPr sz="900" b="0" i="0">
                <a:solidFill>
                  <a:srgbClr val="666677"/>
                </a:solidFill>
                <a:latin typeface="Calibri"/>
              </a:defRPr>
            </a:pPr>
            <a:r>
              <a:t>Fires when: File has been read N times</a:t>
            </a:r>
          </a:p>
        </p:txBody>
      </p:sp>
      <p:sp>
        <p:nvSpPr>
          <p:cNvPr id="34" name="TextBox 33"/>
          <p:cNvSpPr txBox="1"/>
          <p:nvPr/>
        </p:nvSpPr>
        <p:spPr>
          <a:xfrm>
            <a:off x="960120" y="3776472"/>
            <a:ext cx="4754880" cy="182880"/>
          </a:xfrm>
          <a:prstGeom prst="rect">
            <a:avLst/>
          </a:prstGeom>
          <a:noFill/>
        </p:spPr>
        <p:txBody>
          <a:bodyPr wrap="square" anchor="t">
            <a:spAutoFit/>
          </a:bodyPr>
          <a:lstStyle/>
          <a:p>
            <a:pPr algn="l">
              <a:defRPr sz="800" b="0" i="0">
                <a:solidFill>
                  <a:srgbClr val="9999AA"/>
                </a:solidFill>
                <a:latin typeface="Calibri"/>
              </a:defRPr>
            </a:pPr>
            <a:r>
              <a:t>Maximum read count limit</a:t>
            </a:r>
          </a:p>
        </p:txBody>
      </p:sp>
      <p:sp>
        <p:nvSpPr>
          <p:cNvPr id="35" name="TextBox 34"/>
          <p:cNvSpPr txBox="1"/>
          <p:nvPr/>
        </p:nvSpPr>
        <p:spPr>
          <a:xfrm>
            <a:off x="960120" y="3959352"/>
            <a:ext cx="4754880" cy="182880"/>
          </a:xfrm>
          <a:prstGeom prst="rect">
            <a:avLst/>
          </a:prstGeom>
          <a:noFill/>
        </p:spPr>
        <p:txBody>
          <a:bodyPr wrap="square" anchor="t">
            <a:spAutoFit/>
          </a:bodyPr>
          <a:lstStyle/>
          <a:p>
            <a:pPr algn="l">
              <a:defRPr sz="800" b="0" i="1">
                <a:solidFill>
                  <a:srgbClr val="E68A00"/>
                </a:solidFill>
                <a:latin typeface="Calibri"/>
              </a:defRPr>
            </a:pPr>
            <a:r>
              <a:t>Example: One-time password self-destructs after use</a:t>
            </a:r>
          </a:p>
        </p:txBody>
      </p:sp>
      <p:sp>
        <p:nvSpPr>
          <p:cNvPr id="36" name="Rounded Rectangle 35"/>
          <p:cNvSpPr/>
          <p:nvPr/>
        </p:nvSpPr>
        <p:spPr>
          <a:xfrm>
            <a:off x="457200" y="4343400"/>
            <a:ext cx="5440680" cy="868680"/>
          </a:xfrm>
          <a:prstGeom prst="roundRect">
            <a:avLst/>
          </a:prstGeom>
          <a:solidFill>
            <a:srgbClr val="F0F2F7"/>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48640" y="4416552"/>
            <a:ext cx="320040" cy="32004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4416552"/>
            <a:ext cx="320040" cy="320040"/>
          </a:xfrm>
          <a:prstGeom prst="rect">
            <a:avLst/>
          </a:prstGeom>
          <a:noFill/>
        </p:spPr>
        <p:txBody>
          <a:bodyPr wrap="square" anchor="ctr">
            <a:spAutoFit/>
          </a:bodyPr>
          <a:lstStyle/>
          <a:p>
            <a:pPr algn="ctr">
              <a:defRPr sz="1400" b="1" i="0">
                <a:solidFill>
                  <a:srgbClr val="FFFFFF"/>
                </a:solidFill>
                <a:latin typeface="Consolas"/>
              </a:defRPr>
            </a:pPr>
            <a:r>
              <a:t>03</a:t>
            </a:r>
          </a:p>
        </p:txBody>
      </p:sp>
      <p:sp>
        <p:nvSpPr>
          <p:cNvPr id="39" name="TextBox 38"/>
          <p:cNvSpPr txBox="1"/>
          <p:nvPr/>
        </p:nvSpPr>
        <p:spPr>
          <a:xfrm>
            <a:off x="960120" y="4389120"/>
            <a:ext cx="4754880" cy="228600"/>
          </a:xfrm>
          <a:prstGeom prst="rect">
            <a:avLst/>
          </a:prstGeom>
          <a:noFill/>
        </p:spPr>
        <p:txBody>
          <a:bodyPr wrap="square" anchor="t">
            <a:spAutoFit/>
          </a:bodyPr>
          <a:lstStyle/>
          <a:p>
            <a:pPr algn="l">
              <a:defRPr sz="1200" b="1" i="0">
                <a:solidFill>
                  <a:srgbClr val="1A1A2E"/>
                </a:solidFill>
                <a:latin typeface="Calibri"/>
              </a:defRPr>
            </a:pPr>
            <a:r>
              <a:t>Date Deadline</a:t>
            </a:r>
          </a:p>
        </p:txBody>
      </p:sp>
      <p:sp>
        <p:nvSpPr>
          <p:cNvPr id="40" name="TextBox 39"/>
          <p:cNvSpPr txBox="1"/>
          <p:nvPr/>
        </p:nvSpPr>
        <p:spPr>
          <a:xfrm>
            <a:off x="960120" y="4599432"/>
            <a:ext cx="4754880" cy="182880"/>
          </a:xfrm>
          <a:prstGeom prst="rect">
            <a:avLst/>
          </a:prstGeom>
          <a:noFill/>
        </p:spPr>
        <p:txBody>
          <a:bodyPr wrap="square" anchor="t">
            <a:spAutoFit/>
          </a:bodyPr>
          <a:lstStyle/>
          <a:p>
            <a:pPr algn="l">
              <a:defRPr sz="900" b="0" i="0">
                <a:solidFill>
                  <a:srgbClr val="666677"/>
                </a:solidFill>
                <a:latin typeface="Calibri"/>
              </a:defRPr>
            </a:pPr>
            <a:r>
              <a:t>Fires when: A specific calendar date is reached</a:t>
            </a:r>
          </a:p>
        </p:txBody>
      </p:sp>
      <p:sp>
        <p:nvSpPr>
          <p:cNvPr id="41" name="TextBox 40"/>
          <p:cNvSpPr txBox="1"/>
          <p:nvPr/>
        </p:nvSpPr>
        <p:spPr>
          <a:xfrm>
            <a:off x="960120" y="4782312"/>
            <a:ext cx="4754880" cy="182880"/>
          </a:xfrm>
          <a:prstGeom prst="rect">
            <a:avLst/>
          </a:prstGeom>
          <a:noFill/>
        </p:spPr>
        <p:txBody>
          <a:bodyPr wrap="square" anchor="t">
            <a:spAutoFit/>
          </a:bodyPr>
          <a:lstStyle/>
          <a:p>
            <a:pPr algn="l">
              <a:defRPr sz="800" b="0" i="0">
                <a:solidFill>
                  <a:srgbClr val="9999AA"/>
                </a:solidFill>
                <a:latin typeface="Calibri"/>
              </a:defRPr>
            </a:pPr>
            <a:r>
              <a:t>Absolute date expiration</a:t>
            </a:r>
          </a:p>
        </p:txBody>
      </p:sp>
      <p:sp>
        <p:nvSpPr>
          <p:cNvPr id="42" name="TextBox 41"/>
          <p:cNvSpPr txBox="1"/>
          <p:nvPr/>
        </p:nvSpPr>
        <p:spPr>
          <a:xfrm>
            <a:off x="960120" y="4965192"/>
            <a:ext cx="4754880" cy="182880"/>
          </a:xfrm>
          <a:prstGeom prst="rect">
            <a:avLst/>
          </a:prstGeom>
          <a:noFill/>
        </p:spPr>
        <p:txBody>
          <a:bodyPr wrap="square" anchor="t">
            <a:spAutoFit/>
          </a:bodyPr>
          <a:lstStyle/>
          <a:p>
            <a:pPr algn="l">
              <a:defRPr sz="800" b="0" i="1">
                <a:solidFill>
                  <a:srgbClr val="E68A00"/>
                </a:solidFill>
                <a:latin typeface="Calibri"/>
              </a:defRPr>
            </a:pPr>
            <a:r>
              <a:t>Example: Research data expires at project end</a:t>
            </a:r>
          </a:p>
        </p:txBody>
      </p:sp>
      <p:sp>
        <p:nvSpPr>
          <p:cNvPr id="43" name="Rounded Rectangle 42"/>
          <p:cNvSpPr/>
          <p:nvPr/>
        </p:nvSpPr>
        <p:spPr>
          <a:xfrm>
            <a:off x="457200" y="5349240"/>
            <a:ext cx="5440680" cy="868680"/>
          </a:xfrm>
          <a:prstGeom prst="roundRect">
            <a:avLst/>
          </a:prstGeom>
          <a:solidFill>
            <a:srgbClr val="F0F2F7"/>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48640" y="5422392"/>
            <a:ext cx="320040" cy="32004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5422392"/>
            <a:ext cx="320040" cy="320040"/>
          </a:xfrm>
          <a:prstGeom prst="rect">
            <a:avLst/>
          </a:prstGeom>
          <a:noFill/>
        </p:spPr>
        <p:txBody>
          <a:bodyPr wrap="square" anchor="ctr">
            <a:spAutoFit/>
          </a:bodyPr>
          <a:lstStyle/>
          <a:p>
            <a:pPr algn="ctr">
              <a:defRPr sz="1400" b="1" i="0">
                <a:solidFill>
                  <a:srgbClr val="FFFFFF"/>
                </a:solidFill>
                <a:latin typeface="Consolas"/>
              </a:defRPr>
            </a:pPr>
            <a:r>
              <a:t>04</a:t>
            </a:r>
          </a:p>
        </p:txBody>
      </p:sp>
      <p:sp>
        <p:nvSpPr>
          <p:cNvPr id="46" name="TextBox 45"/>
          <p:cNvSpPr txBox="1"/>
          <p:nvPr/>
        </p:nvSpPr>
        <p:spPr>
          <a:xfrm>
            <a:off x="960120" y="5394960"/>
            <a:ext cx="4754880" cy="228600"/>
          </a:xfrm>
          <a:prstGeom prst="rect">
            <a:avLst/>
          </a:prstGeom>
          <a:noFill/>
        </p:spPr>
        <p:txBody>
          <a:bodyPr wrap="square" anchor="t">
            <a:spAutoFit/>
          </a:bodyPr>
          <a:lstStyle/>
          <a:p>
            <a:pPr algn="l">
              <a:defRPr sz="1200" b="1" i="0">
                <a:solidFill>
                  <a:srgbClr val="1A1A2E"/>
                </a:solidFill>
                <a:latin typeface="Calibri"/>
              </a:defRPr>
            </a:pPr>
            <a:r>
              <a:t>Global TTL</a:t>
            </a:r>
          </a:p>
        </p:txBody>
      </p:sp>
      <p:sp>
        <p:nvSpPr>
          <p:cNvPr id="47" name="TextBox 46"/>
          <p:cNvSpPr txBox="1"/>
          <p:nvPr/>
        </p:nvSpPr>
        <p:spPr>
          <a:xfrm>
            <a:off x="960120" y="5605272"/>
            <a:ext cx="4754880" cy="182880"/>
          </a:xfrm>
          <a:prstGeom prst="rect">
            <a:avLst/>
          </a:prstGeom>
          <a:noFill/>
        </p:spPr>
        <p:txBody>
          <a:bodyPr wrap="square" anchor="t">
            <a:spAutoFit/>
          </a:bodyPr>
          <a:lstStyle/>
          <a:p>
            <a:pPr algn="l">
              <a:defRPr sz="900" b="0" i="0">
                <a:solidFill>
                  <a:srgbClr val="666677"/>
                </a:solidFill>
                <a:latin typeface="Calibri"/>
              </a:defRPr>
            </a:pPr>
            <a:r>
              <a:t>Fires when: The whole container ages out</a:t>
            </a:r>
          </a:p>
        </p:txBody>
      </p:sp>
      <p:sp>
        <p:nvSpPr>
          <p:cNvPr id="48" name="TextBox 47"/>
          <p:cNvSpPr txBox="1"/>
          <p:nvPr/>
        </p:nvSpPr>
        <p:spPr>
          <a:xfrm>
            <a:off x="960120" y="5788152"/>
            <a:ext cx="4754880" cy="182880"/>
          </a:xfrm>
          <a:prstGeom prst="rect">
            <a:avLst/>
          </a:prstGeom>
          <a:noFill/>
        </p:spPr>
        <p:txBody>
          <a:bodyPr wrap="square" anchor="t">
            <a:spAutoFit/>
          </a:bodyPr>
          <a:lstStyle/>
          <a:p>
            <a:pPr algn="l">
              <a:defRPr sz="800" b="0" i="0">
                <a:solidFill>
                  <a:srgbClr val="9999AA"/>
                </a:solidFill>
                <a:latin typeface="Calibri"/>
              </a:defRPr>
            </a:pPr>
            <a:r>
              <a:t>Entire filesystem timeout</a:t>
            </a:r>
          </a:p>
        </p:txBody>
      </p:sp>
      <p:sp>
        <p:nvSpPr>
          <p:cNvPr id="49" name="TextBox 48"/>
          <p:cNvSpPr txBox="1"/>
          <p:nvPr/>
        </p:nvSpPr>
        <p:spPr>
          <a:xfrm>
            <a:off x="960120" y="5971032"/>
            <a:ext cx="4754880" cy="182880"/>
          </a:xfrm>
          <a:prstGeom prst="rect">
            <a:avLst/>
          </a:prstGeom>
          <a:noFill/>
        </p:spPr>
        <p:txBody>
          <a:bodyPr wrap="square" anchor="t">
            <a:spAutoFit/>
          </a:bodyPr>
          <a:lstStyle/>
          <a:p>
            <a:pPr algn="l">
              <a:defRPr sz="800" b="0" i="1">
                <a:solidFill>
                  <a:srgbClr val="E68A00"/>
                </a:solidFill>
                <a:latin typeface="Calibri"/>
              </a:defRPr>
            </a:pPr>
            <a:r>
              <a:t>Example: Session wiped automatically at day's end</a:t>
            </a:r>
          </a:p>
        </p:txBody>
      </p:sp>
      <p:sp>
        <p:nvSpPr>
          <p:cNvPr id="50" name="Rounded Rectangle 49"/>
          <p:cNvSpPr/>
          <p:nvPr/>
        </p:nvSpPr>
        <p:spPr>
          <a:xfrm>
            <a:off x="6263640" y="2331720"/>
            <a:ext cx="5440680" cy="868680"/>
          </a:xfrm>
          <a:prstGeom prst="roundRect">
            <a:avLst/>
          </a:prstGeom>
          <a:solidFill>
            <a:srgbClr val="F0F2F7"/>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355080" y="2404872"/>
            <a:ext cx="320040" cy="32004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55080" y="2404872"/>
            <a:ext cx="320040" cy="320040"/>
          </a:xfrm>
          <a:prstGeom prst="rect">
            <a:avLst/>
          </a:prstGeom>
          <a:noFill/>
        </p:spPr>
        <p:txBody>
          <a:bodyPr wrap="square" anchor="ctr">
            <a:spAutoFit/>
          </a:bodyPr>
          <a:lstStyle/>
          <a:p>
            <a:pPr algn="ctr">
              <a:defRPr sz="1400" b="1" i="0">
                <a:solidFill>
                  <a:srgbClr val="FFFFFF"/>
                </a:solidFill>
                <a:latin typeface="Consolas"/>
              </a:defRPr>
            </a:pPr>
            <a:r>
              <a:t>05</a:t>
            </a:r>
          </a:p>
        </p:txBody>
      </p:sp>
      <p:sp>
        <p:nvSpPr>
          <p:cNvPr id="53" name="TextBox 52"/>
          <p:cNvSpPr txBox="1"/>
          <p:nvPr/>
        </p:nvSpPr>
        <p:spPr>
          <a:xfrm>
            <a:off x="6766560" y="2377440"/>
            <a:ext cx="4754880" cy="228600"/>
          </a:xfrm>
          <a:prstGeom prst="rect">
            <a:avLst/>
          </a:prstGeom>
          <a:noFill/>
        </p:spPr>
        <p:txBody>
          <a:bodyPr wrap="square" anchor="t">
            <a:spAutoFit/>
          </a:bodyPr>
          <a:lstStyle/>
          <a:p>
            <a:pPr algn="l">
              <a:defRPr sz="1200" b="1" i="0">
                <a:solidFill>
                  <a:srgbClr val="1A1A2E"/>
                </a:solidFill>
                <a:latin typeface="Calibri"/>
              </a:defRPr>
            </a:pPr>
            <a:r>
              <a:t>Failed Auth</a:t>
            </a:r>
          </a:p>
        </p:txBody>
      </p:sp>
      <p:sp>
        <p:nvSpPr>
          <p:cNvPr id="54" name="TextBox 53"/>
          <p:cNvSpPr txBox="1"/>
          <p:nvPr/>
        </p:nvSpPr>
        <p:spPr>
          <a:xfrm>
            <a:off x="6766560" y="2587752"/>
            <a:ext cx="4754880" cy="182880"/>
          </a:xfrm>
          <a:prstGeom prst="rect">
            <a:avLst/>
          </a:prstGeom>
          <a:noFill/>
        </p:spPr>
        <p:txBody>
          <a:bodyPr wrap="square" anchor="t">
            <a:spAutoFit/>
          </a:bodyPr>
          <a:lstStyle/>
          <a:p>
            <a:pPr algn="l">
              <a:defRPr sz="900" b="0" i="0">
                <a:solidFill>
                  <a:srgbClr val="666677"/>
                </a:solidFill>
                <a:latin typeface="Calibri"/>
              </a:defRPr>
            </a:pPr>
            <a:r>
              <a:t>Fires when: N consecutive wrong passwords entered</a:t>
            </a:r>
          </a:p>
        </p:txBody>
      </p:sp>
      <p:sp>
        <p:nvSpPr>
          <p:cNvPr id="55" name="TextBox 54"/>
          <p:cNvSpPr txBox="1"/>
          <p:nvPr/>
        </p:nvSpPr>
        <p:spPr>
          <a:xfrm>
            <a:off x="6766560" y="2770632"/>
            <a:ext cx="4754880" cy="182880"/>
          </a:xfrm>
          <a:prstGeom prst="rect">
            <a:avLst/>
          </a:prstGeom>
          <a:noFill/>
        </p:spPr>
        <p:txBody>
          <a:bodyPr wrap="square" anchor="t">
            <a:spAutoFit/>
          </a:bodyPr>
          <a:lstStyle/>
          <a:p>
            <a:pPr algn="l">
              <a:defRPr sz="800" b="0" i="0">
                <a:solidFill>
                  <a:srgbClr val="9999AA"/>
                </a:solidFill>
                <a:latin typeface="Calibri"/>
              </a:defRPr>
            </a:pPr>
            <a:r>
              <a:t>Wrong password threshold</a:t>
            </a:r>
          </a:p>
        </p:txBody>
      </p:sp>
      <p:sp>
        <p:nvSpPr>
          <p:cNvPr id="56" name="TextBox 55"/>
          <p:cNvSpPr txBox="1"/>
          <p:nvPr/>
        </p:nvSpPr>
        <p:spPr>
          <a:xfrm>
            <a:off x="6766560" y="2953512"/>
            <a:ext cx="4754880" cy="182880"/>
          </a:xfrm>
          <a:prstGeom prst="rect">
            <a:avLst/>
          </a:prstGeom>
          <a:noFill/>
        </p:spPr>
        <p:txBody>
          <a:bodyPr wrap="square" anchor="t">
            <a:spAutoFit/>
          </a:bodyPr>
          <a:lstStyle/>
          <a:p>
            <a:pPr algn="l">
              <a:defRPr sz="800" b="0" i="1">
                <a:solidFill>
                  <a:srgbClr val="E68A00"/>
                </a:solidFill>
                <a:latin typeface="Calibri"/>
              </a:defRPr>
            </a:pPr>
            <a:r>
              <a:t>Example: Brute-force attack triggers total wipe</a:t>
            </a:r>
          </a:p>
        </p:txBody>
      </p:sp>
      <p:sp>
        <p:nvSpPr>
          <p:cNvPr id="57" name="Rounded Rectangle 56"/>
          <p:cNvSpPr/>
          <p:nvPr/>
        </p:nvSpPr>
        <p:spPr>
          <a:xfrm>
            <a:off x="6263640" y="3337560"/>
            <a:ext cx="5440680" cy="868680"/>
          </a:xfrm>
          <a:prstGeom prst="roundRect">
            <a:avLst/>
          </a:prstGeom>
          <a:solidFill>
            <a:srgbClr val="F0F2F7"/>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355080" y="3410712"/>
            <a:ext cx="320040" cy="32004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55080" y="3410712"/>
            <a:ext cx="320040" cy="320040"/>
          </a:xfrm>
          <a:prstGeom prst="rect">
            <a:avLst/>
          </a:prstGeom>
          <a:noFill/>
        </p:spPr>
        <p:txBody>
          <a:bodyPr wrap="square" anchor="ctr">
            <a:spAutoFit/>
          </a:bodyPr>
          <a:lstStyle/>
          <a:p>
            <a:pPr algn="ctr">
              <a:defRPr sz="1400" b="1" i="0">
                <a:solidFill>
                  <a:srgbClr val="FFFFFF"/>
                </a:solidFill>
                <a:latin typeface="Consolas"/>
              </a:defRPr>
            </a:pPr>
            <a:r>
              <a:t>06</a:t>
            </a:r>
          </a:p>
        </p:txBody>
      </p:sp>
      <p:sp>
        <p:nvSpPr>
          <p:cNvPr id="60" name="TextBox 59"/>
          <p:cNvSpPr txBox="1"/>
          <p:nvPr/>
        </p:nvSpPr>
        <p:spPr>
          <a:xfrm>
            <a:off x="6766560" y="3383280"/>
            <a:ext cx="4754880" cy="228600"/>
          </a:xfrm>
          <a:prstGeom prst="rect">
            <a:avLst/>
          </a:prstGeom>
          <a:noFill/>
        </p:spPr>
        <p:txBody>
          <a:bodyPr wrap="square" anchor="t">
            <a:spAutoFit/>
          </a:bodyPr>
          <a:lstStyle/>
          <a:p>
            <a:pPr algn="l">
              <a:defRPr sz="1200" b="1" i="0">
                <a:solidFill>
                  <a:srgbClr val="1A1A2E"/>
                </a:solidFill>
                <a:latin typeface="Calibri"/>
              </a:defRPr>
            </a:pPr>
            <a:r>
              <a:t>Duress Password</a:t>
            </a:r>
          </a:p>
        </p:txBody>
      </p:sp>
      <p:sp>
        <p:nvSpPr>
          <p:cNvPr id="61" name="TextBox 60"/>
          <p:cNvSpPr txBox="1"/>
          <p:nvPr/>
        </p:nvSpPr>
        <p:spPr>
          <a:xfrm>
            <a:off x="6766560" y="3593592"/>
            <a:ext cx="4754880" cy="182880"/>
          </a:xfrm>
          <a:prstGeom prst="rect">
            <a:avLst/>
          </a:prstGeom>
          <a:noFill/>
        </p:spPr>
        <p:txBody>
          <a:bodyPr wrap="square" anchor="t">
            <a:spAutoFit/>
          </a:bodyPr>
          <a:lstStyle/>
          <a:p>
            <a:pPr algn="l">
              <a:defRPr sz="900" b="0" i="0">
                <a:solidFill>
                  <a:srgbClr val="666677"/>
                </a:solidFill>
                <a:latin typeface="Calibri"/>
              </a:defRPr>
            </a:pPr>
            <a:r>
              <a:t>Fires when: Special "panic" password is entered</a:t>
            </a:r>
          </a:p>
        </p:txBody>
      </p:sp>
      <p:sp>
        <p:nvSpPr>
          <p:cNvPr id="62" name="TextBox 61"/>
          <p:cNvSpPr txBox="1"/>
          <p:nvPr/>
        </p:nvSpPr>
        <p:spPr>
          <a:xfrm>
            <a:off x="6766560" y="3776472"/>
            <a:ext cx="4754880" cy="182880"/>
          </a:xfrm>
          <a:prstGeom prst="rect">
            <a:avLst/>
          </a:prstGeom>
          <a:noFill/>
        </p:spPr>
        <p:txBody>
          <a:bodyPr wrap="square" anchor="t">
            <a:spAutoFit/>
          </a:bodyPr>
          <a:lstStyle/>
          <a:p>
            <a:pPr algn="l">
              <a:defRPr sz="800" b="0" i="0">
                <a:solidFill>
                  <a:srgbClr val="9999AA"/>
                </a:solidFill>
                <a:latin typeface="Calibri"/>
              </a:defRPr>
            </a:pPr>
            <a:r>
              <a:t>Coercion protection password</a:t>
            </a:r>
          </a:p>
        </p:txBody>
      </p:sp>
      <p:sp>
        <p:nvSpPr>
          <p:cNvPr id="63" name="TextBox 62"/>
          <p:cNvSpPr txBox="1"/>
          <p:nvPr/>
        </p:nvSpPr>
        <p:spPr>
          <a:xfrm>
            <a:off x="6766560" y="3959352"/>
            <a:ext cx="4754880" cy="182880"/>
          </a:xfrm>
          <a:prstGeom prst="rect">
            <a:avLst/>
          </a:prstGeom>
          <a:noFill/>
        </p:spPr>
        <p:txBody>
          <a:bodyPr wrap="square" anchor="t">
            <a:spAutoFit/>
          </a:bodyPr>
          <a:lstStyle/>
          <a:p>
            <a:pPr algn="l">
              <a:defRPr sz="800" b="0" i="1">
                <a:solidFill>
                  <a:srgbClr val="E68A00"/>
                </a:solidFill>
                <a:latin typeface="Calibri"/>
              </a:defRPr>
            </a:pPr>
            <a:r>
              <a:t>Example: Coercion attempt causes silent wipe</a:t>
            </a:r>
          </a:p>
        </p:txBody>
      </p:sp>
      <p:sp>
        <p:nvSpPr>
          <p:cNvPr id="64" name="Rounded Rectangle 63"/>
          <p:cNvSpPr/>
          <p:nvPr/>
        </p:nvSpPr>
        <p:spPr>
          <a:xfrm>
            <a:off x="6263640" y="4343400"/>
            <a:ext cx="5440680" cy="868680"/>
          </a:xfrm>
          <a:prstGeom prst="roundRect">
            <a:avLst/>
          </a:prstGeom>
          <a:solidFill>
            <a:srgbClr val="F0F2F7"/>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355080" y="4416552"/>
            <a:ext cx="320040" cy="32004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55080" y="4416552"/>
            <a:ext cx="320040" cy="320040"/>
          </a:xfrm>
          <a:prstGeom prst="rect">
            <a:avLst/>
          </a:prstGeom>
          <a:noFill/>
        </p:spPr>
        <p:txBody>
          <a:bodyPr wrap="square" anchor="ctr">
            <a:spAutoFit/>
          </a:bodyPr>
          <a:lstStyle/>
          <a:p>
            <a:pPr algn="ctr">
              <a:defRPr sz="1400" b="1" i="0">
                <a:solidFill>
                  <a:srgbClr val="FFFFFF"/>
                </a:solidFill>
                <a:latin typeface="Consolas"/>
              </a:defRPr>
            </a:pPr>
            <a:r>
              <a:t>07</a:t>
            </a:r>
          </a:p>
        </p:txBody>
      </p:sp>
      <p:sp>
        <p:nvSpPr>
          <p:cNvPr id="67" name="TextBox 66"/>
          <p:cNvSpPr txBox="1"/>
          <p:nvPr/>
        </p:nvSpPr>
        <p:spPr>
          <a:xfrm>
            <a:off x="6766560" y="4389120"/>
            <a:ext cx="4754880" cy="228600"/>
          </a:xfrm>
          <a:prstGeom prst="rect">
            <a:avLst/>
          </a:prstGeom>
          <a:noFill/>
        </p:spPr>
        <p:txBody>
          <a:bodyPr wrap="square" anchor="t">
            <a:spAutoFit/>
          </a:bodyPr>
          <a:lstStyle/>
          <a:p>
            <a:pPr algn="l">
              <a:defRPr sz="1200" b="1" i="0">
                <a:solidFill>
                  <a:srgbClr val="1A1A2E"/>
                </a:solidFill>
                <a:latin typeface="Calibri"/>
              </a:defRPr>
            </a:pPr>
            <a:r>
              <a:t>Dead Man's Switch</a:t>
            </a:r>
          </a:p>
        </p:txBody>
      </p:sp>
      <p:sp>
        <p:nvSpPr>
          <p:cNvPr id="68" name="TextBox 67"/>
          <p:cNvSpPr txBox="1"/>
          <p:nvPr/>
        </p:nvSpPr>
        <p:spPr>
          <a:xfrm>
            <a:off x="6766560" y="4599432"/>
            <a:ext cx="4754880" cy="182880"/>
          </a:xfrm>
          <a:prstGeom prst="rect">
            <a:avLst/>
          </a:prstGeom>
          <a:noFill/>
        </p:spPr>
        <p:txBody>
          <a:bodyPr wrap="square" anchor="t">
            <a:spAutoFit/>
          </a:bodyPr>
          <a:lstStyle/>
          <a:p>
            <a:pPr algn="l">
              <a:defRPr sz="900" b="0" i="0">
                <a:solidFill>
                  <a:srgbClr val="666677"/>
                </a:solidFill>
                <a:latin typeface="Calibri"/>
              </a:defRPr>
            </a:pPr>
            <a:r>
              <a:t>Fires when: Owner misses a scheduled check-in</a:t>
            </a:r>
          </a:p>
        </p:txBody>
      </p:sp>
      <p:sp>
        <p:nvSpPr>
          <p:cNvPr id="69" name="TextBox 68"/>
          <p:cNvSpPr txBox="1"/>
          <p:nvPr/>
        </p:nvSpPr>
        <p:spPr>
          <a:xfrm>
            <a:off x="6766560" y="4782312"/>
            <a:ext cx="4754880" cy="182880"/>
          </a:xfrm>
          <a:prstGeom prst="rect">
            <a:avLst/>
          </a:prstGeom>
          <a:noFill/>
        </p:spPr>
        <p:txBody>
          <a:bodyPr wrap="square" anchor="t">
            <a:spAutoFit/>
          </a:bodyPr>
          <a:lstStyle/>
          <a:p>
            <a:pPr algn="l">
              <a:defRPr sz="800" b="0" i="0">
                <a:solidFill>
                  <a:srgbClr val="9999AA"/>
                </a:solidFill>
                <a:latin typeface="Calibri"/>
              </a:defRPr>
            </a:pPr>
            <a:r>
              <a:t>Inactivity trigger</a:t>
            </a:r>
          </a:p>
        </p:txBody>
      </p:sp>
      <p:sp>
        <p:nvSpPr>
          <p:cNvPr id="70" name="TextBox 69"/>
          <p:cNvSpPr txBox="1"/>
          <p:nvPr/>
        </p:nvSpPr>
        <p:spPr>
          <a:xfrm>
            <a:off x="6766560" y="4965192"/>
            <a:ext cx="4754880" cy="182880"/>
          </a:xfrm>
          <a:prstGeom prst="rect">
            <a:avLst/>
          </a:prstGeom>
          <a:noFill/>
        </p:spPr>
        <p:txBody>
          <a:bodyPr wrap="square" anchor="t">
            <a:spAutoFit/>
          </a:bodyPr>
          <a:lstStyle/>
          <a:p>
            <a:pPr algn="l">
              <a:defRPr sz="800" b="0" i="1">
                <a:solidFill>
                  <a:srgbClr val="E68A00"/>
                </a:solidFill>
                <a:latin typeface="Calibri"/>
              </a:defRPr>
            </a:pPr>
            <a:r>
              <a:t>Example: Unattended server data self-destructs</a:t>
            </a:r>
          </a:p>
        </p:txBody>
      </p:sp>
      <p:sp>
        <p:nvSpPr>
          <p:cNvPr id="71" name="Rounded Rectangle 70"/>
          <p:cNvSpPr/>
          <p:nvPr/>
        </p:nvSpPr>
        <p:spPr>
          <a:xfrm>
            <a:off x="6263640" y="5623560"/>
            <a:ext cx="5440680" cy="457200"/>
          </a:xfrm>
          <a:prstGeom prst="roundRect">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46520" y="5650992"/>
            <a:ext cx="5074920" cy="411480"/>
          </a:xfrm>
          <a:prstGeom prst="rect">
            <a:avLst/>
          </a:prstGeom>
          <a:noFill/>
        </p:spPr>
        <p:txBody>
          <a:bodyPr wrap="square" anchor="ctr">
            <a:spAutoFit/>
          </a:bodyPr>
          <a:lstStyle/>
          <a:p>
            <a:pPr algn="ctr">
              <a:defRPr sz="900" b="0" i="0">
                <a:solidFill>
                  <a:srgbClr val="D41F2C"/>
                </a:solidFill>
                <a:latin typeface="Consolas"/>
              </a:defRPr>
            </a:pPr>
            <a:r>
              <a:t>All 7 triggers work independently. When ANY one activates, the secure wipe protocol executes immediately.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11</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SECURE WIPE PROTOCOL</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Multi-Pass Disk Erasure Process</a:t>
            </a:r>
          </a:p>
        </p:txBody>
      </p:sp>
      <p:sp>
        <p:nvSpPr>
          <p:cNvPr id="20" name="Rounded Rectangle 19"/>
          <p:cNvSpPr/>
          <p:nvPr/>
        </p:nvSpPr>
        <p:spPr>
          <a:xfrm>
            <a:off x="457200" y="2103120"/>
            <a:ext cx="11247120" cy="640080"/>
          </a:xfrm>
          <a:prstGeom prst="roundRect">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148840"/>
            <a:ext cx="10881360" cy="228600"/>
          </a:xfrm>
          <a:prstGeom prst="rect">
            <a:avLst/>
          </a:prstGeom>
          <a:noFill/>
        </p:spPr>
        <p:txBody>
          <a:bodyPr wrap="square" anchor="t">
            <a:spAutoFit/>
          </a:bodyPr>
          <a:lstStyle/>
          <a:p>
            <a:pPr algn="l">
              <a:defRPr sz="1100" b="1" i="0">
                <a:solidFill>
                  <a:srgbClr val="D41F2C"/>
                </a:solidFill>
                <a:latin typeface="Consolas"/>
              </a:defRPr>
            </a:pPr>
            <a:r>
              <a:t>WHY SECURE WIPE?</a:t>
            </a:r>
          </a:p>
        </p:txBody>
      </p:sp>
      <p:sp>
        <p:nvSpPr>
          <p:cNvPr id="22" name="TextBox 21"/>
          <p:cNvSpPr txBox="1"/>
          <p:nvPr/>
        </p:nvSpPr>
        <p:spPr>
          <a:xfrm>
            <a:off x="640080" y="2377440"/>
            <a:ext cx="10881360" cy="320040"/>
          </a:xfrm>
          <a:prstGeom prst="rect">
            <a:avLst/>
          </a:prstGeom>
          <a:noFill/>
        </p:spPr>
        <p:txBody>
          <a:bodyPr wrap="square" anchor="t">
            <a:spAutoFit/>
          </a:bodyPr>
          <a:lstStyle/>
          <a:p>
            <a:pPr algn="l">
              <a:defRPr sz="1000" b="0" i="0">
                <a:solidFill>
                  <a:srgbClr val="333344"/>
                </a:solidFill>
                <a:latin typeface="Calibri"/>
              </a:defRPr>
            </a:pPr>
            <a:r>
              <a:t>Standard deletion only removes a directory pointer — the raw bytes remain on disk. Forensic tools can recover "deleted" files. ZeroTraceFS uses a 4-pass cryptographic wipe that makes recovery virtually impossible.</a:t>
            </a:r>
          </a:p>
        </p:txBody>
      </p:sp>
      <p:sp>
        <p:nvSpPr>
          <p:cNvPr id="23" name="TextBox 22"/>
          <p:cNvSpPr txBox="1"/>
          <p:nvPr/>
        </p:nvSpPr>
        <p:spPr>
          <a:xfrm>
            <a:off x="457200" y="2926080"/>
            <a:ext cx="11247120" cy="274320"/>
          </a:xfrm>
          <a:prstGeom prst="rect">
            <a:avLst/>
          </a:prstGeom>
          <a:noFill/>
        </p:spPr>
        <p:txBody>
          <a:bodyPr wrap="square" anchor="t">
            <a:spAutoFit/>
          </a:bodyPr>
          <a:lstStyle/>
          <a:p>
            <a:pPr algn="ctr">
              <a:defRPr sz="1200" b="1" i="0">
                <a:solidFill>
                  <a:srgbClr val="D41F2C"/>
                </a:solidFill>
                <a:latin typeface="Consolas"/>
              </a:defRPr>
            </a:pPr>
            <a:r>
              <a:t>4-PASS OVERWRITE PROTOCOL</a:t>
            </a:r>
          </a:p>
        </p:txBody>
      </p:sp>
      <p:sp>
        <p:nvSpPr>
          <p:cNvPr id="24" name="Rounded Rectangle 23"/>
          <p:cNvSpPr/>
          <p:nvPr/>
        </p:nvSpPr>
        <p:spPr>
          <a:xfrm>
            <a:off x="548640" y="3291840"/>
            <a:ext cx="2560320" cy="1691640"/>
          </a:xfrm>
          <a:prstGeom prst="roundRect">
            <a:avLst/>
          </a:prstGeom>
          <a:solidFill>
            <a:srgbClr val="F0F2F7"/>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57784" y="3300984"/>
            <a:ext cx="2542032" cy="508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429000"/>
            <a:ext cx="2560320" cy="274320"/>
          </a:xfrm>
          <a:prstGeom prst="rect">
            <a:avLst/>
          </a:prstGeom>
          <a:noFill/>
        </p:spPr>
        <p:txBody>
          <a:bodyPr wrap="square" anchor="t">
            <a:spAutoFit/>
          </a:bodyPr>
          <a:lstStyle/>
          <a:p>
            <a:pPr algn="ctr">
              <a:defRPr sz="1300" b="1" i="0">
                <a:solidFill>
                  <a:srgbClr val="D41F2C"/>
                </a:solidFill>
                <a:latin typeface="Consolas"/>
              </a:defRPr>
            </a:pPr>
            <a:r>
              <a:t>PASS 1</a:t>
            </a:r>
          </a:p>
        </p:txBody>
      </p:sp>
      <p:sp>
        <p:nvSpPr>
          <p:cNvPr id="27" name="TextBox 26"/>
          <p:cNvSpPr txBox="1"/>
          <p:nvPr/>
        </p:nvSpPr>
        <p:spPr>
          <a:xfrm>
            <a:off x="548640" y="3703320"/>
            <a:ext cx="2560320" cy="182880"/>
          </a:xfrm>
          <a:prstGeom prst="rect">
            <a:avLst/>
          </a:prstGeom>
          <a:noFill/>
        </p:spPr>
        <p:txBody>
          <a:bodyPr wrap="square" anchor="t">
            <a:spAutoFit/>
          </a:bodyPr>
          <a:lstStyle/>
          <a:p>
            <a:pPr algn="ctr">
              <a:defRPr sz="900" b="0" i="0">
                <a:solidFill>
                  <a:srgbClr val="666677"/>
                </a:solidFill>
                <a:latin typeface="Consolas"/>
              </a:defRPr>
            </a:pPr>
            <a:r>
              <a:t>Random Bytes</a:t>
            </a:r>
          </a:p>
        </p:txBody>
      </p:sp>
      <p:sp>
        <p:nvSpPr>
          <p:cNvPr id="28" name="Rectangle 27"/>
          <p:cNvSpPr/>
          <p:nvPr/>
        </p:nvSpPr>
        <p:spPr>
          <a:xfrm>
            <a:off x="685800" y="3931920"/>
            <a:ext cx="2286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023360"/>
            <a:ext cx="2286000" cy="502920"/>
          </a:xfrm>
          <a:prstGeom prst="rect">
            <a:avLst/>
          </a:prstGeom>
          <a:noFill/>
        </p:spPr>
        <p:txBody>
          <a:bodyPr wrap="square" anchor="t">
            <a:spAutoFit/>
          </a:bodyPr>
          <a:lstStyle/>
          <a:p>
            <a:pPr algn="ctr">
              <a:defRPr sz="900" b="0" i="0">
                <a:solidFill>
                  <a:srgbClr val="666677"/>
                </a:solidFill>
                <a:latin typeface="Calibri"/>
              </a:defRPr>
            </a:pPr>
            <a:r>
              <a:t>Overwrite file with</a:t>
            </a:r>
            <a:br/>
            <a:r>
              <a:t>crypto random data,</a:t>
            </a:r>
            <a:br/>
            <a:r>
              <a:t>flush to disk</a:t>
            </a:r>
          </a:p>
        </p:txBody>
      </p:sp>
      <p:sp>
        <p:nvSpPr>
          <p:cNvPr id="30" name="Rounded Rectangle 29"/>
          <p:cNvSpPr/>
          <p:nvPr/>
        </p:nvSpPr>
        <p:spPr>
          <a:xfrm>
            <a:off x="685800" y="4572000"/>
            <a:ext cx="2286000" cy="256032"/>
          </a:xfrm>
          <a:prstGeom prst="roundRect">
            <a:avLst/>
          </a:prstGeom>
          <a:solidFill>
            <a:srgbClr val="E8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572000"/>
            <a:ext cx="2286000" cy="256032"/>
          </a:xfrm>
          <a:prstGeom prst="rect">
            <a:avLst/>
          </a:prstGeom>
          <a:noFill/>
        </p:spPr>
        <p:txBody>
          <a:bodyPr wrap="square" anchor="ctr">
            <a:spAutoFit/>
          </a:bodyPr>
          <a:lstStyle/>
          <a:p>
            <a:pPr algn="ctr">
              <a:defRPr sz="800" b="0" i="0">
                <a:solidFill>
                  <a:srgbClr val="9999AA"/>
                </a:solidFill>
                <a:latin typeface="Consolas"/>
              </a:defRPr>
            </a:pPr>
            <a:r>
              <a:t>0x7F 0xA2 0x3E...</a:t>
            </a:r>
          </a:p>
        </p:txBody>
      </p:sp>
      <p:sp>
        <p:nvSpPr>
          <p:cNvPr id="32" name="TextBox 31"/>
          <p:cNvSpPr txBox="1"/>
          <p:nvPr/>
        </p:nvSpPr>
        <p:spPr>
          <a:xfrm>
            <a:off x="3108960" y="3931920"/>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33" name="Rounded Rectangle 32"/>
          <p:cNvSpPr/>
          <p:nvPr/>
        </p:nvSpPr>
        <p:spPr>
          <a:xfrm>
            <a:off x="3383280" y="3291840"/>
            <a:ext cx="2560320" cy="1691640"/>
          </a:xfrm>
          <a:prstGeom prst="roundRect">
            <a:avLst/>
          </a:prstGeom>
          <a:solidFill>
            <a:srgbClr val="F0F2F7"/>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92424" y="3300984"/>
            <a:ext cx="2542032" cy="508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83280" y="3429000"/>
            <a:ext cx="2560320" cy="274320"/>
          </a:xfrm>
          <a:prstGeom prst="rect">
            <a:avLst/>
          </a:prstGeom>
          <a:noFill/>
        </p:spPr>
        <p:txBody>
          <a:bodyPr wrap="square" anchor="t">
            <a:spAutoFit/>
          </a:bodyPr>
          <a:lstStyle/>
          <a:p>
            <a:pPr algn="ctr">
              <a:defRPr sz="1300" b="1" i="0">
                <a:solidFill>
                  <a:srgbClr val="D41F2C"/>
                </a:solidFill>
                <a:latin typeface="Consolas"/>
              </a:defRPr>
            </a:pPr>
            <a:r>
              <a:t>PASS 2</a:t>
            </a:r>
          </a:p>
        </p:txBody>
      </p:sp>
      <p:sp>
        <p:nvSpPr>
          <p:cNvPr id="36" name="TextBox 35"/>
          <p:cNvSpPr txBox="1"/>
          <p:nvPr/>
        </p:nvSpPr>
        <p:spPr>
          <a:xfrm>
            <a:off x="3383280" y="3703320"/>
            <a:ext cx="2560320" cy="182880"/>
          </a:xfrm>
          <a:prstGeom prst="rect">
            <a:avLst/>
          </a:prstGeom>
          <a:noFill/>
        </p:spPr>
        <p:txBody>
          <a:bodyPr wrap="square" anchor="t">
            <a:spAutoFit/>
          </a:bodyPr>
          <a:lstStyle/>
          <a:p>
            <a:pPr algn="ctr">
              <a:defRPr sz="900" b="0" i="0">
                <a:solidFill>
                  <a:srgbClr val="666677"/>
                </a:solidFill>
                <a:latin typeface="Consolas"/>
              </a:defRPr>
            </a:pPr>
            <a:r>
              <a:t>Random Bytes</a:t>
            </a:r>
          </a:p>
        </p:txBody>
      </p:sp>
      <p:sp>
        <p:nvSpPr>
          <p:cNvPr id="37" name="Rectangle 36"/>
          <p:cNvSpPr/>
          <p:nvPr/>
        </p:nvSpPr>
        <p:spPr>
          <a:xfrm>
            <a:off x="3520440" y="3931920"/>
            <a:ext cx="2286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20440" y="4023360"/>
            <a:ext cx="2286000" cy="502920"/>
          </a:xfrm>
          <a:prstGeom prst="rect">
            <a:avLst/>
          </a:prstGeom>
          <a:noFill/>
        </p:spPr>
        <p:txBody>
          <a:bodyPr wrap="square" anchor="t">
            <a:spAutoFit/>
          </a:bodyPr>
          <a:lstStyle/>
          <a:p>
            <a:pPr algn="ctr">
              <a:defRPr sz="900" b="0" i="0">
                <a:solidFill>
                  <a:srgbClr val="666677"/>
                </a:solidFill>
                <a:latin typeface="Calibri"/>
              </a:defRPr>
            </a:pPr>
            <a:r>
              <a:t>Second random overwrite</a:t>
            </a:r>
            <a:br/>
            <a:r>
              <a:t>to break patterns,</a:t>
            </a:r>
            <a:br/>
            <a:r>
              <a:t>flush to disk</a:t>
            </a:r>
          </a:p>
        </p:txBody>
      </p:sp>
      <p:sp>
        <p:nvSpPr>
          <p:cNvPr id="39" name="Rounded Rectangle 38"/>
          <p:cNvSpPr/>
          <p:nvPr/>
        </p:nvSpPr>
        <p:spPr>
          <a:xfrm>
            <a:off x="3520440" y="4572000"/>
            <a:ext cx="2286000" cy="256032"/>
          </a:xfrm>
          <a:prstGeom prst="roundRect">
            <a:avLst/>
          </a:prstGeom>
          <a:solidFill>
            <a:srgbClr val="E8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20440" y="4572000"/>
            <a:ext cx="2286000" cy="256032"/>
          </a:xfrm>
          <a:prstGeom prst="rect">
            <a:avLst/>
          </a:prstGeom>
          <a:noFill/>
        </p:spPr>
        <p:txBody>
          <a:bodyPr wrap="square" anchor="ctr">
            <a:spAutoFit/>
          </a:bodyPr>
          <a:lstStyle/>
          <a:p>
            <a:pPr algn="ctr">
              <a:defRPr sz="800" b="0" i="0">
                <a:solidFill>
                  <a:srgbClr val="9999AA"/>
                </a:solidFill>
                <a:latin typeface="Consolas"/>
              </a:defRPr>
            </a:pPr>
            <a:r>
              <a:t>0x1C 0xB9 0x55...</a:t>
            </a:r>
          </a:p>
        </p:txBody>
      </p:sp>
      <p:sp>
        <p:nvSpPr>
          <p:cNvPr id="41" name="TextBox 40"/>
          <p:cNvSpPr txBox="1"/>
          <p:nvPr/>
        </p:nvSpPr>
        <p:spPr>
          <a:xfrm>
            <a:off x="5943600" y="3931920"/>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42" name="Rounded Rectangle 41"/>
          <p:cNvSpPr/>
          <p:nvPr/>
        </p:nvSpPr>
        <p:spPr>
          <a:xfrm>
            <a:off x="6217920" y="3291840"/>
            <a:ext cx="2560320" cy="1691640"/>
          </a:xfrm>
          <a:prstGeom prst="roundRect">
            <a:avLst/>
          </a:prstGeom>
          <a:solidFill>
            <a:srgbClr val="F0F2F7"/>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27064" y="3300984"/>
            <a:ext cx="2542032" cy="508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0" y="3429000"/>
            <a:ext cx="2560320" cy="274320"/>
          </a:xfrm>
          <a:prstGeom prst="rect">
            <a:avLst/>
          </a:prstGeom>
          <a:noFill/>
        </p:spPr>
        <p:txBody>
          <a:bodyPr wrap="square" anchor="t">
            <a:spAutoFit/>
          </a:bodyPr>
          <a:lstStyle/>
          <a:p>
            <a:pPr algn="ctr">
              <a:defRPr sz="1300" b="1" i="0">
                <a:solidFill>
                  <a:srgbClr val="D41F2C"/>
                </a:solidFill>
                <a:latin typeface="Consolas"/>
              </a:defRPr>
            </a:pPr>
            <a:r>
              <a:t>PASS 3</a:t>
            </a:r>
          </a:p>
        </p:txBody>
      </p:sp>
      <p:sp>
        <p:nvSpPr>
          <p:cNvPr id="45" name="TextBox 44"/>
          <p:cNvSpPr txBox="1"/>
          <p:nvPr/>
        </p:nvSpPr>
        <p:spPr>
          <a:xfrm>
            <a:off x="6217920" y="3703320"/>
            <a:ext cx="2560320" cy="182880"/>
          </a:xfrm>
          <a:prstGeom prst="rect">
            <a:avLst/>
          </a:prstGeom>
          <a:noFill/>
        </p:spPr>
        <p:txBody>
          <a:bodyPr wrap="square" anchor="t">
            <a:spAutoFit/>
          </a:bodyPr>
          <a:lstStyle/>
          <a:p>
            <a:pPr algn="ctr">
              <a:defRPr sz="900" b="0" i="0">
                <a:solidFill>
                  <a:srgbClr val="666677"/>
                </a:solidFill>
                <a:latin typeface="Consolas"/>
              </a:defRPr>
            </a:pPr>
            <a:r>
              <a:t>Random Bytes</a:t>
            </a:r>
          </a:p>
        </p:txBody>
      </p:sp>
      <p:sp>
        <p:nvSpPr>
          <p:cNvPr id="46" name="Rectangle 45"/>
          <p:cNvSpPr/>
          <p:nvPr/>
        </p:nvSpPr>
        <p:spPr>
          <a:xfrm>
            <a:off x="6355080" y="3931920"/>
            <a:ext cx="2286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4023360"/>
            <a:ext cx="2286000" cy="502920"/>
          </a:xfrm>
          <a:prstGeom prst="rect">
            <a:avLst/>
          </a:prstGeom>
          <a:noFill/>
        </p:spPr>
        <p:txBody>
          <a:bodyPr wrap="square" anchor="t">
            <a:spAutoFit/>
          </a:bodyPr>
          <a:lstStyle/>
          <a:p>
            <a:pPr algn="ctr">
              <a:defRPr sz="900" b="0" i="0">
                <a:solidFill>
                  <a:srgbClr val="666677"/>
                </a:solidFill>
                <a:latin typeface="Calibri"/>
              </a:defRPr>
            </a:pPr>
            <a:r>
              <a:t>Third random overwrite</a:t>
            </a:r>
            <a:br/>
            <a:r>
              <a:t>for full scramble,</a:t>
            </a:r>
            <a:br/>
            <a:r>
              <a:t>flush</a:t>
            </a:r>
          </a:p>
        </p:txBody>
      </p:sp>
      <p:sp>
        <p:nvSpPr>
          <p:cNvPr id="48" name="Rounded Rectangle 47"/>
          <p:cNvSpPr/>
          <p:nvPr/>
        </p:nvSpPr>
        <p:spPr>
          <a:xfrm>
            <a:off x="6355080" y="4572000"/>
            <a:ext cx="2286000" cy="256032"/>
          </a:xfrm>
          <a:prstGeom prst="roundRect">
            <a:avLst/>
          </a:prstGeom>
          <a:solidFill>
            <a:srgbClr val="E8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4572000"/>
            <a:ext cx="2286000" cy="256032"/>
          </a:xfrm>
          <a:prstGeom prst="rect">
            <a:avLst/>
          </a:prstGeom>
          <a:noFill/>
        </p:spPr>
        <p:txBody>
          <a:bodyPr wrap="square" anchor="ctr">
            <a:spAutoFit/>
          </a:bodyPr>
          <a:lstStyle/>
          <a:p>
            <a:pPr algn="ctr">
              <a:defRPr sz="800" b="0" i="0">
                <a:solidFill>
                  <a:srgbClr val="9999AA"/>
                </a:solidFill>
                <a:latin typeface="Consolas"/>
              </a:defRPr>
            </a:pPr>
            <a:r>
              <a:t>0xE4 0x08 0xD1...</a:t>
            </a:r>
          </a:p>
        </p:txBody>
      </p:sp>
      <p:sp>
        <p:nvSpPr>
          <p:cNvPr id="50" name="TextBox 49"/>
          <p:cNvSpPr txBox="1"/>
          <p:nvPr/>
        </p:nvSpPr>
        <p:spPr>
          <a:xfrm>
            <a:off x="8778240" y="3931920"/>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51" name="Rounded Rectangle 50"/>
          <p:cNvSpPr/>
          <p:nvPr/>
        </p:nvSpPr>
        <p:spPr>
          <a:xfrm>
            <a:off x="9052560" y="3291840"/>
            <a:ext cx="2560320" cy="1691640"/>
          </a:xfrm>
          <a:prstGeom prst="roundRect">
            <a:avLst/>
          </a:prstGeom>
          <a:solidFill>
            <a:srgbClr val="F0F2F7"/>
          </a:solidFill>
          <a:ln w="2540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61704" y="3300984"/>
            <a:ext cx="2542032" cy="5080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52560" y="3429000"/>
            <a:ext cx="2560320" cy="274320"/>
          </a:xfrm>
          <a:prstGeom prst="rect">
            <a:avLst/>
          </a:prstGeom>
          <a:noFill/>
        </p:spPr>
        <p:txBody>
          <a:bodyPr wrap="square" anchor="t">
            <a:spAutoFit/>
          </a:bodyPr>
          <a:lstStyle/>
          <a:p>
            <a:pPr algn="ctr">
              <a:defRPr sz="1300" b="1" i="0">
                <a:solidFill>
                  <a:srgbClr val="E68A00"/>
                </a:solidFill>
                <a:latin typeface="Consolas"/>
              </a:defRPr>
            </a:pPr>
            <a:r>
              <a:t>PASS 4</a:t>
            </a:r>
          </a:p>
        </p:txBody>
      </p:sp>
      <p:sp>
        <p:nvSpPr>
          <p:cNvPr id="54" name="TextBox 53"/>
          <p:cNvSpPr txBox="1"/>
          <p:nvPr/>
        </p:nvSpPr>
        <p:spPr>
          <a:xfrm>
            <a:off x="9052560" y="3703320"/>
            <a:ext cx="2560320" cy="182880"/>
          </a:xfrm>
          <a:prstGeom prst="rect">
            <a:avLst/>
          </a:prstGeom>
          <a:noFill/>
        </p:spPr>
        <p:txBody>
          <a:bodyPr wrap="square" anchor="t">
            <a:spAutoFit/>
          </a:bodyPr>
          <a:lstStyle/>
          <a:p>
            <a:pPr algn="ctr">
              <a:defRPr sz="900" b="0" i="0">
                <a:solidFill>
                  <a:srgbClr val="666677"/>
                </a:solidFill>
                <a:latin typeface="Consolas"/>
              </a:defRPr>
            </a:pPr>
            <a:r>
              <a:t>Zero Fill</a:t>
            </a:r>
          </a:p>
        </p:txBody>
      </p:sp>
      <p:sp>
        <p:nvSpPr>
          <p:cNvPr id="55" name="Rectangle 54"/>
          <p:cNvSpPr/>
          <p:nvPr/>
        </p:nvSpPr>
        <p:spPr>
          <a:xfrm>
            <a:off x="9189720" y="3931920"/>
            <a:ext cx="228600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89720" y="4023360"/>
            <a:ext cx="2286000" cy="502920"/>
          </a:xfrm>
          <a:prstGeom prst="rect">
            <a:avLst/>
          </a:prstGeom>
          <a:noFill/>
        </p:spPr>
        <p:txBody>
          <a:bodyPr wrap="square" anchor="t">
            <a:spAutoFit/>
          </a:bodyPr>
          <a:lstStyle/>
          <a:p>
            <a:pPr algn="ctr">
              <a:defRPr sz="900" b="0" i="0">
                <a:solidFill>
                  <a:srgbClr val="666677"/>
                </a:solidFill>
                <a:latin typeface="Calibri"/>
              </a:defRPr>
            </a:pPr>
            <a:r>
              <a:t>Final zero overwrite</a:t>
            </a:r>
            <a:br/>
            <a:r>
              <a:t>clean state, flush,</a:t>
            </a:r>
            <a:br/>
            <a:r>
              <a:t>then DELETE file</a:t>
            </a:r>
          </a:p>
        </p:txBody>
      </p:sp>
      <p:sp>
        <p:nvSpPr>
          <p:cNvPr id="57" name="Rounded Rectangle 56"/>
          <p:cNvSpPr/>
          <p:nvPr/>
        </p:nvSpPr>
        <p:spPr>
          <a:xfrm>
            <a:off x="9189720" y="4572000"/>
            <a:ext cx="2286000" cy="256032"/>
          </a:xfrm>
          <a:prstGeom prst="roundRect">
            <a:avLst/>
          </a:prstGeom>
          <a:solidFill>
            <a:srgbClr val="E8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89720" y="4572000"/>
            <a:ext cx="2286000" cy="256032"/>
          </a:xfrm>
          <a:prstGeom prst="rect">
            <a:avLst/>
          </a:prstGeom>
          <a:noFill/>
        </p:spPr>
        <p:txBody>
          <a:bodyPr wrap="square" anchor="ctr">
            <a:spAutoFit/>
          </a:bodyPr>
          <a:lstStyle/>
          <a:p>
            <a:pPr algn="ctr">
              <a:defRPr sz="800" b="0" i="0">
                <a:solidFill>
                  <a:srgbClr val="9999AA"/>
                </a:solidFill>
                <a:latin typeface="Consolas"/>
              </a:defRPr>
            </a:pPr>
            <a:r>
              <a:t>0x00 0x00 0x00...</a:t>
            </a:r>
          </a:p>
        </p:txBody>
      </p:sp>
      <p:sp>
        <p:nvSpPr>
          <p:cNvPr id="59" name="Rectangle 58"/>
          <p:cNvSpPr/>
          <p:nvPr/>
        </p:nvSpPr>
        <p:spPr>
          <a:xfrm>
            <a:off x="457200" y="5074920"/>
            <a:ext cx="11247120" cy="12700"/>
          </a:xfrm>
          <a:prstGeom prst="rect">
            <a:avLst/>
          </a:prstGeom>
          <a:solidFill>
            <a:srgbClr val="D0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5166360"/>
            <a:ext cx="11247120" cy="228600"/>
          </a:xfrm>
          <a:prstGeom prst="rect">
            <a:avLst/>
          </a:prstGeom>
          <a:noFill/>
        </p:spPr>
        <p:txBody>
          <a:bodyPr wrap="square" anchor="t">
            <a:spAutoFit/>
          </a:bodyPr>
          <a:lstStyle/>
          <a:p>
            <a:pPr algn="ctr">
              <a:defRPr sz="1000" b="1" i="0">
                <a:solidFill>
                  <a:srgbClr val="D41F2C"/>
                </a:solidFill>
                <a:latin typeface="Consolas"/>
              </a:defRPr>
            </a:pPr>
            <a:r>
              <a:t>THEN: Destroy encryption key  →  Erase all file metadata  →  Deallocate / delete files</a:t>
            </a:r>
          </a:p>
        </p:txBody>
      </p:sp>
      <p:sp>
        <p:nvSpPr>
          <p:cNvPr id="61" name="Rounded Rectangle 60"/>
          <p:cNvSpPr/>
          <p:nvPr/>
        </p:nvSpPr>
        <p:spPr>
          <a:xfrm>
            <a:off x="640080" y="5486400"/>
            <a:ext cx="1920240" cy="411480"/>
          </a:xfrm>
          <a:prstGeom prst="roundRect">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0080" y="5486400"/>
            <a:ext cx="1920240" cy="411480"/>
          </a:xfrm>
          <a:prstGeom prst="rect">
            <a:avLst/>
          </a:prstGeom>
          <a:noFill/>
        </p:spPr>
        <p:txBody>
          <a:bodyPr wrap="square" anchor="ctr">
            <a:spAutoFit/>
          </a:bodyPr>
          <a:lstStyle/>
          <a:p>
            <a:pPr algn="ctr">
              <a:defRPr sz="900" b="1" i="0">
                <a:solidFill>
                  <a:srgbClr val="D41F2C"/>
                </a:solidFill>
                <a:latin typeface="Consolas"/>
              </a:defRPr>
            </a:pPr>
            <a:r>
              <a:t>Encryption Key</a:t>
            </a:r>
          </a:p>
        </p:txBody>
      </p:sp>
      <p:sp>
        <p:nvSpPr>
          <p:cNvPr id="63" name="TextBox 62"/>
          <p:cNvSpPr txBox="1"/>
          <p:nvPr/>
        </p:nvSpPr>
        <p:spPr>
          <a:xfrm>
            <a:off x="2560320" y="5559552"/>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64" name="Rounded Rectangle 63"/>
          <p:cNvSpPr/>
          <p:nvPr/>
        </p:nvSpPr>
        <p:spPr>
          <a:xfrm>
            <a:off x="2926080" y="5486400"/>
            <a:ext cx="1920240" cy="411480"/>
          </a:xfrm>
          <a:prstGeom prst="roundRect">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26080" y="5486400"/>
            <a:ext cx="1920240" cy="411480"/>
          </a:xfrm>
          <a:prstGeom prst="rect">
            <a:avLst/>
          </a:prstGeom>
          <a:noFill/>
        </p:spPr>
        <p:txBody>
          <a:bodyPr wrap="square" anchor="ctr">
            <a:spAutoFit/>
          </a:bodyPr>
          <a:lstStyle/>
          <a:p>
            <a:pPr algn="ctr">
              <a:defRPr sz="900" b="1" i="0">
                <a:solidFill>
                  <a:srgbClr val="D41F2C"/>
                </a:solidFill>
                <a:latin typeface="Consolas"/>
              </a:defRPr>
            </a:pPr>
            <a:r>
              <a:t>PBKDF2 Salt</a:t>
            </a:r>
          </a:p>
        </p:txBody>
      </p:sp>
      <p:sp>
        <p:nvSpPr>
          <p:cNvPr id="66" name="TextBox 65"/>
          <p:cNvSpPr txBox="1"/>
          <p:nvPr/>
        </p:nvSpPr>
        <p:spPr>
          <a:xfrm>
            <a:off x="4846320" y="5559552"/>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67" name="Rounded Rectangle 66"/>
          <p:cNvSpPr/>
          <p:nvPr/>
        </p:nvSpPr>
        <p:spPr>
          <a:xfrm>
            <a:off x="5212080" y="5486400"/>
            <a:ext cx="1920240" cy="411480"/>
          </a:xfrm>
          <a:prstGeom prst="roundRect">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212080" y="5486400"/>
            <a:ext cx="1920240" cy="411480"/>
          </a:xfrm>
          <a:prstGeom prst="rect">
            <a:avLst/>
          </a:prstGeom>
          <a:noFill/>
        </p:spPr>
        <p:txBody>
          <a:bodyPr wrap="square" anchor="ctr">
            <a:spAutoFit/>
          </a:bodyPr>
          <a:lstStyle/>
          <a:p>
            <a:pPr algn="ctr">
              <a:defRPr sz="900" b="1" i="0">
                <a:solidFill>
                  <a:srgbClr val="D41F2C"/>
                </a:solidFill>
                <a:latin typeface="Consolas"/>
              </a:defRPr>
            </a:pPr>
            <a:r>
              <a:t>All IVs</a:t>
            </a:r>
          </a:p>
        </p:txBody>
      </p:sp>
      <p:sp>
        <p:nvSpPr>
          <p:cNvPr id="69" name="TextBox 68"/>
          <p:cNvSpPr txBox="1"/>
          <p:nvPr/>
        </p:nvSpPr>
        <p:spPr>
          <a:xfrm>
            <a:off x="7132320" y="5559552"/>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70" name="Rounded Rectangle 69"/>
          <p:cNvSpPr/>
          <p:nvPr/>
        </p:nvSpPr>
        <p:spPr>
          <a:xfrm>
            <a:off x="7498079" y="5486400"/>
            <a:ext cx="1920240" cy="411480"/>
          </a:xfrm>
          <a:prstGeom prst="roundRect">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98079" y="5486400"/>
            <a:ext cx="1920240" cy="411480"/>
          </a:xfrm>
          <a:prstGeom prst="rect">
            <a:avLst/>
          </a:prstGeom>
          <a:noFill/>
        </p:spPr>
        <p:txBody>
          <a:bodyPr wrap="square" anchor="ctr">
            <a:spAutoFit/>
          </a:bodyPr>
          <a:lstStyle/>
          <a:p>
            <a:pPr algn="ctr">
              <a:defRPr sz="900" b="1" i="0">
                <a:solidFill>
                  <a:srgbClr val="D41F2C"/>
                </a:solidFill>
                <a:latin typeface="Consolas"/>
              </a:defRPr>
            </a:pPr>
            <a:r>
              <a:t>File Metadata</a:t>
            </a:r>
          </a:p>
        </p:txBody>
      </p:sp>
      <p:sp>
        <p:nvSpPr>
          <p:cNvPr id="72" name="TextBox 71"/>
          <p:cNvSpPr txBox="1"/>
          <p:nvPr/>
        </p:nvSpPr>
        <p:spPr>
          <a:xfrm>
            <a:off x="9418319" y="5559552"/>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73" name="Rounded Rectangle 72"/>
          <p:cNvSpPr/>
          <p:nvPr/>
        </p:nvSpPr>
        <p:spPr>
          <a:xfrm>
            <a:off x="9784080" y="5486400"/>
            <a:ext cx="1920240" cy="411480"/>
          </a:xfrm>
          <a:prstGeom prst="roundRect">
            <a:avLst/>
          </a:prstGeom>
          <a:solidFill>
            <a:srgbClr val="FDE8EA"/>
          </a:solidFill>
          <a:ln w="127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84080" y="5486400"/>
            <a:ext cx="1920240" cy="411480"/>
          </a:xfrm>
          <a:prstGeom prst="rect">
            <a:avLst/>
          </a:prstGeom>
          <a:noFill/>
        </p:spPr>
        <p:txBody>
          <a:bodyPr wrap="square" anchor="ctr">
            <a:spAutoFit/>
          </a:bodyPr>
          <a:lstStyle/>
          <a:p>
            <a:pPr algn="ctr">
              <a:defRPr sz="900" b="1" i="0">
                <a:solidFill>
                  <a:srgbClr val="D41F2C"/>
                </a:solidFill>
                <a:latin typeface="Consolas"/>
              </a:defRPr>
            </a:pPr>
            <a:r>
              <a:t>File Deletion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12</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OBJECTIVES</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Project Goals and Deliverables</a:t>
            </a:r>
          </a:p>
        </p:txBody>
      </p:sp>
      <p:sp>
        <p:nvSpPr>
          <p:cNvPr id="20" name="Rounded Rectangle 19"/>
          <p:cNvSpPr/>
          <p:nvPr/>
        </p:nvSpPr>
        <p:spPr>
          <a:xfrm>
            <a:off x="457200" y="2103120"/>
            <a:ext cx="11247120" cy="64008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 y="2212848"/>
            <a:ext cx="365760" cy="365760"/>
          </a:xfrm>
          <a:prstGeom prst="ellipse">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212848"/>
            <a:ext cx="365760" cy="365760"/>
          </a:xfrm>
          <a:prstGeom prst="rect">
            <a:avLst/>
          </a:prstGeom>
          <a:noFill/>
        </p:spPr>
        <p:txBody>
          <a:bodyPr wrap="square" anchor="ctr">
            <a:spAutoFit/>
          </a:bodyPr>
          <a:lstStyle/>
          <a:p>
            <a:pPr algn="ctr">
              <a:defRPr sz="1400" b="1" i="0">
                <a:solidFill>
                  <a:srgbClr val="FFFFFF"/>
                </a:solidFill>
                <a:latin typeface="Consolas"/>
              </a:defRPr>
            </a:pPr>
            <a:r>
              <a:t>01</a:t>
            </a:r>
          </a:p>
        </p:txBody>
      </p:sp>
      <p:sp>
        <p:nvSpPr>
          <p:cNvPr id="23" name="TextBox 22"/>
          <p:cNvSpPr txBox="1"/>
          <p:nvPr/>
        </p:nvSpPr>
        <p:spPr>
          <a:xfrm>
            <a:off x="1143000" y="2176272"/>
            <a:ext cx="10332720" cy="274320"/>
          </a:xfrm>
          <a:prstGeom prst="rect">
            <a:avLst/>
          </a:prstGeom>
          <a:noFill/>
        </p:spPr>
        <p:txBody>
          <a:bodyPr wrap="square" anchor="t">
            <a:spAutoFit/>
          </a:bodyPr>
          <a:lstStyle/>
          <a:p>
            <a:pPr algn="l">
              <a:defRPr sz="1300" b="1" i="0">
                <a:solidFill>
                  <a:srgbClr val="1A1A2E"/>
                </a:solidFill>
                <a:latin typeface="Calibri"/>
              </a:defRPr>
            </a:pPr>
            <a:r>
              <a:t>Encrypted File System on Disk</a:t>
            </a:r>
          </a:p>
        </p:txBody>
      </p:sp>
      <p:sp>
        <p:nvSpPr>
          <p:cNvPr id="24" name="TextBox 23"/>
          <p:cNvSpPr txBox="1"/>
          <p:nvPr/>
        </p:nvSpPr>
        <p:spPr>
          <a:xfrm>
            <a:off x="1143000" y="2450592"/>
            <a:ext cx="10332720" cy="274320"/>
          </a:xfrm>
          <a:prstGeom prst="rect">
            <a:avLst/>
          </a:prstGeom>
          <a:noFill/>
        </p:spPr>
        <p:txBody>
          <a:bodyPr wrap="square" anchor="t">
            <a:spAutoFit/>
          </a:bodyPr>
          <a:lstStyle/>
          <a:p>
            <a:pPr algn="l">
              <a:defRPr sz="1000" b="0" i="0">
                <a:solidFill>
                  <a:srgbClr val="666677"/>
                </a:solidFill>
                <a:latin typeface="Calibri"/>
              </a:defRPr>
            </a:pPr>
            <a:r>
              <a:t>Build a complete virtual file system in R that stores all data encrypted on disk, ensuring plaintext never touches persistent storage.</a:t>
            </a:r>
          </a:p>
        </p:txBody>
      </p:sp>
      <p:sp>
        <p:nvSpPr>
          <p:cNvPr id="25" name="Rounded Rectangle 24"/>
          <p:cNvSpPr/>
          <p:nvPr/>
        </p:nvSpPr>
        <p:spPr>
          <a:xfrm>
            <a:off x="457200" y="2834639"/>
            <a:ext cx="11247120" cy="64008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080" y="2944367"/>
            <a:ext cx="365760" cy="365760"/>
          </a:xfrm>
          <a:prstGeom prst="ellipse">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2944367"/>
            <a:ext cx="365760" cy="365760"/>
          </a:xfrm>
          <a:prstGeom prst="rect">
            <a:avLst/>
          </a:prstGeom>
          <a:noFill/>
        </p:spPr>
        <p:txBody>
          <a:bodyPr wrap="square" anchor="ctr">
            <a:spAutoFit/>
          </a:bodyPr>
          <a:lstStyle/>
          <a:p>
            <a:pPr algn="ctr">
              <a:defRPr sz="1400" b="1" i="0">
                <a:solidFill>
                  <a:srgbClr val="FFFFFF"/>
                </a:solidFill>
                <a:latin typeface="Consolas"/>
              </a:defRPr>
            </a:pPr>
            <a:r>
              <a:t>02</a:t>
            </a:r>
          </a:p>
        </p:txBody>
      </p:sp>
      <p:sp>
        <p:nvSpPr>
          <p:cNvPr id="28" name="TextBox 27"/>
          <p:cNvSpPr txBox="1"/>
          <p:nvPr/>
        </p:nvSpPr>
        <p:spPr>
          <a:xfrm>
            <a:off x="1143000" y="2907791"/>
            <a:ext cx="10332720" cy="274320"/>
          </a:xfrm>
          <a:prstGeom prst="rect">
            <a:avLst/>
          </a:prstGeom>
          <a:noFill/>
        </p:spPr>
        <p:txBody>
          <a:bodyPr wrap="square" anchor="t">
            <a:spAutoFit/>
          </a:bodyPr>
          <a:lstStyle/>
          <a:p>
            <a:pPr algn="l">
              <a:defRPr sz="1300" b="1" i="0">
                <a:solidFill>
                  <a:srgbClr val="1A1A2E"/>
                </a:solidFill>
                <a:latin typeface="Calibri"/>
              </a:defRPr>
            </a:pPr>
            <a:r>
              <a:t>Military-Grade Encryption</a:t>
            </a:r>
          </a:p>
        </p:txBody>
      </p:sp>
      <p:sp>
        <p:nvSpPr>
          <p:cNvPr id="29" name="TextBox 28"/>
          <p:cNvSpPr txBox="1"/>
          <p:nvPr/>
        </p:nvSpPr>
        <p:spPr>
          <a:xfrm>
            <a:off x="1143000" y="3182111"/>
            <a:ext cx="10332720" cy="274320"/>
          </a:xfrm>
          <a:prstGeom prst="rect">
            <a:avLst/>
          </a:prstGeom>
          <a:noFill/>
        </p:spPr>
        <p:txBody>
          <a:bodyPr wrap="square" anchor="t">
            <a:spAutoFit/>
          </a:bodyPr>
          <a:lstStyle/>
          <a:p>
            <a:pPr algn="l">
              <a:defRPr sz="1000" b="0" i="0">
                <a:solidFill>
                  <a:srgbClr val="666677"/>
                </a:solidFill>
                <a:latin typeface="Calibri"/>
              </a:defRPr>
            </a:pPr>
            <a:r>
              <a:t>Implement AES-256-CBC encryption with PBKDF2 key derivation (100,000 iterations) to defeat brute-force password attacks.</a:t>
            </a:r>
          </a:p>
        </p:txBody>
      </p:sp>
      <p:sp>
        <p:nvSpPr>
          <p:cNvPr id="30" name="Rounded Rectangle 29"/>
          <p:cNvSpPr/>
          <p:nvPr/>
        </p:nvSpPr>
        <p:spPr>
          <a:xfrm>
            <a:off x="457200" y="3566160"/>
            <a:ext cx="11247120" cy="64008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0080" y="3675888"/>
            <a:ext cx="365760" cy="36576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675888"/>
            <a:ext cx="365760" cy="365760"/>
          </a:xfrm>
          <a:prstGeom prst="rect">
            <a:avLst/>
          </a:prstGeom>
          <a:noFill/>
        </p:spPr>
        <p:txBody>
          <a:bodyPr wrap="square" anchor="ctr">
            <a:spAutoFit/>
          </a:bodyPr>
          <a:lstStyle/>
          <a:p>
            <a:pPr algn="ctr">
              <a:defRPr sz="1400" b="1" i="0">
                <a:solidFill>
                  <a:srgbClr val="FFFFFF"/>
                </a:solidFill>
                <a:latin typeface="Consolas"/>
              </a:defRPr>
            </a:pPr>
            <a:r>
              <a:t>03</a:t>
            </a:r>
          </a:p>
        </p:txBody>
      </p:sp>
      <p:sp>
        <p:nvSpPr>
          <p:cNvPr id="33" name="TextBox 32"/>
          <p:cNvSpPr txBox="1"/>
          <p:nvPr/>
        </p:nvSpPr>
        <p:spPr>
          <a:xfrm>
            <a:off x="1143000" y="3639312"/>
            <a:ext cx="10332720" cy="274320"/>
          </a:xfrm>
          <a:prstGeom prst="rect">
            <a:avLst/>
          </a:prstGeom>
          <a:noFill/>
        </p:spPr>
        <p:txBody>
          <a:bodyPr wrap="square" anchor="t">
            <a:spAutoFit/>
          </a:bodyPr>
          <a:lstStyle/>
          <a:p>
            <a:pPr algn="l">
              <a:defRPr sz="1300" b="1" i="0">
                <a:solidFill>
                  <a:srgbClr val="1A1A2E"/>
                </a:solidFill>
                <a:latin typeface="Calibri"/>
              </a:defRPr>
            </a:pPr>
            <a:r>
              <a:t>Seven Self-Destruct Triggers</a:t>
            </a:r>
          </a:p>
        </p:txBody>
      </p:sp>
      <p:sp>
        <p:nvSpPr>
          <p:cNvPr id="34" name="TextBox 33"/>
          <p:cNvSpPr txBox="1"/>
          <p:nvPr/>
        </p:nvSpPr>
        <p:spPr>
          <a:xfrm>
            <a:off x="1143000" y="3913632"/>
            <a:ext cx="10332720" cy="274320"/>
          </a:xfrm>
          <a:prstGeom prst="rect">
            <a:avLst/>
          </a:prstGeom>
          <a:noFill/>
        </p:spPr>
        <p:txBody>
          <a:bodyPr wrap="square" anchor="t">
            <a:spAutoFit/>
          </a:bodyPr>
          <a:lstStyle/>
          <a:p>
            <a:pPr algn="l">
              <a:defRPr sz="1000" b="0" i="0">
                <a:solidFill>
                  <a:srgbClr val="666677"/>
                </a:solidFill>
                <a:latin typeface="Calibri"/>
              </a:defRPr>
            </a:pPr>
            <a:r>
              <a:t>Create 7 independent destruction conditions covering time, access, authentication, and coercion-based scenarios.</a:t>
            </a:r>
          </a:p>
        </p:txBody>
      </p:sp>
      <p:sp>
        <p:nvSpPr>
          <p:cNvPr id="35" name="Rounded Rectangle 34"/>
          <p:cNvSpPr/>
          <p:nvPr/>
        </p:nvSpPr>
        <p:spPr>
          <a:xfrm>
            <a:off x="457200" y="4297680"/>
            <a:ext cx="11247120" cy="64008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0080" y="4407408"/>
            <a:ext cx="365760" cy="365760"/>
          </a:xfrm>
          <a:prstGeom prst="ellips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407408"/>
            <a:ext cx="365760" cy="365760"/>
          </a:xfrm>
          <a:prstGeom prst="rect">
            <a:avLst/>
          </a:prstGeom>
          <a:noFill/>
        </p:spPr>
        <p:txBody>
          <a:bodyPr wrap="square" anchor="ctr">
            <a:spAutoFit/>
          </a:bodyPr>
          <a:lstStyle/>
          <a:p>
            <a:pPr algn="ctr">
              <a:defRPr sz="1400" b="1" i="0">
                <a:solidFill>
                  <a:srgbClr val="FFFFFF"/>
                </a:solidFill>
                <a:latin typeface="Consolas"/>
              </a:defRPr>
            </a:pPr>
            <a:r>
              <a:t>04</a:t>
            </a:r>
          </a:p>
        </p:txBody>
      </p:sp>
      <p:sp>
        <p:nvSpPr>
          <p:cNvPr id="38" name="TextBox 37"/>
          <p:cNvSpPr txBox="1"/>
          <p:nvPr/>
        </p:nvSpPr>
        <p:spPr>
          <a:xfrm>
            <a:off x="1143000" y="4370832"/>
            <a:ext cx="10332720" cy="274320"/>
          </a:xfrm>
          <a:prstGeom prst="rect">
            <a:avLst/>
          </a:prstGeom>
          <a:noFill/>
        </p:spPr>
        <p:txBody>
          <a:bodyPr wrap="square" anchor="t">
            <a:spAutoFit/>
          </a:bodyPr>
          <a:lstStyle/>
          <a:p>
            <a:pPr algn="l">
              <a:defRPr sz="1300" b="1" i="0">
                <a:solidFill>
                  <a:srgbClr val="1A1A2E"/>
                </a:solidFill>
                <a:latin typeface="Calibri"/>
              </a:defRPr>
            </a:pPr>
            <a:r>
              <a:t>Forensic-Proof Secure Wipe</a:t>
            </a:r>
          </a:p>
        </p:txBody>
      </p:sp>
      <p:sp>
        <p:nvSpPr>
          <p:cNvPr id="39" name="TextBox 38"/>
          <p:cNvSpPr txBox="1"/>
          <p:nvPr/>
        </p:nvSpPr>
        <p:spPr>
          <a:xfrm>
            <a:off x="1143000" y="4645152"/>
            <a:ext cx="10332720" cy="274320"/>
          </a:xfrm>
          <a:prstGeom prst="rect">
            <a:avLst/>
          </a:prstGeom>
          <a:noFill/>
        </p:spPr>
        <p:txBody>
          <a:bodyPr wrap="square" anchor="t">
            <a:spAutoFit/>
          </a:bodyPr>
          <a:lstStyle/>
          <a:p>
            <a:pPr algn="l">
              <a:defRPr sz="1000" b="0" i="0">
                <a:solidFill>
                  <a:srgbClr val="666677"/>
                </a:solidFill>
                <a:latin typeface="Calibri"/>
              </a:defRPr>
            </a:pPr>
            <a:r>
              <a:t>Implement 4-pass disk overwrite protocol (3x random + 1x zeros) to prevent forensic data recovery from disk.</a:t>
            </a:r>
          </a:p>
        </p:txBody>
      </p:sp>
      <p:sp>
        <p:nvSpPr>
          <p:cNvPr id="40" name="Rounded Rectangle 39"/>
          <p:cNvSpPr/>
          <p:nvPr/>
        </p:nvSpPr>
        <p:spPr>
          <a:xfrm>
            <a:off x="457200" y="5029200"/>
            <a:ext cx="11247120" cy="64008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40080" y="5138928"/>
            <a:ext cx="365760" cy="365760"/>
          </a:xfrm>
          <a:prstGeom prst="ellipse">
            <a:avLst/>
          </a:prstGeom>
          <a:solidFill>
            <a:srgbClr val="1B9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138928"/>
            <a:ext cx="365760" cy="365760"/>
          </a:xfrm>
          <a:prstGeom prst="rect">
            <a:avLst/>
          </a:prstGeom>
          <a:noFill/>
        </p:spPr>
        <p:txBody>
          <a:bodyPr wrap="square" anchor="ctr">
            <a:spAutoFit/>
          </a:bodyPr>
          <a:lstStyle/>
          <a:p>
            <a:pPr algn="ctr">
              <a:defRPr sz="1400" b="1" i="0">
                <a:solidFill>
                  <a:srgbClr val="FFFFFF"/>
                </a:solidFill>
                <a:latin typeface="Consolas"/>
              </a:defRPr>
            </a:pPr>
            <a:r>
              <a:t>05</a:t>
            </a:r>
          </a:p>
        </p:txBody>
      </p:sp>
      <p:sp>
        <p:nvSpPr>
          <p:cNvPr id="43" name="TextBox 42"/>
          <p:cNvSpPr txBox="1"/>
          <p:nvPr/>
        </p:nvSpPr>
        <p:spPr>
          <a:xfrm>
            <a:off x="1143000" y="5102352"/>
            <a:ext cx="10332720" cy="274320"/>
          </a:xfrm>
          <a:prstGeom prst="rect">
            <a:avLst/>
          </a:prstGeom>
          <a:noFill/>
        </p:spPr>
        <p:txBody>
          <a:bodyPr wrap="square" anchor="t">
            <a:spAutoFit/>
          </a:bodyPr>
          <a:lstStyle/>
          <a:p>
            <a:pPr algn="l">
              <a:defRPr sz="1300" b="1" i="0">
                <a:solidFill>
                  <a:srgbClr val="1A1A2E"/>
                </a:solidFill>
                <a:latin typeface="Calibri"/>
              </a:defRPr>
            </a:pPr>
            <a:r>
              <a:t>Persistent Encrypted Containers</a:t>
            </a:r>
          </a:p>
        </p:txBody>
      </p:sp>
      <p:sp>
        <p:nvSpPr>
          <p:cNvPr id="44" name="TextBox 43"/>
          <p:cNvSpPr txBox="1"/>
          <p:nvPr/>
        </p:nvSpPr>
        <p:spPr>
          <a:xfrm>
            <a:off x="1143000" y="5376672"/>
            <a:ext cx="10332720" cy="274320"/>
          </a:xfrm>
          <a:prstGeom prst="rect">
            <a:avLst/>
          </a:prstGeom>
          <a:noFill/>
        </p:spPr>
        <p:txBody>
          <a:bodyPr wrap="square" anchor="t">
            <a:spAutoFit/>
          </a:bodyPr>
          <a:lstStyle/>
          <a:p>
            <a:pPr algn="l">
              <a:defRPr sz="1000" b="0" i="0">
                <a:solidFill>
                  <a:srgbClr val="666677"/>
                </a:solidFill>
                <a:latin typeface="Calibri"/>
              </a:defRPr>
            </a:pPr>
            <a:r>
              <a:t>Enable saving and restoring encrypted filesystem state to disk for secure persistence across R sessions.</a:t>
            </a:r>
          </a:p>
        </p:txBody>
      </p:sp>
      <p:sp>
        <p:nvSpPr>
          <p:cNvPr id="45" name="Rounded Rectangle 44"/>
          <p:cNvSpPr/>
          <p:nvPr/>
        </p:nvSpPr>
        <p:spPr>
          <a:xfrm>
            <a:off x="457200" y="5760720"/>
            <a:ext cx="11247120" cy="64008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40080" y="5870448"/>
            <a:ext cx="365760" cy="365760"/>
          </a:xfrm>
          <a:prstGeom prst="ellipse">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870448"/>
            <a:ext cx="365760" cy="365760"/>
          </a:xfrm>
          <a:prstGeom prst="rect">
            <a:avLst/>
          </a:prstGeom>
          <a:noFill/>
        </p:spPr>
        <p:txBody>
          <a:bodyPr wrap="square" anchor="ctr">
            <a:spAutoFit/>
          </a:bodyPr>
          <a:lstStyle/>
          <a:p>
            <a:pPr algn="ctr">
              <a:defRPr sz="1400" b="1" i="0">
                <a:solidFill>
                  <a:srgbClr val="FFFFFF"/>
                </a:solidFill>
                <a:latin typeface="Consolas"/>
              </a:defRPr>
            </a:pPr>
            <a:r>
              <a:t>06</a:t>
            </a:r>
          </a:p>
        </p:txBody>
      </p:sp>
      <p:sp>
        <p:nvSpPr>
          <p:cNvPr id="48" name="TextBox 47"/>
          <p:cNvSpPr txBox="1"/>
          <p:nvPr/>
        </p:nvSpPr>
        <p:spPr>
          <a:xfrm>
            <a:off x="1143000" y="5833872"/>
            <a:ext cx="10332720" cy="274320"/>
          </a:xfrm>
          <a:prstGeom prst="rect">
            <a:avLst/>
          </a:prstGeom>
          <a:noFill/>
        </p:spPr>
        <p:txBody>
          <a:bodyPr wrap="square" anchor="t">
            <a:spAutoFit/>
          </a:bodyPr>
          <a:lstStyle/>
          <a:p>
            <a:pPr algn="l">
              <a:defRPr sz="1300" b="1" i="0">
                <a:solidFill>
                  <a:srgbClr val="1A1A2E"/>
                </a:solidFill>
                <a:latin typeface="Calibri"/>
              </a:defRPr>
            </a:pPr>
            <a:r>
              <a:t>Comprehensive Audit Trail</a:t>
            </a:r>
          </a:p>
        </p:txBody>
      </p:sp>
      <p:sp>
        <p:nvSpPr>
          <p:cNvPr id="49" name="TextBox 48"/>
          <p:cNvSpPr txBox="1"/>
          <p:nvPr/>
        </p:nvSpPr>
        <p:spPr>
          <a:xfrm>
            <a:off x="1143000" y="6108192"/>
            <a:ext cx="10332720" cy="274320"/>
          </a:xfrm>
          <a:prstGeom prst="rect">
            <a:avLst/>
          </a:prstGeom>
          <a:noFill/>
        </p:spPr>
        <p:txBody>
          <a:bodyPr wrap="square" anchor="t">
            <a:spAutoFit/>
          </a:bodyPr>
          <a:lstStyle/>
          <a:p>
            <a:pPr algn="l">
              <a:defRPr sz="1000" b="0" i="0">
                <a:solidFill>
                  <a:srgbClr val="666677"/>
                </a:solidFill>
                <a:latin typeface="Calibri"/>
              </a:defRPr>
            </a:pPr>
            <a:r>
              <a:t>Record every operation with timestamps for complete forensic trail enabling GDPR and HIPAA compliance.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13</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METHODOLOGY</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Development Phases and Technology Stack</a:t>
            </a:r>
          </a:p>
        </p:txBody>
      </p:sp>
      <p:sp>
        <p:nvSpPr>
          <p:cNvPr id="20" name="Rounded Rectangle 19"/>
          <p:cNvSpPr/>
          <p:nvPr/>
        </p:nvSpPr>
        <p:spPr>
          <a:xfrm>
            <a:off x="457200" y="2103120"/>
            <a:ext cx="2606040" cy="2286000"/>
          </a:xfrm>
          <a:prstGeom prst="roundRect">
            <a:avLst/>
          </a:prstGeom>
          <a:solidFill>
            <a:srgbClr val="F0F2F7"/>
          </a:solidFill>
          <a:ln w="2540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344" y="2112264"/>
            <a:ext cx="2587752" cy="508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240280"/>
            <a:ext cx="2606040" cy="274320"/>
          </a:xfrm>
          <a:prstGeom prst="rect">
            <a:avLst/>
          </a:prstGeom>
          <a:noFill/>
        </p:spPr>
        <p:txBody>
          <a:bodyPr wrap="square" anchor="t">
            <a:spAutoFit/>
          </a:bodyPr>
          <a:lstStyle/>
          <a:p>
            <a:pPr algn="ctr">
              <a:defRPr sz="1100" b="1" i="0">
                <a:solidFill>
                  <a:srgbClr val="1A3C6E"/>
                </a:solidFill>
                <a:latin typeface="Consolas"/>
              </a:defRPr>
            </a:pPr>
            <a:r>
              <a:t>PHASE 1</a:t>
            </a:r>
          </a:p>
        </p:txBody>
      </p:sp>
      <p:sp>
        <p:nvSpPr>
          <p:cNvPr id="23" name="TextBox 22"/>
          <p:cNvSpPr txBox="1"/>
          <p:nvPr/>
        </p:nvSpPr>
        <p:spPr>
          <a:xfrm>
            <a:off x="457200" y="2514600"/>
            <a:ext cx="2606040" cy="182880"/>
          </a:xfrm>
          <a:prstGeom prst="rect">
            <a:avLst/>
          </a:prstGeom>
          <a:noFill/>
        </p:spPr>
        <p:txBody>
          <a:bodyPr wrap="square" anchor="t">
            <a:spAutoFit/>
          </a:bodyPr>
          <a:lstStyle/>
          <a:p>
            <a:pPr algn="ctr">
              <a:defRPr sz="1000" b="0" i="0">
                <a:solidFill>
                  <a:srgbClr val="666677"/>
                </a:solidFill>
                <a:latin typeface="Consolas"/>
              </a:defRPr>
            </a:pPr>
            <a:r>
              <a:t>Design</a:t>
            </a:r>
          </a:p>
        </p:txBody>
      </p:sp>
      <p:sp>
        <p:nvSpPr>
          <p:cNvPr id="24" name="Rectangle 23"/>
          <p:cNvSpPr/>
          <p:nvPr/>
        </p:nvSpPr>
        <p:spPr>
          <a:xfrm>
            <a:off x="594360" y="2743200"/>
            <a:ext cx="23317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2834640"/>
            <a:ext cx="2240280" cy="1371600"/>
          </a:xfrm>
          <a:prstGeom prst="rect">
            <a:avLst/>
          </a:prstGeom>
          <a:noFill/>
        </p:spPr>
        <p:txBody>
          <a:bodyPr wrap="square" anchor="t">
            <a:spAutoFit/>
          </a:bodyPr>
          <a:lstStyle/>
          <a:p>
            <a:pPr algn="l">
              <a:defRPr sz="1000" b="0" i="0">
                <a:solidFill>
                  <a:srgbClr val="333344"/>
                </a:solidFill>
                <a:latin typeface="Calibri"/>
              </a:defRPr>
            </a:pPr>
            <a:r>
              <a:t>Requirements analysis</a:t>
            </a:r>
            <a:br/>
            <a:r>
              <a:t>Architecture design</a:t>
            </a:r>
            <a:br/>
            <a:r>
              <a:t>Algorithm selection</a:t>
            </a:r>
            <a:br/>
            <a:r>
              <a:t>Trigger planning</a:t>
            </a:r>
          </a:p>
        </p:txBody>
      </p:sp>
      <p:sp>
        <p:nvSpPr>
          <p:cNvPr id="26" name="TextBox 25"/>
          <p:cNvSpPr txBox="1"/>
          <p:nvPr/>
        </p:nvSpPr>
        <p:spPr>
          <a:xfrm>
            <a:off x="3063240" y="3108960"/>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27" name="Rounded Rectangle 26"/>
          <p:cNvSpPr/>
          <p:nvPr/>
        </p:nvSpPr>
        <p:spPr>
          <a:xfrm>
            <a:off x="3337560" y="2103120"/>
            <a:ext cx="2606040" cy="2286000"/>
          </a:xfrm>
          <a:prstGeom prst="roundRect">
            <a:avLst/>
          </a:prstGeom>
          <a:solidFill>
            <a:srgbClr val="F0F2F7"/>
          </a:solidFill>
          <a:ln w="254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46704" y="2112264"/>
            <a:ext cx="2587752" cy="50800"/>
          </a:xfrm>
          <a:prstGeom prst="rect">
            <a:avLst/>
          </a:prstGeom>
          <a:solidFill>
            <a:srgbClr val="1B9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7560" y="2240280"/>
            <a:ext cx="2606040" cy="274320"/>
          </a:xfrm>
          <a:prstGeom prst="rect">
            <a:avLst/>
          </a:prstGeom>
          <a:noFill/>
        </p:spPr>
        <p:txBody>
          <a:bodyPr wrap="square" anchor="t">
            <a:spAutoFit/>
          </a:bodyPr>
          <a:lstStyle/>
          <a:p>
            <a:pPr algn="ctr">
              <a:defRPr sz="1100" b="1" i="0">
                <a:solidFill>
                  <a:srgbClr val="1B9E5E"/>
                </a:solidFill>
                <a:latin typeface="Consolas"/>
              </a:defRPr>
            </a:pPr>
            <a:r>
              <a:t>PHASE 2</a:t>
            </a:r>
          </a:p>
        </p:txBody>
      </p:sp>
      <p:sp>
        <p:nvSpPr>
          <p:cNvPr id="30" name="TextBox 29"/>
          <p:cNvSpPr txBox="1"/>
          <p:nvPr/>
        </p:nvSpPr>
        <p:spPr>
          <a:xfrm>
            <a:off x="3337560" y="2514600"/>
            <a:ext cx="2606040" cy="182880"/>
          </a:xfrm>
          <a:prstGeom prst="rect">
            <a:avLst/>
          </a:prstGeom>
          <a:noFill/>
        </p:spPr>
        <p:txBody>
          <a:bodyPr wrap="square" anchor="t">
            <a:spAutoFit/>
          </a:bodyPr>
          <a:lstStyle/>
          <a:p>
            <a:pPr algn="ctr">
              <a:defRPr sz="1000" b="0" i="0">
                <a:solidFill>
                  <a:srgbClr val="666677"/>
                </a:solidFill>
                <a:latin typeface="Consolas"/>
              </a:defRPr>
            </a:pPr>
            <a:r>
              <a:t>Core Dev</a:t>
            </a:r>
          </a:p>
        </p:txBody>
      </p:sp>
      <p:sp>
        <p:nvSpPr>
          <p:cNvPr id="31" name="Rectangle 30"/>
          <p:cNvSpPr/>
          <p:nvPr/>
        </p:nvSpPr>
        <p:spPr>
          <a:xfrm>
            <a:off x="3474720" y="2743200"/>
            <a:ext cx="23317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20440" y="2834640"/>
            <a:ext cx="2240280" cy="1371600"/>
          </a:xfrm>
          <a:prstGeom prst="rect">
            <a:avLst/>
          </a:prstGeom>
          <a:noFill/>
        </p:spPr>
        <p:txBody>
          <a:bodyPr wrap="square" anchor="t">
            <a:spAutoFit/>
          </a:bodyPr>
          <a:lstStyle/>
          <a:p>
            <a:pPr algn="l">
              <a:defRPr sz="1000" b="0" i="0">
                <a:solidFill>
                  <a:srgbClr val="333344"/>
                </a:solidFill>
                <a:latin typeface="Calibri"/>
              </a:defRPr>
            </a:pPr>
            <a:r>
              <a:t>R6 class structure</a:t>
            </a:r>
            <a:br/>
            <a:r>
              <a:t>Encryption engine</a:t>
            </a:r>
            <a:br/>
            <a:r>
              <a:t>Disk file storage</a:t>
            </a:r>
            <a:br/>
            <a:r>
              <a:t>Auth system</a:t>
            </a:r>
          </a:p>
        </p:txBody>
      </p:sp>
      <p:sp>
        <p:nvSpPr>
          <p:cNvPr id="33" name="TextBox 32"/>
          <p:cNvSpPr txBox="1"/>
          <p:nvPr/>
        </p:nvSpPr>
        <p:spPr>
          <a:xfrm>
            <a:off x="5943600" y="3108960"/>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34" name="Rounded Rectangle 33"/>
          <p:cNvSpPr/>
          <p:nvPr/>
        </p:nvSpPr>
        <p:spPr>
          <a:xfrm>
            <a:off x="6217920" y="2103120"/>
            <a:ext cx="2606040" cy="2286000"/>
          </a:xfrm>
          <a:prstGeom prst="roundRect">
            <a:avLst/>
          </a:prstGeom>
          <a:solidFill>
            <a:srgbClr val="F0F2F7"/>
          </a:solidFill>
          <a:ln w="2540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27064" y="2112264"/>
            <a:ext cx="2587752" cy="508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2240280"/>
            <a:ext cx="2606040" cy="274320"/>
          </a:xfrm>
          <a:prstGeom prst="rect">
            <a:avLst/>
          </a:prstGeom>
          <a:noFill/>
        </p:spPr>
        <p:txBody>
          <a:bodyPr wrap="square" anchor="t">
            <a:spAutoFit/>
          </a:bodyPr>
          <a:lstStyle/>
          <a:p>
            <a:pPr algn="ctr">
              <a:defRPr sz="1100" b="1" i="0">
                <a:solidFill>
                  <a:srgbClr val="D41F2C"/>
                </a:solidFill>
                <a:latin typeface="Consolas"/>
              </a:defRPr>
            </a:pPr>
            <a:r>
              <a:t>PHASE 3</a:t>
            </a:r>
          </a:p>
        </p:txBody>
      </p:sp>
      <p:sp>
        <p:nvSpPr>
          <p:cNvPr id="37" name="TextBox 36"/>
          <p:cNvSpPr txBox="1"/>
          <p:nvPr/>
        </p:nvSpPr>
        <p:spPr>
          <a:xfrm>
            <a:off x="6217920" y="2514600"/>
            <a:ext cx="2606040" cy="182880"/>
          </a:xfrm>
          <a:prstGeom prst="rect">
            <a:avLst/>
          </a:prstGeom>
          <a:noFill/>
        </p:spPr>
        <p:txBody>
          <a:bodyPr wrap="square" anchor="t">
            <a:spAutoFit/>
          </a:bodyPr>
          <a:lstStyle/>
          <a:p>
            <a:pPr algn="ctr">
              <a:defRPr sz="1000" b="0" i="0">
                <a:solidFill>
                  <a:srgbClr val="666677"/>
                </a:solidFill>
                <a:latin typeface="Consolas"/>
              </a:defRPr>
            </a:pPr>
            <a:r>
              <a:t>Security</a:t>
            </a:r>
          </a:p>
        </p:txBody>
      </p:sp>
      <p:sp>
        <p:nvSpPr>
          <p:cNvPr id="38" name="Rectangle 37"/>
          <p:cNvSpPr/>
          <p:nvPr/>
        </p:nvSpPr>
        <p:spPr>
          <a:xfrm>
            <a:off x="6355080" y="2743200"/>
            <a:ext cx="23317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2834640"/>
            <a:ext cx="2240280" cy="1371600"/>
          </a:xfrm>
          <a:prstGeom prst="rect">
            <a:avLst/>
          </a:prstGeom>
          <a:noFill/>
        </p:spPr>
        <p:txBody>
          <a:bodyPr wrap="square" anchor="t">
            <a:spAutoFit/>
          </a:bodyPr>
          <a:lstStyle/>
          <a:p>
            <a:pPr algn="l">
              <a:defRPr sz="1000" b="0" i="0">
                <a:solidFill>
                  <a:srgbClr val="333344"/>
                </a:solidFill>
                <a:latin typeface="Calibri"/>
              </a:defRPr>
            </a:pPr>
            <a:r>
              <a:t>7 trigger types</a:t>
            </a:r>
            <a:br/>
            <a:r>
              <a:t>Secure wipe protocol</a:t>
            </a:r>
            <a:br/>
            <a:r>
              <a:t>Integrity verification</a:t>
            </a:r>
            <a:br/>
            <a:r>
              <a:t>Audit logging</a:t>
            </a:r>
          </a:p>
        </p:txBody>
      </p:sp>
      <p:sp>
        <p:nvSpPr>
          <p:cNvPr id="40" name="TextBox 39"/>
          <p:cNvSpPr txBox="1"/>
          <p:nvPr/>
        </p:nvSpPr>
        <p:spPr>
          <a:xfrm>
            <a:off x="8823960" y="3108960"/>
            <a:ext cx="274320" cy="274320"/>
          </a:xfrm>
          <a:prstGeom prst="rect">
            <a:avLst/>
          </a:prstGeom>
          <a:noFill/>
        </p:spPr>
        <p:txBody>
          <a:bodyPr wrap="square" anchor="ctr">
            <a:spAutoFit/>
          </a:bodyPr>
          <a:lstStyle/>
          <a:p>
            <a:pPr algn="ctr">
              <a:defRPr sz="1600" b="0" i="0">
                <a:solidFill>
                  <a:srgbClr val="9999AA"/>
                </a:solidFill>
                <a:latin typeface="Consolas"/>
              </a:defRPr>
            </a:pPr>
            <a:r>
              <a:t>→</a:t>
            </a:r>
          </a:p>
        </p:txBody>
      </p:sp>
      <p:sp>
        <p:nvSpPr>
          <p:cNvPr id="41" name="Rounded Rectangle 40"/>
          <p:cNvSpPr/>
          <p:nvPr/>
        </p:nvSpPr>
        <p:spPr>
          <a:xfrm>
            <a:off x="9098280" y="2103120"/>
            <a:ext cx="2606040" cy="2286000"/>
          </a:xfrm>
          <a:prstGeom prst="roundRect">
            <a:avLst/>
          </a:prstGeom>
          <a:solidFill>
            <a:srgbClr val="F0F2F7"/>
          </a:solidFill>
          <a:ln w="2540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07424" y="2112264"/>
            <a:ext cx="2587752" cy="5080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98280" y="2240280"/>
            <a:ext cx="2606040" cy="274320"/>
          </a:xfrm>
          <a:prstGeom prst="rect">
            <a:avLst/>
          </a:prstGeom>
          <a:noFill/>
        </p:spPr>
        <p:txBody>
          <a:bodyPr wrap="square" anchor="t">
            <a:spAutoFit/>
          </a:bodyPr>
          <a:lstStyle/>
          <a:p>
            <a:pPr algn="ctr">
              <a:defRPr sz="1100" b="1" i="0">
                <a:solidFill>
                  <a:srgbClr val="E68A00"/>
                </a:solidFill>
                <a:latin typeface="Consolas"/>
              </a:defRPr>
            </a:pPr>
            <a:r>
              <a:t>PHASE 4</a:t>
            </a:r>
          </a:p>
        </p:txBody>
      </p:sp>
      <p:sp>
        <p:nvSpPr>
          <p:cNvPr id="44" name="TextBox 43"/>
          <p:cNvSpPr txBox="1"/>
          <p:nvPr/>
        </p:nvSpPr>
        <p:spPr>
          <a:xfrm>
            <a:off x="9098280" y="2514600"/>
            <a:ext cx="2606040" cy="182880"/>
          </a:xfrm>
          <a:prstGeom prst="rect">
            <a:avLst/>
          </a:prstGeom>
          <a:noFill/>
        </p:spPr>
        <p:txBody>
          <a:bodyPr wrap="square" anchor="t">
            <a:spAutoFit/>
          </a:bodyPr>
          <a:lstStyle/>
          <a:p>
            <a:pPr algn="ctr">
              <a:defRPr sz="1000" b="0" i="0">
                <a:solidFill>
                  <a:srgbClr val="666677"/>
                </a:solidFill>
                <a:latin typeface="Consolas"/>
              </a:defRPr>
            </a:pPr>
            <a:r>
              <a:t>Testing</a:t>
            </a:r>
          </a:p>
        </p:txBody>
      </p:sp>
      <p:sp>
        <p:nvSpPr>
          <p:cNvPr id="45" name="Rectangle 44"/>
          <p:cNvSpPr/>
          <p:nvPr/>
        </p:nvSpPr>
        <p:spPr>
          <a:xfrm>
            <a:off x="9235440" y="2743200"/>
            <a:ext cx="23317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81160" y="2834640"/>
            <a:ext cx="2240280" cy="1371600"/>
          </a:xfrm>
          <a:prstGeom prst="rect">
            <a:avLst/>
          </a:prstGeom>
          <a:noFill/>
        </p:spPr>
        <p:txBody>
          <a:bodyPr wrap="square" anchor="t">
            <a:spAutoFit/>
          </a:bodyPr>
          <a:lstStyle/>
          <a:p>
            <a:pPr algn="l">
              <a:defRPr sz="1000" b="0" i="0">
                <a:solidFill>
                  <a:srgbClr val="333344"/>
                </a:solidFill>
                <a:latin typeface="Calibri"/>
              </a:defRPr>
            </a:pPr>
            <a:r>
              <a:t>Unit testing</a:t>
            </a:r>
            <a:br/>
            <a:r>
              <a:t>Integration tests</a:t>
            </a:r>
            <a:br/>
            <a:r>
              <a:t>Security validation</a:t>
            </a:r>
            <a:br/>
            <a:r>
              <a:t>Benchmarks</a:t>
            </a:r>
          </a:p>
        </p:txBody>
      </p:sp>
      <p:sp>
        <p:nvSpPr>
          <p:cNvPr id="47" name="Rectangle 46"/>
          <p:cNvSpPr/>
          <p:nvPr/>
        </p:nvSpPr>
        <p:spPr>
          <a:xfrm>
            <a:off x="457200" y="4572000"/>
            <a:ext cx="11247120" cy="12700"/>
          </a:xfrm>
          <a:prstGeom prst="rect">
            <a:avLst/>
          </a:prstGeom>
          <a:solidFill>
            <a:srgbClr val="D0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663440"/>
            <a:ext cx="11247120" cy="274320"/>
          </a:xfrm>
          <a:prstGeom prst="rect">
            <a:avLst/>
          </a:prstGeom>
          <a:noFill/>
        </p:spPr>
        <p:txBody>
          <a:bodyPr wrap="square" anchor="t">
            <a:spAutoFit/>
          </a:bodyPr>
          <a:lstStyle/>
          <a:p>
            <a:pPr algn="ctr">
              <a:defRPr sz="1100" b="1" i="0">
                <a:solidFill>
                  <a:srgbClr val="1A3C6E"/>
                </a:solidFill>
                <a:latin typeface="Consolas"/>
              </a:defRPr>
            </a:pPr>
            <a:r>
              <a:t>TECHNOLOGY STACK</a:t>
            </a:r>
          </a:p>
        </p:txBody>
      </p:sp>
      <p:sp>
        <p:nvSpPr>
          <p:cNvPr id="49" name="Rounded Rectangle 48"/>
          <p:cNvSpPr/>
          <p:nvPr/>
        </p:nvSpPr>
        <p:spPr>
          <a:xfrm>
            <a:off x="640080" y="5029200"/>
            <a:ext cx="1920240" cy="914400"/>
          </a:xfrm>
          <a:prstGeom prst="roundRect">
            <a:avLst/>
          </a:prstGeom>
          <a:solidFill>
            <a:srgbClr val="F0F2F7"/>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5120640"/>
            <a:ext cx="1920240" cy="320040"/>
          </a:xfrm>
          <a:prstGeom prst="rect">
            <a:avLst/>
          </a:prstGeom>
          <a:noFill/>
        </p:spPr>
        <p:txBody>
          <a:bodyPr wrap="square" anchor="t">
            <a:spAutoFit/>
          </a:bodyPr>
          <a:lstStyle/>
          <a:p>
            <a:pPr algn="ctr">
              <a:defRPr sz="1300" b="1" i="0">
                <a:solidFill>
                  <a:srgbClr val="1A3C6E"/>
                </a:solidFill>
                <a:latin typeface="Consolas"/>
              </a:defRPr>
            </a:pPr>
            <a:r>
              <a:t>R 4.0+</a:t>
            </a:r>
          </a:p>
        </p:txBody>
      </p:sp>
      <p:sp>
        <p:nvSpPr>
          <p:cNvPr id="51" name="Rectangle 50"/>
          <p:cNvSpPr/>
          <p:nvPr/>
        </p:nvSpPr>
        <p:spPr>
          <a:xfrm>
            <a:off x="777240" y="5468112"/>
            <a:ext cx="16459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5532120"/>
            <a:ext cx="1920240" cy="320040"/>
          </a:xfrm>
          <a:prstGeom prst="rect">
            <a:avLst/>
          </a:prstGeom>
          <a:noFill/>
        </p:spPr>
        <p:txBody>
          <a:bodyPr wrap="square" anchor="t">
            <a:spAutoFit/>
          </a:bodyPr>
          <a:lstStyle/>
          <a:p>
            <a:pPr algn="ctr">
              <a:defRPr sz="1000" b="0" i="0">
                <a:solidFill>
                  <a:srgbClr val="666677"/>
                </a:solidFill>
                <a:latin typeface="Calibri"/>
              </a:defRPr>
            </a:pPr>
            <a:r>
              <a:t>Language</a:t>
            </a:r>
          </a:p>
        </p:txBody>
      </p:sp>
      <p:sp>
        <p:nvSpPr>
          <p:cNvPr id="53" name="Rounded Rectangle 52"/>
          <p:cNvSpPr/>
          <p:nvPr/>
        </p:nvSpPr>
        <p:spPr>
          <a:xfrm>
            <a:off x="2926080" y="5029200"/>
            <a:ext cx="1920240" cy="914400"/>
          </a:xfrm>
          <a:prstGeom prst="roundRect">
            <a:avLst/>
          </a:prstGeom>
          <a:solidFill>
            <a:srgbClr val="F0F2F7"/>
          </a:solidFill>
          <a:ln w="1905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926080" y="5120640"/>
            <a:ext cx="1920240" cy="320040"/>
          </a:xfrm>
          <a:prstGeom prst="rect">
            <a:avLst/>
          </a:prstGeom>
          <a:noFill/>
        </p:spPr>
        <p:txBody>
          <a:bodyPr wrap="square" anchor="t">
            <a:spAutoFit/>
          </a:bodyPr>
          <a:lstStyle/>
          <a:p>
            <a:pPr algn="ctr">
              <a:defRPr sz="1300" b="1" i="0">
                <a:solidFill>
                  <a:srgbClr val="1B9E5E"/>
                </a:solidFill>
                <a:latin typeface="Consolas"/>
              </a:defRPr>
            </a:pPr>
            <a:r>
              <a:t>R6</a:t>
            </a:r>
          </a:p>
        </p:txBody>
      </p:sp>
      <p:sp>
        <p:nvSpPr>
          <p:cNvPr id="55" name="Rectangle 54"/>
          <p:cNvSpPr/>
          <p:nvPr/>
        </p:nvSpPr>
        <p:spPr>
          <a:xfrm>
            <a:off x="3063240" y="5468112"/>
            <a:ext cx="16459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6080" y="5532120"/>
            <a:ext cx="1920240" cy="320040"/>
          </a:xfrm>
          <a:prstGeom prst="rect">
            <a:avLst/>
          </a:prstGeom>
          <a:noFill/>
        </p:spPr>
        <p:txBody>
          <a:bodyPr wrap="square" anchor="t">
            <a:spAutoFit/>
          </a:bodyPr>
          <a:lstStyle/>
          <a:p>
            <a:pPr algn="ctr">
              <a:defRPr sz="1000" b="0" i="0">
                <a:solidFill>
                  <a:srgbClr val="666677"/>
                </a:solidFill>
                <a:latin typeface="Calibri"/>
              </a:defRPr>
            </a:pPr>
            <a:r>
              <a:t>OOP Framework</a:t>
            </a:r>
          </a:p>
        </p:txBody>
      </p:sp>
      <p:sp>
        <p:nvSpPr>
          <p:cNvPr id="57" name="Rounded Rectangle 56"/>
          <p:cNvSpPr/>
          <p:nvPr/>
        </p:nvSpPr>
        <p:spPr>
          <a:xfrm>
            <a:off x="5212080" y="5029200"/>
            <a:ext cx="1920240" cy="914400"/>
          </a:xfrm>
          <a:prstGeom prst="roundRect">
            <a:avLst/>
          </a:prstGeom>
          <a:solidFill>
            <a:srgbClr val="F0F2F7"/>
          </a:solidFill>
          <a:ln w="1905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212080" y="5120640"/>
            <a:ext cx="1920240" cy="320040"/>
          </a:xfrm>
          <a:prstGeom prst="rect">
            <a:avLst/>
          </a:prstGeom>
          <a:noFill/>
        </p:spPr>
        <p:txBody>
          <a:bodyPr wrap="square" anchor="t">
            <a:spAutoFit/>
          </a:bodyPr>
          <a:lstStyle/>
          <a:p>
            <a:pPr algn="ctr">
              <a:defRPr sz="1300" b="1" i="0">
                <a:solidFill>
                  <a:srgbClr val="D41F2C"/>
                </a:solidFill>
                <a:latin typeface="Consolas"/>
              </a:defRPr>
            </a:pPr>
            <a:r>
              <a:t>openssl</a:t>
            </a:r>
          </a:p>
        </p:txBody>
      </p:sp>
      <p:sp>
        <p:nvSpPr>
          <p:cNvPr id="59" name="Rectangle 58"/>
          <p:cNvSpPr/>
          <p:nvPr/>
        </p:nvSpPr>
        <p:spPr>
          <a:xfrm>
            <a:off x="5349240" y="5468112"/>
            <a:ext cx="16459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12080" y="5532120"/>
            <a:ext cx="1920240" cy="320040"/>
          </a:xfrm>
          <a:prstGeom prst="rect">
            <a:avLst/>
          </a:prstGeom>
          <a:noFill/>
        </p:spPr>
        <p:txBody>
          <a:bodyPr wrap="square" anchor="t">
            <a:spAutoFit/>
          </a:bodyPr>
          <a:lstStyle/>
          <a:p>
            <a:pPr algn="ctr">
              <a:defRPr sz="1000" b="0" i="0">
                <a:solidFill>
                  <a:srgbClr val="666677"/>
                </a:solidFill>
                <a:latin typeface="Calibri"/>
              </a:defRPr>
            </a:pPr>
            <a:r>
              <a:t>AES-256 + PBKDF2</a:t>
            </a:r>
          </a:p>
        </p:txBody>
      </p:sp>
      <p:sp>
        <p:nvSpPr>
          <p:cNvPr id="61" name="Rounded Rectangle 60"/>
          <p:cNvSpPr/>
          <p:nvPr/>
        </p:nvSpPr>
        <p:spPr>
          <a:xfrm>
            <a:off x="7498079" y="5029200"/>
            <a:ext cx="1920240" cy="914400"/>
          </a:xfrm>
          <a:prstGeom prst="roundRect">
            <a:avLst/>
          </a:prstGeom>
          <a:solidFill>
            <a:srgbClr val="F0F2F7"/>
          </a:solidFill>
          <a:ln w="19050">
            <a:solidFill>
              <a:srgbClr val="6C4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98079" y="5120640"/>
            <a:ext cx="1920240" cy="320040"/>
          </a:xfrm>
          <a:prstGeom prst="rect">
            <a:avLst/>
          </a:prstGeom>
          <a:noFill/>
        </p:spPr>
        <p:txBody>
          <a:bodyPr wrap="square" anchor="t">
            <a:spAutoFit/>
          </a:bodyPr>
          <a:lstStyle/>
          <a:p>
            <a:pPr algn="ctr">
              <a:defRPr sz="1300" b="1" i="0">
                <a:solidFill>
                  <a:srgbClr val="6C47C0"/>
                </a:solidFill>
                <a:latin typeface="Consolas"/>
              </a:defRPr>
            </a:pPr>
            <a:r>
              <a:t>digest</a:t>
            </a:r>
          </a:p>
        </p:txBody>
      </p:sp>
      <p:sp>
        <p:nvSpPr>
          <p:cNvPr id="63" name="Rectangle 62"/>
          <p:cNvSpPr/>
          <p:nvPr/>
        </p:nvSpPr>
        <p:spPr>
          <a:xfrm>
            <a:off x="7635239" y="5468112"/>
            <a:ext cx="16459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98079" y="5532120"/>
            <a:ext cx="1920240" cy="320040"/>
          </a:xfrm>
          <a:prstGeom prst="rect">
            <a:avLst/>
          </a:prstGeom>
          <a:noFill/>
        </p:spPr>
        <p:txBody>
          <a:bodyPr wrap="square" anchor="t">
            <a:spAutoFit/>
          </a:bodyPr>
          <a:lstStyle/>
          <a:p>
            <a:pPr algn="ctr">
              <a:defRPr sz="1000" b="0" i="0">
                <a:solidFill>
                  <a:srgbClr val="666677"/>
                </a:solidFill>
                <a:latin typeface="Calibri"/>
              </a:defRPr>
            </a:pPr>
            <a:r>
              <a:t>SHA-256 Hashing</a:t>
            </a:r>
          </a:p>
        </p:txBody>
      </p:sp>
      <p:sp>
        <p:nvSpPr>
          <p:cNvPr id="65" name="Rounded Rectangle 64"/>
          <p:cNvSpPr/>
          <p:nvPr/>
        </p:nvSpPr>
        <p:spPr>
          <a:xfrm>
            <a:off x="9784080" y="5029200"/>
            <a:ext cx="1920240" cy="914400"/>
          </a:xfrm>
          <a:prstGeom prst="roundRect">
            <a:avLst/>
          </a:prstGeom>
          <a:solidFill>
            <a:srgbClr val="F0F2F7"/>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784080" y="5120640"/>
            <a:ext cx="1920240" cy="320040"/>
          </a:xfrm>
          <a:prstGeom prst="rect">
            <a:avLst/>
          </a:prstGeom>
          <a:noFill/>
        </p:spPr>
        <p:txBody>
          <a:bodyPr wrap="square" anchor="t">
            <a:spAutoFit/>
          </a:bodyPr>
          <a:lstStyle/>
          <a:p>
            <a:pPr algn="ctr">
              <a:defRPr sz="1300" b="1" i="0">
                <a:solidFill>
                  <a:srgbClr val="E68A00"/>
                </a:solidFill>
                <a:latin typeface="Consolas"/>
              </a:defRPr>
            </a:pPr>
            <a:r>
              <a:t>testthat</a:t>
            </a:r>
          </a:p>
        </p:txBody>
      </p:sp>
      <p:sp>
        <p:nvSpPr>
          <p:cNvPr id="67" name="Rectangle 66"/>
          <p:cNvSpPr/>
          <p:nvPr/>
        </p:nvSpPr>
        <p:spPr>
          <a:xfrm>
            <a:off x="9921240" y="5468112"/>
            <a:ext cx="16459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784080" y="5532120"/>
            <a:ext cx="1920240" cy="320040"/>
          </a:xfrm>
          <a:prstGeom prst="rect">
            <a:avLst/>
          </a:prstGeom>
          <a:noFill/>
        </p:spPr>
        <p:txBody>
          <a:bodyPr wrap="square" anchor="t">
            <a:spAutoFit/>
          </a:bodyPr>
          <a:lstStyle/>
          <a:p>
            <a:pPr algn="ctr">
              <a:defRPr sz="1000" b="0" i="0">
                <a:solidFill>
                  <a:srgbClr val="666677"/>
                </a:solidFill>
                <a:latin typeface="Calibri"/>
              </a:defRPr>
            </a:pPr>
            <a:r>
              <a:t>Unit Testing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14</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SOFTWARE REQUIREMENTS</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Tools, Packages, and Environment</a:t>
            </a:r>
          </a:p>
        </p:txBody>
      </p:sp>
      <p:sp>
        <p:nvSpPr>
          <p:cNvPr id="20" name="Rounded Rectangle 19"/>
          <p:cNvSpPr/>
          <p:nvPr/>
        </p:nvSpPr>
        <p:spPr>
          <a:xfrm>
            <a:off x="457200" y="2103120"/>
            <a:ext cx="5440680" cy="1645920"/>
          </a:xfrm>
          <a:prstGeom prst="roundRect">
            <a:avLst/>
          </a:prstGeom>
          <a:solidFill>
            <a:srgbClr val="F0F2F7"/>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344" y="2112264"/>
            <a:ext cx="5422392" cy="508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212848"/>
            <a:ext cx="5074920" cy="274320"/>
          </a:xfrm>
          <a:prstGeom prst="rect">
            <a:avLst/>
          </a:prstGeom>
          <a:noFill/>
        </p:spPr>
        <p:txBody>
          <a:bodyPr wrap="square" anchor="t">
            <a:spAutoFit/>
          </a:bodyPr>
          <a:lstStyle/>
          <a:p>
            <a:pPr algn="l">
              <a:defRPr sz="1400" b="1" i="0">
                <a:solidFill>
                  <a:srgbClr val="1A3C6E"/>
                </a:solidFill>
                <a:latin typeface="Consolas"/>
              </a:defRPr>
            </a:pPr>
            <a:r>
              <a:t>R 4.0+</a:t>
            </a:r>
          </a:p>
        </p:txBody>
      </p:sp>
      <p:sp>
        <p:nvSpPr>
          <p:cNvPr id="23" name="TextBox 22"/>
          <p:cNvSpPr txBox="1"/>
          <p:nvPr/>
        </p:nvSpPr>
        <p:spPr>
          <a:xfrm>
            <a:off x="640080" y="2468880"/>
            <a:ext cx="5074920" cy="182880"/>
          </a:xfrm>
          <a:prstGeom prst="rect">
            <a:avLst/>
          </a:prstGeom>
          <a:noFill/>
        </p:spPr>
        <p:txBody>
          <a:bodyPr wrap="square" anchor="t">
            <a:spAutoFit/>
          </a:bodyPr>
          <a:lstStyle/>
          <a:p>
            <a:pPr algn="l">
              <a:defRPr sz="900" b="0" i="0">
                <a:solidFill>
                  <a:srgbClr val="9999AA"/>
                </a:solidFill>
                <a:latin typeface="Consolas"/>
              </a:defRPr>
            </a:pPr>
            <a:r>
              <a:t>Core Language</a:t>
            </a:r>
          </a:p>
        </p:txBody>
      </p:sp>
      <p:sp>
        <p:nvSpPr>
          <p:cNvPr id="24" name="Rectangle 23"/>
          <p:cNvSpPr/>
          <p:nvPr/>
        </p:nvSpPr>
        <p:spPr>
          <a:xfrm>
            <a:off x="640080" y="2697480"/>
            <a:ext cx="50749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2788920"/>
            <a:ext cx="5074920" cy="594360"/>
          </a:xfrm>
          <a:prstGeom prst="rect">
            <a:avLst/>
          </a:prstGeom>
          <a:noFill/>
        </p:spPr>
        <p:txBody>
          <a:bodyPr wrap="square" anchor="t">
            <a:spAutoFit/>
          </a:bodyPr>
          <a:lstStyle/>
          <a:p>
            <a:pPr algn="l">
              <a:defRPr sz="1000" b="0" i="0">
                <a:solidFill>
                  <a:srgbClr val="333344"/>
                </a:solidFill>
                <a:latin typeface="Calibri"/>
              </a:defRPr>
            </a:pPr>
            <a:r>
              <a:t>Primary implementation language.</a:t>
            </a:r>
            <a:br/>
            <a:r>
              <a:t>Direct integration with data science</a:t>
            </a:r>
            <a:br/>
            <a:r>
              <a:t>workflows. Cross-platform support.</a:t>
            </a:r>
          </a:p>
        </p:txBody>
      </p:sp>
      <p:sp>
        <p:nvSpPr>
          <p:cNvPr id="26" name="Rounded Rectangle 25"/>
          <p:cNvSpPr/>
          <p:nvPr/>
        </p:nvSpPr>
        <p:spPr>
          <a:xfrm>
            <a:off x="640080" y="3429000"/>
            <a:ext cx="5074920" cy="228600"/>
          </a:xfrm>
          <a:prstGeom prst="roundRect">
            <a:avLst/>
          </a:prstGeom>
          <a:solidFill>
            <a:srgbClr val="E8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429000"/>
            <a:ext cx="4892040" cy="228600"/>
          </a:xfrm>
          <a:prstGeom prst="rect">
            <a:avLst/>
          </a:prstGeom>
          <a:noFill/>
        </p:spPr>
        <p:txBody>
          <a:bodyPr wrap="square" anchor="ctr">
            <a:spAutoFit/>
          </a:bodyPr>
          <a:lstStyle/>
          <a:p>
            <a:pPr algn="l">
              <a:defRPr sz="900" b="0" i="0">
                <a:solidFill>
                  <a:srgbClr val="666677"/>
                </a:solidFill>
                <a:latin typeface="Consolas"/>
              </a:defRPr>
            </a:pPr>
            <a:r>
              <a:t>Pre-installed or CRAN</a:t>
            </a:r>
          </a:p>
        </p:txBody>
      </p:sp>
      <p:sp>
        <p:nvSpPr>
          <p:cNvPr id="28" name="Rounded Rectangle 27"/>
          <p:cNvSpPr/>
          <p:nvPr/>
        </p:nvSpPr>
        <p:spPr>
          <a:xfrm>
            <a:off x="6263640" y="2103120"/>
            <a:ext cx="5440680" cy="1645920"/>
          </a:xfrm>
          <a:prstGeom prst="roundRect">
            <a:avLst/>
          </a:prstGeom>
          <a:solidFill>
            <a:srgbClr val="F0F2F7"/>
          </a:solidFill>
          <a:ln w="1905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72784" y="2112264"/>
            <a:ext cx="5422392" cy="50800"/>
          </a:xfrm>
          <a:prstGeom prst="rect">
            <a:avLst/>
          </a:prstGeom>
          <a:solidFill>
            <a:srgbClr val="1B9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2212848"/>
            <a:ext cx="5074920" cy="274320"/>
          </a:xfrm>
          <a:prstGeom prst="rect">
            <a:avLst/>
          </a:prstGeom>
          <a:noFill/>
        </p:spPr>
        <p:txBody>
          <a:bodyPr wrap="square" anchor="t">
            <a:spAutoFit/>
          </a:bodyPr>
          <a:lstStyle/>
          <a:p>
            <a:pPr algn="l">
              <a:defRPr sz="1400" b="1" i="0">
                <a:solidFill>
                  <a:srgbClr val="1B9E5E"/>
                </a:solidFill>
                <a:latin typeface="Consolas"/>
              </a:defRPr>
            </a:pPr>
            <a:r>
              <a:t>R6 Package</a:t>
            </a:r>
          </a:p>
        </p:txBody>
      </p:sp>
      <p:sp>
        <p:nvSpPr>
          <p:cNvPr id="31" name="TextBox 30"/>
          <p:cNvSpPr txBox="1"/>
          <p:nvPr/>
        </p:nvSpPr>
        <p:spPr>
          <a:xfrm>
            <a:off x="6446520" y="2468880"/>
            <a:ext cx="5074920" cy="182880"/>
          </a:xfrm>
          <a:prstGeom prst="rect">
            <a:avLst/>
          </a:prstGeom>
          <a:noFill/>
        </p:spPr>
        <p:txBody>
          <a:bodyPr wrap="square" anchor="t">
            <a:spAutoFit/>
          </a:bodyPr>
          <a:lstStyle/>
          <a:p>
            <a:pPr algn="l">
              <a:defRPr sz="900" b="0" i="0">
                <a:solidFill>
                  <a:srgbClr val="9999AA"/>
                </a:solidFill>
                <a:latin typeface="Consolas"/>
              </a:defRPr>
            </a:pPr>
            <a:r>
              <a:t>OOP Framework</a:t>
            </a:r>
          </a:p>
        </p:txBody>
      </p:sp>
      <p:sp>
        <p:nvSpPr>
          <p:cNvPr id="32" name="Rectangle 31"/>
          <p:cNvSpPr/>
          <p:nvPr/>
        </p:nvSpPr>
        <p:spPr>
          <a:xfrm>
            <a:off x="6446520" y="2697480"/>
            <a:ext cx="50749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2788920"/>
            <a:ext cx="5074920" cy="594360"/>
          </a:xfrm>
          <a:prstGeom prst="rect">
            <a:avLst/>
          </a:prstGeom>
          <a:noFill/>
        </p:spPr>
        <p:txBody>
          <a:bodyPr wrap="square" anchor="t">
            <a:spAutoFit/>
          </a:bodyPr>
          <a:lstStyle/>
          <a:p>
            <a:pPr algn="l">
              <a:defRPr sz="1000" b="0" i="0">
                <a:solidFill>
                  <a:srgbClr val="333344"/>
                </a:solidFill>
                <a:latin typeface="Calibri"/>
              </a:defRPr>
            </a:pPr>
            <a:r>
              <a:t>Reference semantics for mutable state.</a:t>
            </a:r>
            <a:br/>
            <a:r>
              <a:t>Encapsulates keys, file tree,</a:t>
            </a:r>
            <a:br/>
            <a:r>
              <a:t>and audit logs in single object.</a:t>
            </a:r>
          </a:p>
        </p:txBody>
      </p:sp>
      <p:sp>
        <p:nvSpPr>
          <p:cNvPr id="34" name="Rounded Rectangle 33"/>
          <p:cNvSpPr/>
          <p:nvPr/>
        </p:nvSpPr>
        <p:spPr>
          <a:xfrm>
            <a:off x="6446520" y="3429000"/>
            <a:ext cx="5074920" cy="228600"/>
          </a:xfrm>
          <a:prstGeom prst="roundRect">
            <a:avLst/>
          </a:prstGeom>
          <a:solidFill>
            <a:srgbClr val="E8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3429000"/>
            <a:ext cx="4892040" cy="228600"/>
          </a:xfrm>
          <a:prstGeom prst="rect">
            <a:avLst/>
          </a:prstGeom>
          <a:noFill/>
        </p:spPr>
        <p:txBody>
          <a:bodyPr wrap="square" anchor="ctr">
            <a:spAutoFit/>
          </a:bodyPr>
          <a:lstStyle/>
          <a:p>
            <a:pPr algn="l">
              <a:defRPr sz="900" b="0" i="0">
                <a:solidFill>
                  <a:srgbClr val="666677"/>
                </a:solidFill>
                <a:latin typeface="Consolas"/>
              </a:defRPr>
            </a:pPr>
            <a:r>
              <a:t>install.packages('R6')</a:t>
            </a:r>
          </a:p>
        </p:txBody>
      </p:sp>
      <p:sp>
        <p:nvSpPr>
          <p:cNvPr id="36" name="Rounded Rectangle 35"/>
          <p:cNvSpPr/>
          <p:nvPr/>
        </p:nvSpPr>
        <p:spPr>
          <a:xfrm>
            <a:off x="457200" y="3931920"/>
            <a:ext cx="5440680" cy="1645920"/>
          </a:xfrm>
          <a:prstGeom prst="roundRect">
            <a:avLst/>
          </a:prstGeom>
          <a:solidFill>
            <a:srgbClr val="F0F2F7"/>
          </a:solidFill>
          <a:ln w="1905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6344" y="3941064"/>
            <a:ext cx="5422392" cy="508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041648"/>
            <a:ext cx="5074920" cy="274320"/>
          </a:xfrm>
          <a:prstGeom prst="rect">
            <a:avLst/>
          </a:prstGeom>
          <a:noFill/>
        </p:spPr>
        <p:txBody>
          <a:bodyPr wrap="square" anchor="t">
            <a:spAutoFit/>
          </a:bodyPr>
          <a:lstStyle/>
          <a:p>
            <a:pPr algn="l">
              <a:defRPr sz="1400" b="1" i="0">
                <a:solidFill>
                  <a:srgbClr val="D41F2C"/>
                </a:solidFill>
                <a:latin typeface="Consolas"/>
              </a:defRPr>
            </a:pPr>
            <a:r>
              <a:t>openssl</a:t>
            </a:r>
          </a:p>
        </p:txBody>
      </p:sp>
      <p:sp>
        <p:nvSpPr>
          <p:cNvPr id="39" name="TextBox 38"/>
          <p:cNvSpPr txBox="1"/>
          <p:nvPr/>
        </p:nvSpPr>
        <p:spPr>
          <a:xfrm>
            <a:off x="640080" y="4297680"/>
            <a:ext cx="5074920" cy="182880"/>
          </a:xfrm>
          <a:prstGeom prst="rect">
            <a:avLst/>
          </a:prstGeom>
          <a:noFill/>
        </p:spPr>
        <p:txBody>
          <a:bodyPr wrap="square" anchor="t">
            <a:spAutoFit/>
          </a:bodyPr>
          <a:lstStyle/>
          <a:p>
            <a:pPr algn="l">
              <a:defRPr sz="900" b="0" i="0">
                <a:solidFill>
                  <a:srgbClr val="9999AA"/>
                </a:solidFill>
                <a:latin typeface="Consolas"/>
              </a:defRPr>
            </a:pPr>
            <a:r>
              <a:t>Cryptography</a:t>
            </a:r>
          </a:p>
        </p:txBody>
      </p:sp>
      <p:sp>
        <p:nvSpPr>
          <p:cNvPr id="40" name="Rectangle 39"/>
          <p:cNvSpPr/>
          <p:nvPr/>
        </p:nvSpPr>
        <p:spPr>
          <a:xfrm>
            <a:off x="640080" y="4526280"/>
            <a:ext cx="50749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617720"/>
            <a:ext cx="5074920" cy="594360"/>
          </a:xfrm>
          <a:prstGeom prst="rect">
            <a:avLst/>
          </a:prstGeom>
          <a:noFill/>
        </p:spPr>
        <p:txBody>
          <a:bodyPr wrap="square" anchor="t">
            <a:spAutoFit/>
          </a:bodyPr>
          <a:lstStyle/>
          <a:p>
            <a:pPr algn="l">
              <a:defRPr sz="1000" b="0" i="0">
                <a:solidFill>
                  <a:srgbClr val="333344"/>
                </a:solidFill>
                <a:latin typeface="Calibri"/>
              </a:defRPr>
            </a:pPr>
            <a:r>
              <a:t>AES-256-CBC encryption/decryption.</a:t>
            </a:r>
            <a:br/>
            <a:r>
              <a:t>PBKDF2 key derivation (100K iter).</a:t>
            </a:r>
            <a:br/>
            <a:r>
              <a:t>Secure random number generation.</a:t>
            </a:r>
          </a:p>
        </p:txBody>
      </p:sp>
      <p:sp>
        <p:nvSpPr>
          <p:cNvPr id="42" name="Rounded Rectangle 41"/>
          <p:cNvSpPr/>
          <p:nvPr/>
        </p:nvSpPr>
        <p:spPr>
          <a:xfrm>
            <a:off x="640080" y="5257800"/>
            <a:ext cx="5074920" cy="228600"/>
          </a:xfrm>
          <a:prstGeom prst="roundRect">
            <a:avLst/>
          </a:prstGeom>
          <a:solidFill>
            <a:srgbClr val="E8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257800"/>
            <a:ext cx="4892040" cy="228600"/>
          </a:xfrm>
          <a:prstGeom prst="rect">
            <a:avLst/>
          </a:prstGeom>
          <a:noFill/>
        </p:spPr>
        <p:txBody>
          <a:bodyPr wrap="square" anchor="ctr">
            <a:spAutoFit/>
          </a:bodyPr>
          <a:lstStyle/>
          <a:p>
            <a:pPr algn="l">
              <a:defRPr sz="900" b="0" i="0">
                <a:solidFill>
                  <a:srgbClr val="666677"/>
                </a:solidFill>
                <a:latin typeface="Consolas"/>
              </a:defRPr>
            </a:pPr>
            <a:r>
              <a:t>install.packages('openssl')</a:t>
            </a:r>
          </a:p>
        </p:txBody>
      </p:sp>
      <p:sp>
        <p:nvSpPr>
          <p:cNvPr id="44" name="Rounded Rectangle 43"/>
          <p:cNvSpPr/>
          <p:nvPr/>
        </p:nvSpPr>
        <p:spPr>
          <a:xfrm>
            <a:off x="6263640" y="3931920"/>
            <a:ext cx="5440680" cy="1645920"/>
          </a:xfrm>
          <a:prstGeom prst="roundRect">
            <a:avLst/>
          </a:prstGeom>
          <a:solidFill>
            <a:srgbClr val="F0F2F7"/>
          </a:solidFill>
          <a:ln w="19050">
            <a:solidFill>
              <a:srgbClr val="6C4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272784" y="3941064"/>
            <a:ext cx="5422392" cy="50800"/>
          </a:xfrm>
          <a:prstGeom prst="rect">
            <a:avLst/>
          </a:prstGeom>
          <a:solidFill>
            <a:srgbClr val="6C47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46520" y="4041648"/>
            <a:ext cx="5074920" cy="274320"/>
          </a:xfrm>
          <a:prstGeom prst="rect">
            <a:avLst/>
          </a:prstGeom>
          <a:noFill/>
        </p:spPr>
        <p:txBody>
          <a:bodyPr wrap="square" anchor="t">
            <a:spAutoFit/>
          </a:bodyPr>
          <a:lstStyle/>
          <a:p>
            <a:pPr algn="l">
              <a:defRPr sz="1400" b="1" i="0">
                <a:solidFill>
                  <a:srgbClr val="6C47C0"/>
                </a:solidFill>
                <a:latin typeface="Consolas"/>
              </a:defRPr>
            </a:pPr>
            <a:r>
              <a:t>digest</a:t>
            </a:r>
          </a:p>
        </p:txBody>
      </p:sp>
      <p:sp>
        <p:nvSpPr>
          <p:cNvPr id="47" name="TextBox 46"/>
          <p:cNvSpPr txBox="1"/>
          <p:nvPr/>
        </p:nvSpPr>
        <p:spPr>
          <a:xfrm>
            <a:off x="6446520" y="4297680"/>
            <a:ext cx="5074920" cy="182880"/>
          </a:xfrm>
          <a:prstGeom prst="rect">
            <a:avLst/>
          </a:prstGeom>
          <a:noFill/>
        </p:spPr>
        <p:txBody>
          <a:bodyPr wrap="square" anchor="t">
            <a:spAutoFit/>
          </a:bodyPr>
          <a:lstStyle/>
          <a:p>
            <a:pPr algn="l">
              <a:defRPr sz="900" b="0" i="0">
                <a:solidFill>
                  <a:srgbClr val="9999AA"/>
                </a:solidFill>
                <a:latin typeface="Consolas"/>
              </a:defRPr>
            </a:pPr>
            <a:r>
              <a:t>Hashing</a:t>
            </a:r>
          </a:p>
        </p:txBody>
      </p:sp>
      <p:sp>
        <p:nvSpPr>
          <p:cNvPr id="48" name="Rectangle 47"/>
          <p:cNvSpPr/>
          <p:nvPr/>
        </p:nvSpPr>
        <p:spPr>
          <a:xfrm>
            <a:off x="6446520" y="4526280"/>
            <a:ext cx="5074920" cy="127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46520" y="4617720"/>
            <a:ext cx="5074920" cy="594360"/>
          </a:xfrm>
          <a:prstGeom prst="rect">
            <a:avLst/>
          </a:prstGeom>
          <a:noFill/>
        </p:spPr>
        <p:txBody>
          <a:bodyPr wrap="square" anchor="t">
            <a:spAutoFit/>
          </a:bodyPr>
          <a:lstStyle/>
          <a:p>
            <a:pPr algn="l">
              <a:defRPr sz="1000" b="0" i="0">
                <a:solidFill>
                  <a:srgbClr val="333344"/>
                </a:solidFill>
                <a:latin typeface="Calibri"/>
              </a:defRPr>
            </a:pPr>
            <a:r>
              <a:t>SHA-256 hashing for passwords and</a:t>
            </a:r>
            <a:br/>
            <a:r>
              <a:t>data integrity verification.</a:t>
            </a:r>
            <a:br/>
            <a:r>
              <a:t>Lightweight and reliable.</a:t>
            </a:r>
          </a:p>
        </p:txBody>
      </p:sp>
      <p:sp>
        <p:nvSpPr>
          <p:cNvPr id="50" name="Rounded Rectangle 49"/>
          <p:cNvSpPr/>
          <p:nvPr/>
        </p:nvSpPr>
        <p:spPr>
          <a:xfrm>
            <a:off x="6446520" y="5257800"/>
            <a:ext cx="5074920" cy="228600"/>
          </a:xfrm>
          <a:prstGeom prst="roundRect">
            <a:avLst/>
          </a:prstGeom>
          <a:solidFill>
            <a:srgbClr val="E8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37960" y="5257800"/>
            <a:ext cx="4892040" cy="228600"/>
          </a:xfrm>
          <a:prstGeom prst="rect">
            <a:avLst/>
          </a:prstGeom>
          <a:noFill/>
        </p:spPr>
        <p:txBody>
          <a:bodyPr wrap="square" anchor="ctr">
            <a:spAutoFit/>
          </a:bodyPr>
          <a:lstStyle/>
          <a:p>
            <a:pPr algn="l">
              <a:defRPr sz="900" b="0" i="0">
                <a:solidFill>
                  <a:srgbClr val="666677"/>
                </a:solidFill>
                <a:latin typeface="Consolas"/>
              </a:defRPr>
            </a:pPr>
            <a:r>
              <a:t>install.packages('digest')</a:t>
            </a:r>
          </a:p>
        </p:txBody>
      </p:sp>
      <p:sp>
        <p:nvSpPr>
          <p:cNvPr id="52" name="Rounded Rectangle 51"/>
          <p:cNvSpPr/>
          <p:nvPr/>
        </p:nvSpPr>
        <p:spPr>
          <a:xfrm>
            <a:off x="457200" y="5806440"/>
            <a:ext cx="11247120" cy="274320"/>
          </a:xfrm>
          <a:prstGeom prst="roundRect">
            <a:avLst/>
          </a:prstGeom>
          <a:solidFill>
            <a:srgbClr val="E3EFFA"/>
          </a:solidFill>
          <a:ln w="1270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5806440"/>
            <a:ext cx="10881360" cy="274320"/>
          </a:xfrm>
          <a:prstGeom prst="rect">
            <a:avLst/>
          </a:prstGeom>
          <a:noFill/>
        </p:spPr>
        <p:txBody>
          <a:bodyPr wrap="square" anchor="ctr">
            <a:spAutoFit/>
          </a:bodyPr>
          <a:lstStyle/>
          <a:p>
            <a:pPr algn="ctr">
              <a:defRPr sz="900" b="0" i="0">
                <a:solidFill>
                  <a:srgbClr val="1A3C6E"/>
                </a:solidFill>
                <a:latin typeface="Consolas"/>
              </a:defRPr>
            </a:pPr>
            <a:r>
              <a:t>System: Win 10+ | macOS 10.15+ | Ubuntu 18.04+  |  RAM: 512MB  |  Disk: 100MB+  |  No internet  |  No admin rights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15</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DISK STORAGE STRUCTURE</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How ZeroTraceFS Organizes Encrypted Files on Disk</a:t>
            </a:r>
          </a:p>
        </p:txBody>
      </p:sp>
      <p:sp>
        <p:nvSpPr>
          <p:cNvPr id="20" name="Rounded Rectangle 19"/>
          <p:cNvSpPr/>
          <p:nvPr/>
        </p:nvSpPr>
        <p:spPr>
          <a:xfrm>
            <a:off x="457200" y="2103120"/>
            <a:ext cx="11247120" cy="548640"/>
          </a:xfrm>
          <a:prstGeom prst="roundRect">
            <a:avLst/>
          </a:prstGeom>
          <a:solidFill>
            <a:srgbClr val="E3EFFA"/>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148840"/>
            <a:ext cx="10881360" cy="457200"/>
          </a:xfrm>
          <a:prstGeom prst="rect">
            <a:avLst/>
          </a:prstGeom>
          <a:noFill/>
        </p:spPr>
        <p:txBody>
          <a:bodyPr wrap="square" anchor="ctr">
            <a:spAutoFit/>
          </a:bodyPr>
          <a:lstStyle/>
          <a:p>
            <a:pPr algn="ctr">
              <a:defRPr sz="1100" b="1" i="0">
                <a:solidFill>
                  <a:srgbClr val="1A3C6E"/>
                </a:solidFill>
                <a:latin typeface="Consolas"/>
              </a:defRPr>
            </a:pPr>
            <a:r>
              <a:t>All files are stored encrypted in a vault directory. Filenames are hashed to prevent metadata leakage. Plaintext NEVER touches disk.</a:t>
            </a:r>
          </a:p>
        </p:txBody>
      </p:sp>
      <p:sp>
        <p:nvSpPr>
          <p:cNvPr id="22" name="Rounded Rectangle 21"/>
          <p:cNvSpPr/>
          <p:nvPr/>
        </p:nvSpPr>
        <p:spPr>
          <a:xfrm>
            <a:off x="457200" y="2834640"/>
            <a:ext cx="5943600" cy="3200400"/>
          </a:xfrm>
          <a:prstGeom prst="roundRect">
            <a:avLst/>
          </a:prstGeom>
          <a:solidFill>
            <a:srgbClr val="1A1A2E"/>
          </a:solidFill>
          <a:ln w="2540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926080"/>
            <a:ext cx="5577840" cy="274320"/>
          </a:xfrm>
          <a:prstGeom prst="rect">
            <a:avLst/>
          </a:prstGeom>
          <a:noFill/>
        </p:spPr>
        <p:txBody>
          <a:bodyPr wrap="square" anchor="t">
            <a:spAutoFit/>
          </a:bodyPr>
          <a:lstStyle/>
          <a:p>
            <a:pPr algn="l">
              <a:defRPr sz="1000" b="1" i="0">
                <a:solidFill>
                  <a:srgbClr val="008ED6"/>
                </a:solidFill>
                <a:latin typeface="Consolas"/>
              </a:defRPr>
            </a:pPr>
            <a:r>
              <a:t>VAULT DIRECTORY STRUCTURE</a:t>
            </a:r>
          </a:p>
        </p:txBody>
      </p:sp>
      <p:sp>
        <p:nvSpPr>
          <p:cNvPr id="24" name="Rectangle 23"/>
          <p:cNvSpPr/>
          <p:nvPr/>
        </p:nvSpPr>
        <p:spPr>
          <a:xfrm>
            <a:off x="640080" y="3200400"/>
            <a:ext cx="5577840" cy="12700"/>
          </a:xfrm>
          <a:prstGeom prst="rect">
            <a:avLst/>
          </a:prstGeom>
          <a:solidFill>
            <a:srgbClr val="3A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291840"/>
            <a:ext cx="5486400" cy="2651760"/>
          </a:xfrm>
          <a:prstGeom prst="rect">
            <a:avLst/>
          </a:prstGeom>
          <a:noFill/>
        </p:spPr>
        <p:txBody>
          <a:bodyPr wrap="square">
            <a:spAutoFit/>
          </a:bodyPr>
          <a:lstStyle/>
          <a:p>
            <a:pPr algn="l">
              <a:spcAft>
                <a:spcPts val="120"/>
              </a:spcAft>
              <a:defRPr sz="900" b="0" i="0">
                <a:solidFill>
                  <a:srgbClr val="1B9E5E"/>
                </a:solidFill>
                <a:latin typeface="Consolas"/>
              </a:defRPr>
            </a:pPr>
            <a:r>
              <a:t>sdefs_vault/</a:t>
            </a:r>
          </a:p>
          <a:p>
            <a:pPr algn="l">
              <a:spcAft>
                <a:spcPts val="120"/>
              </a:spcAft>
              <a:defRPr sz="900" b="0" i="0">
                <a:solidFill>
                  <a:srgbClr val="1B9E5E"/>
                </a:solidFill>
                <a:latin typeface="Consolas"/>
              </a:defRPr>
            </a:pPr>
            <a:r>
              <a:t>├── .sdefs_index.enc      ← Encrypted index</a:t>
            </a:r>
          </a:p>
          <a:p>
            <a:pPr algn="l">
              <a:spcAft>
                <a:spcPts val="120"/>
              </a:spcAft>
              <a:defRPr sz="900" b="0" i="0">
                <a:solidFill>
                  <a:srgbClr val="1B9E5E"/>
                </a:solidFill>
                <a:latin typeface="Consolas"/>
              </a:defRPr>
            </a:pPr>
            <a:r>
              <a:t>│     (file names, TTLs, read counts,</a:t>
            </a:r>
          </a:p>
          <a:p>
            <a:pPr algn="l">
              <a:spcAft>
                <a:spcPts val="120"/>
              </a:spcAft>
              <a:defRPr sz="900" b="0" i="0">
                <a:solidFill>
                  <a:srgbClr val="1B9E5E"/>
                </a:solidFill>
                <a:latin typeface="Consolas"/>
              </a:defRPr>
            </a:pPr>
            <a:r>
              <a:t>│      deadlines, checksums)</a:t>
            </a:r>
          </a:p>
          <a:p>
            <a:pPr algn="l">
              <a:spcAft>
                <a:spcPts val="120"/>
              </a:spcAft>
              <a:defRPr sz="900" b="0" i="0">
                <a:solidFill>
                  <a:srgbClr val="1B9E5E"/>
                </a:solidFill>
                <a:latin typeface="Consolas"/>
              </a:defRPr>
            </a:pPr>
            <a:r>
              <a:t>├── .sdefs_config.enc     ← Encrypted config</a:t>
            </a:r>
          </a:p>
          <a:p>
            <a:pPr algn="l">
              <a:spcAft>
                <a:spcPts val="120"/>
              </a:spcAft>
              <a:defRPr sz="900" b="0" i="0">
                <a:solidFill>
                  <a:srgbClr val="1B9E5E"/>
                </a:solidFill>
                <a:latin typeface="Consolas"/>
              </a:defRPr>
            </a:pPr>
            <a:r>
              <a:t>│     (auth, global TTL, duress hash,</a:t>
            </a:r>
          </a:p>
          <a:p>
            <a:pPr algn="l">
              <a:spcAft>
                <a:spcPts val="120"/>
              </a:spcAft>
              <a:defRPr sz="900" b="0" i="0">
                <a:solidFill>
                  <a:srgbClr val="1B9E5E"/>
                </a:solidFill>
                <a:latin typeface="Consolas"/>
              </a:defRPr>
            </a:pPr>
            <a:r>
              <a:t>│      dead man's switch timer)</a:t>
            </a:r>
          </a:p>
          <a:p>
            <a:pPr algn="l">
              <a:spcAft>
                <a:spcPts val="120"/>
              </a:spcAft>
              <a:defRPr sz="900" b="0" i="0">
                <a:solidFill>
                  <a:srgbClr val="1B9E5E"/>
                </a:solidFill>
                <a:latin typeface="Consolas"/>
              </a:defRPr>
            </a:pPr>
            <a:r>
              <a:t>├── files/</a:t>
            </a:r>
          </a:p>
          <a:p>
            <a:pPr algn="l">
              <a:spcAft>
                <a:spcPts val="120"/>
              </a:spcAft>
              <a:defRPr sz="900" b="0" i="0">
                <a:solidFill>
                  <a:srgbClr val="1B9E5E"/>
                </a:solidFill>
                <a:latin typeface="Consolas"/>
              </a:defRPr>
            </a:pPr>
            <a:r>
              <a:t>│   ├── a3f7c2d1.enc  ← Encrypted file 1</a:t>
            </a:r>
          </a:p>
          <a:p>
            <a:pPr algn="l">
              <a:spcAft>
                <a:spcPts val="120"/>
              </a:spcAft>
              <a:defRPr sz="900" b="0" i="0">
                <a:solidFill>
                  <a:srgbClr val="1B9E5E"/>
                </a:solidFill>
                <a:latin typeface="Consolas"/>
              </a:defRPr>
            </a:pPr>
            <a:r>
              <a:t>│   ├── b8e4f910.enc  ← Encrypted file 2</a:t>
            </a:r>
          </a:p>
          <a:p>
            <a:pPr algn="l">
              <a:spcAft>
                <a:spcPts val="120"/>
              </a:spcAft>
              <a:defRPr sz="900" b="0" i="0">
                <a:solidFill>
                  <a:srgbClr val="1B9E5E"/>
                </a:solidFill>
                <a:latin typeface="Consolas"/>
              </a:defRPr>
            </a:pPr>
            <a:r>
              <a:t>│   └── c1d2e3f4.enc  ← Encrypted file 3</a:t>
            </a:r>
          </a:p>
          <a:p>
            <a:pPr algn="l">
              <a:spcAft>
                <a:spcPts val="120"/>
              </a:spcAft>
              <a:defRPr sz="900" b="0" i="0">
                <a:solidFill>
                  <a:srgbClr val="1B9E5E"/>
                </a:solidFill>
                <a:latin typeface="Consolas"/>
              </a:defRPr>
            </a:pPr>
            <a:r>
              <a:t>└── audit/</a:t>
            </a:r>
          </a:p>
          <a:p>
            <a:pPr algn="l">
              <a:spcAft>
                <a:spcPts val="120"/>
              </a:spcAft>
              <a:defRPr sz="900" b="0" i="0">
                <a:solidFill>
                  <a:srgbClr val="1B9E5E"/>
                </a:solidFill>
                <a:latin typeface="Consolas"/>
              </a:defRPr>
            </a:pPr>
            <a:r>
              <a:t>    └── audit_log.enc     ← Encrypted audit trail</a:t>
            </a:r>
          </a:p>
        </p:txBody>
      </p:sp>
      <p:sp>
        <p:nvSpPr>
          <p:cNvPr id="26" name="Rounded Rectangle 25"/>
          <p:cNvSpPr/>
          <p:nvPr/>
        </p:nvSpPr>
        <p:spPr>
          <a:xfrm>
            <a:off x="6675120" y="2834640"/>
            <a:ext cx="5029200" cy="320040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2926080"/>
            <a:ext cx="4663440" cy="274320"/>
          </a:xfrm>
          <a:prstGeom prst="rect">
            <a:avLst/>
          </a:prstGeom>
          <a:noFill/>
        </p:spPr>
        <p:txBody>
          <a:bodyPr wrap="square" anchor="t">
            <a:spAutoFit/>
          </a:bodyPr>
          <a:lstStyle/>
          <a:p>
            <a:pPr algn="l">
              <a:defRPr sz="1100" b="1" i="0">
                <a:solidFill>
                  <a:srgbClr val="D41F2C"/>
                </a:solidFill>
                <a:latin typeface="Consolas"/>
              </a:defRPr>
            </a:pPr>
            <a:r>
              <a:t>KEY SECURITY PROPERTIES</a:t>
            </a:r>
          </a:p>
        </p:txBody>
      </p:sp>
      <p:sp>
        <p:nvSpPr>
          <p:cNvPr id="28" name="Rectangle 27"/>
          <p:cNvSpPr/>
          <p:nvPr/>
        </p:nvSpPr>
        <p:spPr>
          <a:xfrm>
            <a:off x="6858000" y="3200400"/>
            <a:ext cx="4663440" cy="12700"/>
          </a:xfrm>
          <a:prstGeom prst="rect">
            <a:avLst/>
          </a:prstGeom>
          <a:solidFill>
            <a:srgbClr val="D0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858000" y="3355848"/>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3355848"/>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31" name="TextBox 30"/>
          <p:cNvSpPr txBox="1"/>
          <p:nvPr/>
        </p:nvSpPr>
        <p:spPr>
          <a:xfrm>
            <a:off x="7178040" y="3355848"/>
            <a:ext cx="4343400" cy="228600"/>
          </a:xfrm>
          <a:prstGeom prst="rect">
            <a:avLst/>
          </a:prstGeom>
          <a:noFill/>
        </p:spPr>
        <p:txBody>
          <a:bodyPr wrap="square" anchor="t">
            <a:spAutoFit/>
          </a:bodyPr>
          <a:lstStyle/>
          <a:p>
            <a:pPr algn="l">
              <a:defRPr sz="1000" b="0" i="0">
                <a:solidFill>
                  <a:srgbClr val="333344"/>
                </a:solidFill>
                <a:latin typeface="Calibri"/>
              </a:defRPr>
            </a:pPr>
            <a:r>
              <a:t>Filenames are SHA-256 hashes — original names hidden</a:t>
            </a:r>
          </a:p>
        </p:txBody>
      </p:sp>
      <p:sp>
        <p:nvSpPr>
          <p:cNvPr id="32" name="Oval 31"/>
          <p:cNvSpPr/>
          <p:nvPr/>
        </p:nvSpPr>
        <p:spPr>
          <a:xfrm>
            <a:off x="6858000" y="3767327"/>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0" y="3767327"/>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34" name="TextBox 33"/>
          <p:cNvSpPr txBox="1"/>
          <p:nvPr/>
        </p:nvSpPr>
        <p:spPr>
          <a:xfrm>
            <a:off x="7178040" y="3767327"/>
            <a:ext cx="4343400" cy="228600"/>
          </a:xfrm>
          <a:prstGeom prst="rect">
            <a:avLst/>
          </a:prstGeom>
          <a:noFill/>
        </p:spPr>
        <p:txBody>
          <a:bodyPr wrap="square" anchor="t">
            <a:spAutoFit/>
          </a:bodyPr>
          <a:lstStyle/>
          <a:p>
            <a:pPr algn="l">
              <a:defRPr sz="1000" b="0" i="0">
                <a:solidFill>
                  <a:srgbClr val="333344"/>
                </a:solidFill>
                <a:latin typeface="Calibri"/>
              </a:defRPr>
            </a:pPr>
            <a:r>
              <a:t>Every file encrypted independently with unique IV</a:t>
            </a:r>
          </a:p>
        </p:txBody>
      </p:sp>
      <p:sp>
        <p:nvSpPr>
          <p:cNvPr id="35" name="Oval 34"/>
          <p:cNvSpPr/>
          <p:nvPr/>
        </p:nvSpPr>
        <p:spPr>
          <a:xfrm>
            <a:off x="6858000" y="4178808"/>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0" y="4178808"/>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37" name="TextBox 36"/>
          <p:cNvSpPr txBox="1"/>
          <p:nvPr/>
        </p:nvSpPr>
        <p:spPr>
          <a:xfrm>
            <a:off x="7178040" y="4178808"/>
            <a:ext cx="4343400" cy="228600"/>
          </a:xfrm>
          <a:prstGeom prst="rect">
            <a:avLst/>
          </a:prstGeom>
          <a:noFill/>
        </p:spPr>
        <p:txBody>
          <a:bodyPr wrap="square" anchor="t">
            <a:spAutoFit/>
          </a:bodyPr>
          <a:lstStyle/>
          <a:p>
            <a:pPr algn="l">
              <a:defRPr sz="1000" b="0" i="0">
                <a:solidFill>
                  <a:srgbClr val="333344"/>
                </a:solidFill>
                <a:latin typeface="Calibri"/>
              </a:defRPr>
            </a:pPr>
            <a:r>
              <a:t>Index file encrypted — file listing requires authentication</a:t>
            </a:r>
          </a:p>
        </p:txBody>
      </p:sp>
      <p:sp>
        <p:nvSpPr>
          <p:cNvPr id="38" name="Oval 37"/>
          <p:cNvSpPr/>
          <p:nvPr/>
        </p:nvSpPr>
        <p:spPr>
          <a:xfrm>
            <a:off x="6858000" y="4590288"/>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4590288"/>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40" name="TextBox 39"/>
          <p:cNvSpPr txBox="1"/>
          <p:nvPr/>
        </p:nvSpPr>
        <p:spPr>
          <a:xfrm>
            <a:off x="7178040" y="4590288"/>
            <a:ext cx="4343400" cy="228600"/>
          </a:xfrm>
          <a:prstGeom prst="rect">
            <a:avLst/>
          </a:prstGeom>
          <a:noFill/>
        </p:spPr>
        <p:txBody>
          <a:bodyPr wrap="square" anchor="t">
            <a:spAutoFit/>
          </a:bodyPr>
          <a:lstStyle/>
          <a:p>
            <a:pPr algn="l">
              <a:defRPr sz="1000" b="0" i="0">
                <a:solidFill>
                  <a:srgbClr val="333344"/>
                </a:solidFill>
                <a:latin typeface="Calibri"/>
              </a:defRPr>
            </a:pPr>
            <a:r>
              <a:t>Audit log encrypted — tamper-evident operation history</a:t>
            </a:r>
          </a:p>
        </p:txBody>
      </p:sp>
      <p:sp>
        <p:nvSpPr>
          <p:cNvPr id="41" name="Oval 40"/>
          <p:cNvSpPr/>
          <p:nvPr/>
        </p:nvSpPr>
        <p:spPr>
          <a:xfrm>
            <a:off x="6858000" y="5001768"/>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0" y="5001768"/>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43" name="TextBox 42"/>
          <p:cNvSpPr txBox="1"/>
          <p:nvPr/>
        </p:nvSpPr>
        <p:spPr>
          <a:xfrm>
            <a:off x="7178040" y="5001768"/>
            <a:ext cx="4343400" cy="228600"/>
          </a:xfrm>
          <a:prstGeom prst="rect">
            <a:avLst/>
          </a:prstGeom>
          <a:noFill/>
        </p:spPr>
        <p:txBody>
          <a:bodyPr wrap="square" anchor="t">
            <a:spAutoFit/>
          </a:bodyPr>
          <a:lstStyle/>
          <a:p>
            <a:pPr algn="l">
              <a:defRPr sz="1000" b="0" i="0">
                <a:solidFill>
                  <a:srgbClr val="333344"/>
                </a:solidFill>
                <a:latin typeface="Calibri"/>
              </a:defRPr>
            </a:pPr>
            <a:r>
              <a:t>No plaintext metadata exposed on disk</a:t>
            </a:r>
          </a:p>
        </p:txBody>
      </p:sp>
      <p:sp>
        <p:nvSpPr>
          <p:cNvPr id="44" name="Oval 43"/>
          <p:cNvSpPr/>
          <p:nvPr/>
        </p:nvSpPr>
        <p:spPr>
          <a:xfrm>
            <a:off x="6858000" y="5413248"/>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0" y="5413248"/>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46" name="TextBox 45"/>
          <p:cNvSpPr txBox="1"/>
          <p:nvPr/>
        </p:nvSpPr>
        <p:spPr>
          <a:xfrm>
            <a:off x="7178040" y="5413248"/>
            <a:ext cx="4343400" cy="228600"/>
          </a:xfrm>
          <a:prstGeom prst="rect">
            <a:avLst/>
          </a:prstGeom>
          <a:noFill/>
        </p:spPr>
        <p:txBody>
          <a:bodyPr wrap="square" anchor="t">
            <a:spAutoFit/>
          </a:bodyPr>
          <a:lstStyle/>
          <a:p>
            <a:pPr algn="l">
              <a:defRPr sz="1000" b="0" i="0">
                <a:solidFill>
                  <a:srgbClr val="333344"/>
                </a:solidFill>
                <a:latin typeface="Calibri"/>
              </a:defRPr>
            </a:pPr>
            <a:r>
              <a:t>Config file encrypted — settings protected at rest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16</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l">
              <a:defRPr sz="2200" b="1" i="0">
                <a:solidFill>
                  <a:srgbClr val="FFFFFF"/>
                </a:solidFill>
                <a:latin typeface="Calibri"/>
              </a:defRPr>
            </a:pPr>
            <a:r>
              <a:t>USE CASES</a:t>
            </a:r>
          </a:p>
        </p:txBody>
      </p:sp>
      <p:sp>
        <p:nvSpPr>
          <p:cNvPr id="19" name="TextBox 18"/>
          <p:cNvSpPr txBox="1"/>
          <p:nvPr/>
        </p:nvSpPr>
        <p:spPr>
          <a:xfrm>
            <a:off x="640080" y="1783080"/>
            <a:ext cx="10881360" cy="274320"/>
          </a:xfrm>
          <a:prstGeom prst="rect">
            <a:avLst/>
          </a:prstGeom>
          <a:noFill/>
        </p:spPr>
        <p:txBody>
          <a:bodyPr wrap="square" anchor="t">
            <a:spAutoFit/>
          </a:bodyPr>
          <a:lstStyle/>
          <a:p>
            <a:pPr algn="l">
              <a:defRPr sz="1100" b="0" i="1">
                <a:solidFill>
                  <a:srgbClr val="666677"/>
                </a:solidFill>
                <a:latin typeface="Calibri"/>
              </a:defRPr>
            </a:pPr>
            <a:r>
              <a:t>Real-World Applications</a:t>
            </a:r>
          </a:p>
        </p:txBody>
      </p:sp>
      <p:sp>
        <p:nvSpPr>
          <p:cNvPr id="20" name="Rounded Rectangle 19"/>
          <p:cNvSpPr/>
          <p:nvPr/>
        </p:nvSpPr>
        <p:spPr>
          <a:xfrm>
            <a:off x="457200" y="2103120"/>
            <a:ext cx="3474720" cy="1691640"/>
          </a:xfrm>
          <a:prstGeom prst="roundRect">
            <a:avLst/>
          </a:prstGeom>
          <a:solidFill>
            <a:srgbClr val="E3EFFA"/>
          </a:solidFill>
          <a:ln w="1905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2194560"/>
            <a:ext cx="1188720" cy="27432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194560"/>
            <a:ext cx="1188720" cy="274320"/>
          </a:xfrm>
          <a:prstGeom prst="rect">
            <a:avLst/>
          </a:prstGeom>
          <a:noFill/>
        </p:spPr>
        <p:txBody>
          <a:bodyPr wrap="square" anchor="ctr">
            <a:spAutoFit/>
          </a:bodyPr>
          <a:lstStyle/>
          <a:p>
            <a:pPr algn="ctr">
              <a:defRPr sz="800" b="1" i="0">
                <a:solidFill>
                  <a:srgbClr val="FFFFFF"/>
                </a:solidFill>
                <a:latin typeface="Consolas"/>
              </a:defRPr>
            </a:pPr>
            <a:r>
              <a:t>HEALTHCARE</a:t>
            </a:r>
          </a:p>
        </p:txBody>
      </p:sp>
      <p:sp>
        <p:nvSpPr>
          <p:cNvPr id="23" name="TextBox 22"/>
          <p:cNvSpPr txBox="1"/>
          <p:nvPr/>
        </p:nvSpPr>
        <p:spPr>
          <a:xfrm>
            <a:off x="1828800" y="2194560"/>
            <a:ext cx="2011680" cy="274320"/>
          </a:xfrm>
          <a:prstGeom prst="rect">
            <a:avLst/>
          </a:prstGeom>
          <a:noFill/>
        </p:spPr>
        <p:txBody>
          <a:bodyPr wrap="square" anchor="t">
            <a:spAutoFit/>
          </a:bodyPr>
          <a:lstStyle/>
          <a:p>
            <a:pPr algn="l">
              <a:defRPr sz="1200" b="1" i="0">
                <a:solidFill>
                  <a:srgbClr val="1A1A2E"/>
                </a:solidFill>
                <a:latin typeface="Calibri"/>
              </a:defRPr>
            </a:pPr>
            <a:r>
              <a:t>Patient Data Protection</a:t>
            </a:r>
          </a:p>
        </p:txBody>
      </p:sp>
      <p:sp>
        <p:nvSpPr>
          <p:cNvPr id="24" name="TextBox 23"/>
          <p:cNvSpPr txBox="1"/>
          <p:nvPr/>
        </p:nvSpPr>
        <p:spPr>
          <a:xfrm>
            <a:off x="594360" y="2560320"/>
            <a:ext cx="3200400" cy="548640"/>
          </a:xfrm>
          <a:prstGeom prst="rect">
            <a:avLst/>
          </a:prstGeom>
          <a:noFill/>
        </p:spPr>
        <p:txBody>
          <a:bodyPr wrap="square" anchor="t">
            <a:spAutoFit/>
          </a:bodyPr>
          <a:lstStyle/>
          <a:p>
            <a:pPr algn="l">
              <a:defRPr sz="1000" b="0" i="0">
                <a:solidFill>
                  <a:srgbClr val="666677"/>
                </a:solidFill>
                <a:latin typeface="Calibri"/>
              </a:defRPr>
            </a:pPr>
            <a:r>
              <a:t>Auto-expire patient records after</a:t>
            </a:r>
            <a:br/>
            <a:r>
              <a:t>processing. HIPAA compliant</a:t>
            </a:r>
            <a:br/>
            <a:r>
              <a:t>destruction on workstations.</a:t>
            </a:r>
          </a:p>
        </p:txBody>
      </p:sp>
      <p:sp>
        <p:nvSpPr>
          <p:cNvPr id="25" name="Rounded Rectangle 24"/>
          <p:cNvSpPr/>
          <p:nvPr/>
        </p:nvSpPr>
        <p:spPr>
          <a:xfrm>
            <a:off x="594360" y="3200400"/>
            <a:ext cx="3200400" cy="274320"/>
          </a:xfrm>
          <a:prstGeom prst="roundRect">
            <a:avLst/>
          </a:prstGeom>
          <a:solidFill>
            <a:srgbClr val="FFFFFF"/>
          </a:solidFill>
          <a:ln w="635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200400"/>
            <a:ext cx="3017520" cy="274320"/>
          </a:xfrm>
          <a:prstGeom prst="rect">
            <a:avLst/>
          </a:prstGeom>
          <a:noFill/>
        </p:spPr>
        <p:txBody>
          <a:bodyPr wrap="square" anchor="ctr">
            <a:spAutoFit/>
          </a:bodyPr>
          <a:lstStyle/>
          <a:p>
            <a:pPr algn="l">
              <a:defRPr sz="800" b="0" i="0">
                <a:solidFill>
                  <a:srgbClr val="9999AA"/>
                </a:solidFill>
                <a:latin typeface="Consolas"/>
              </a:defRPr>
            </a:pPr>
            <a:r>
              <a:t>Triggers: TTL + Deadline</a:t>
            </a:r>
          </a:p>
        </p:txBody>
      </p:sp>
      <p:sp>
        <p:nvSpPr>
          <p:cNvPr id="27" name="Rounded Rectangle 26"/>
          <p:cNvSpPr/>
          <p:nvPr/>
        </p:nvSpPr>
        <p:spPr>
          <a:xfrm>
            <a:off x="4251960" y="2103120"/>
            <a:ext cx="3474720" cy="1691640"/>
          </a:xfrm>
          <a:prstGeom prst="roundRect">
            <a:avLst/>
          </a:prstGeom>
          <a:solidFill>
            <a:srgbClr val="E6F7EE"/>
          </a:solidFill>
          <a:ln w="1905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343400" y="2194560"/>
            <a:ext cx="1188720" cy="274320"/>
          </a:xfrm>
          <a:prstGeom prst="roundRect">
            <a:avLst/>
          </a:prstGeom>
          <a:solidFill>
            <a:srgbClr val="1B9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3400" y="2194560"/>
            <a:ext cx="1188720" cy="274320"/>
          </a:xfrm>
          <a:prstGeom prst="rect">
            <a:avLst/>
          </a:prstGeom>
          <a:noFill/>
        </p:spPr>
        <p:txBody>
          <a:bodyPr wrap="square" anchor="ctr">
            <a:spAutoFit/>
          </a:bodyPr>
          <a:lstStyle/>
          <a:p>
            <a:pPr algn="ctr">
              <a:defRPr sz="800" b="1" i="0">
                <a:solidFill>
                  <a:srgbClr val="FFFFFF"/>
                </a:solidFill>
                <a:latin typeface="Consolas"/>
              </a:defRPr>
            </a:pPr>
            <a:r>
              <a:t>RESEARCH</a:t>
            </a:r>
          </a:p>
        </p:txBody>
      </p:sp>
      <p:sp>
        <p:nvSpPr>
          <p:cNvPr id="30" name="TextBox 29"/>
          <p:cNvSpPr txBox="1"/>
          <p:nvPr/>
        </p:nvSpPr>
        <p:spPr>
          <a:xfrm>
            <a:off x="5623560" y="2194560"/>
            <a:ext cx="2011680" cy="274320"/>
          </a:xfrm>
          <a:prstGeom prst="rect">
            <a:avLst/>
          </a:prstGeom>
          <a:noFill/>
        </p:spPr>
        <p:txBody>
          <a:bodyPr wrap="square" anchor="t">
            <a:spAutoFit/>
          </a:bodyPr>
          <a:lstStyle/>
          <a:p>
            <a:pPr algn="l">
              <a:defRPr sz="1200" b="1" i="0">
                <a:solidFill>
                  <a:srgbClr val="1A1A2E"/>
                </a:solidFill>
                <a:latin typeface="Calibri"/>
              </a:defRPr>
            </a:pPr>
            <a:r>
              <a:t>Confidential Datasets</a:t>
            </a:r>
          </a:p>
        </p:txBody>
      </p:sp>
      <p:sp>
        <p:nvSpPr>
          <p:cNvPr id="31" name="TextBox 30"/>
          <p:cNvSpPr txBox="1"/>
          <p:nvPr/>
        </p:nvSpPr>
        <p:spPr>
          <a:xfrm>
            <a:off x="4389120" y="2560320"/>
            <a:ext cx="3200400" cy="548640"/>
          </a:xfrm>
          <a:prstGeom prst="rect">
            <a:avLst/>
          </a:prstGeom>
          <a:noFill/>
        </p:spPr>
        <p:txBody>
          <a:bodyPr wrap="square" anchor="t">
            <a:spAutoFit/>
          </a:bodyPr>
          <a:lstStyle/>
          <a:p>
            <a:pPr algn="l">
              <a:defRPr sz="1000" b="0" i="0">
                <a:solidFill>
                  <a:srgbClr val="666677"/>
                </a:solidFill>
                <a:latin typeface="Calibri"/>
              </a:defRPr>
            </a:pPr>
            <a:r>
              <a:t>Dead man's switch for unattended</a:t>
            </a:r>
            <a:br/>
            <a:r>
              <a:t>systems. Persistent encrypted</a:t>
            </a:r>
            <a:br/>
            <a:r>
              <a:t>storage during project.</a:t>
            </a:r>
          </a:p>
        </p:txBody>
      </p:sp>
      <p:sp>
        <p:nvSpPr>
          <p:cNvPr id="32" name="Rounded Rectangle 31"/>
          <p:cNvSpPr/>
          <p:nvPr/>
        </p:nvSpPr>
        <p:spPr>
          <a:xfrm>
            <a:off x="4389120" y="3200400"/>
            <a:ext cx="3200400" cy="274320"/>
          </a:xfrm>
          <a:prstGeom prst="roundRect">
            <a:avLst/>
          </a:prstGeom>
          <a:solidFill>
            <a:srgbClr val="FFFFFF"/>
          </a:solidFill>
          <a:ln w="635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60" y="3200400"/>
            <a:ext cx="3017520" cy="274320"/>
          </a:xfrm>
          <a:prstGeom prst="rect">
            <a:avLst/>
          </a:prstGeom>
          <a:noFill/>
        </p:spPr>
        <p:txBody>
          <a:bodyPr wrap="square" anchor="ctr">
            <a:spAutoFit/>
          </a:bodyPr>
          <a:lstStyle/>
          <a:p>
            <a:pPr algn="l">
              <a:defRPr sz="800" b="0" i="0">
                <a:solidFill>
                  <a:srgbClr val="9999AA"/>
                </a:solidFill>
                <a:latin typeface="Consolas"/>
              </a:defRPr>
            </a:pPr>
            <a:r>
              <a:t>Triggers: Dead Man + Deadline</a:t>
            </a:r>
          </a:p>
        </p:txBody>
      </p:sp>
      <p:sp>
        <p:nvSpPr>
          <p:cNvPr id="34" name="Rounded Rectangle 33"/>
          <p:cNvSpPr/>
          <p:nvPr/>
        </p:nvSpPr>
        <p:spPr>
          <a:xfrm>
            <a:off x="8046720" y="2103120"/>
            <a:ext cx="3474720" cy="1691640"/>
          </a:xfrm>
          <a:prstGeom prst="roundRect">
            <a:avLst/>
          </a:prstGeom>
          <a:solidFill>
            <a:srgbClr val="FEF3DE"/>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138160" y="2194560"/>
            <a:ext cx="1188720" cy="274320"/>
          </a:xfrm>
          <a:prstGeom prst="round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38160" y="2194560"/>
            <a:ext cx="1188720" cy="274320"/>
          </a:xfrm>
          <a:prstGeom prst="rect">
            <a:avLst/>
          </a:prstGeom>
          <a:noFill/>
        </p:spPr>
        <p:txBody>
          <a:bodyPr wrap="square" anchor="ctr">
            <a:spAutoFit/>
          </a:bodyPr>
          <a:lstStyle/>
          <a:p>
            <a:pPr algn="ctr">
              <a:defRPr sz="800" b="1" i="0">
                <a:solidFill>
                  <a:srgbClr val="FFFFFF"/>
                </a:solidFill>
                <a:latin typeface="Consolas"/>
              </a:defRPr>
            </a:pPr>
            <a:r>
              <a:t>FINANCE</a:t>
            </a:r>
          </a:p>
        </p:txBody>
      </p:sp>
      <p:sp>
        <p:nvSpPr>
          <p:cNvPr id="37" name="TextBox 36"/>
          <p:cNvSpPr txBox="1"/>
          <p:nvPr/>
        </p:nvSpPr>
        <p:spPr>
          <a:xfrm>
            <a:off x="9418320" y="2194560"/>
            <a:ext cx="2011680" cy="274320"/>
          </a:xfrm>
          <a:prstGeom prst="rect">
            <a:avLst/>
          </a:prstGeom>
          <a:noFill/>
        </p:spPr>
        <p:txBody>
          <a:bodyPr wrap="square" anchor="t">
            <a:spAutoFit/>
          </a:bodyPr>
          <a:lstStyle/>
          <a:p>
            <a:pPr algn="l">
              <a:defRPr sz="1200" b="1" i="0">
                <a:solidFill>
                  <a:srgbClr val="1A1A2E"/>
                </a:solidFill>
                <a:latin typeface="Calibri"/>
              </a:defRPr>
            </a:pPr>
            <a:r>
              <a:t>API Credentials</a:t>
            </a:r>
          </a:p>
        </p:txBody>
      </p:sp>
      <p:sp>
        <p:nvSpPr>
          <p:cNvPr id="38" name="TextBox 37"/>
          <p:cNvSpPr txBox="1"/>
          <p:nvPr/>
        </p:nvSpPr>
        <p:spPr>
          <a:xfrm>
            <a:off x="8183880" y="2560320"/>
            <a:ext cx="3200400" cy="548640"/>
          </a:xfrm>
          <a:prstGeom prst="rect">
            <a:avLst/>
          </a:prstGeom>
          <a:noFill/>
        </p:spPr>
        <p:txBody>
          <a:bodyPr wrap="square" anchor="t">
            <a:spAutoFit/>
          </a:bodyPr>
          <a:lstStyle/>
          <a:p>
            <a:pPr algn="l">
              <a:defRPr sz="1000" b="0" i="0">
                <a:solidFill>
                  <a:srgbClr val="666677"/>
                </a:solidFill>
                <a:latin typeface="Calibri"/>
              </a:defRPr>
            </a:pPr>
            <a:r>
              <a:t>Self-destructing API keys and</a:t>
            </a:r>
            <a:br/>
            <a:r>
              <a:t>session tokens. Auto-delete</a:t>
            </a:r>
            <a:br/>
            <a:r>
              <a:t>after single access.</a:t>
            </a:r>
          </a:p>
        </p:txBody>
      </p:sp>
      <p:sp>
        <p:nvSpPr>
          <p:cNvPr id="39" name="Rounded Rectangle 38"/>
          <p:cNvSpPr/>
          <p:nvPr/>
        </p:nvSpPr>
        <p:spPr>
          <a:xfrm>
            <a:off x="8183880" y="3200400"/>
            <a:ext cx="3200400" cy="274320"/>
          </a:xfrm>
          <a:prstGeom prst="roundRect">
            <a:avLst/>
          </a:prstGeom>
          <a:solidFill>
            <a:srgbClr val="FFFFFF"/>
          </a:solidFill>
          <a:ln w="635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5320" y="3200400"/>
            <a:ext cx="3017520" cy="274320"/>
          </a:xfrm>
          <a:prstGeom prst="rect">
            <a:avLst/>
          </a:prstGeom>
          <a:noFill/>
        </p:spPr>
        <p:txBody>
          <a:bodyPr wrap="square" anchor="ctr">
            <a:spAutoFit/>
          </a:bodyPr>
          <a:lstStyle/>
          <a:p>
            <a:pPr algn="l">
              <a:defRPr sz="800" b="0" i="0">
                <a:solidFill>
                  <a:srgbClr val="9999AA"/>
                </a:solidFill>
                <a:latin typeface="Consolas"/>
              </a:defRPr>
            </a:pPr>
            <a:r>
              <a:t>Triggers: Read Limit + TTL</a:t>
            </a:r>
          </a:p>
        </p:txBody>
      </p:sp>
      <p:sp>
        <p:nvSpPr>
          <p:cNvPr id="41" name="Rounded Rectangle 40"/>
          <p:cNvSpPr/>
          <p:nvPr/>
        </p:nvSpPr>
        <p:spPr>
          <a:xfrm>
            <a:off x="457200" y="4023360"/>
            <a:ext cx="3474720" cy="1691640"/>
          </a:xfrm>
          <a:prstGeom prst="roundRect">
            <a:avLst/>
          </a:prstGeom>
          <a:solidFill>
            <a:srgbClr val="FDE8EA"/>
          </a:solidFill>
          <a:ln w="19050">
            <a:solidFill>
              <a:srgbClr val="D4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48640" y="4114800"/>
            <a:ext cx="1188720" cy="274320"/>
          </a:xfrm>
          <a:prstGeom prst="round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4114800"/>
            <a:ext cx="1188720" cy="274320"/>
          </a:xfrm>
          <a:prstGeom prst="rect">
            <a:avLst/>
          </a:prstGeom>
          <a:noFill/>
        </p:spPr>
        <p:txBody>
          <a:bodyPr wrap="square" anchor="ctr">
            <a:spAutoFit/>
          </a:bodyPr>
          <a:lstStyle/>
          <a:p>
            <a:pPr algn="ctr">
              <a:defRPr sz="800" b="1" i="0">
                <a:solidFill>
                  <a:srgbClr val="FFFFFF"/>
                </a:solidFill>
                <a:latin typeface="Consolas"/>
              </a:defRPr>
            </a:pPr>
            <a:r>
              <a:t>SECURITY</a:t>
            </a:r>
          </a:p>
        </p:txBody>
      </p:sp>
      <p:sp>
        <p:nvSpPr>
          <p:cNvPr id="44" name="TextBox 43"/>
          <p:cNvSpPr txBox="1"/>
          <p:nvPr/>
        </p:nvSpPr>
        <p:spPr>
          <a:xfrm>
            <a:off x="1828800" y="4114800"/>
            <a:ext cx="2011680" cy="274320"/>
          </a:xfrm>
          <a:prstGeom prst="rect">
            <a:avLst/>
          </a:prstGeom>
          <a:noFill/>
        </p:spPr>
        <p:txBody>
          <a:bodyPr wrap="square" anchor="t">
            <a:spAutoFit/>
          </a:bodyPr>
          <a:lstStyle/>
          <a:p>
            <a:pPr algn="l">
              <a:defRPr sz="1200" b="1" i="0">
                <a:solidFill>
                  <a:srgbClr val="1A1A2E"/>
                </a:solidFill>
                <a:latin typeface="Calibri"/>
              </a:defRPr>
            </a:pPr>
            <a:r>
              <a:t>Coercion Protection</a:t>
            </a:r>
          </a:p>
        </p:txBody>
      </p:sp>
      <p:sp>
        <p:nvSpPr>
          <p:cNvPr id="45" name="TextBox 44"/>
          <p:cNvSpPr txBox="1"/>
          <p:nvPr/>
        </p:nvSpPr>
        <p:spPr>
          <a:xfrm>
            <a:off x="594360" y="4480560"/>
            <a:ext cx="3200400" cy="548640"/>
          </a:xfrm>
          <a:prstGeom prst="rect">
            <a:avLst/>
          </a:prstGeom>
          <a:noFill/>
        </p:spPr>
        <p:txBody>
          <a:bodyPr wrap="square" anchor="t">
            <a:spAutoFit/>
          </a:bodyPr>
          <a:lstStyle/>
          <a:p>
            <a:pPr algn="l">
              <a:defRPr sz="1000" b="0" i="0">
                <a:solidFill>
                  <a:srgbClr val="666677"/>
                </a:solidFill>
                <a:latin typeface="Calibri"/>
              </a:defRPr>
            </a:pPr>
            <a:r>
              <a:t>Duress password wipes all data</a:t>
            </a:r>
            <a:br/>
            <a:r>
              <a:t>from disk. Failed auth threshold</a:t>
            </a:r>
            <a:br/>
            <a:r>
              <a:t>protection.</a:t>
            </a:r>
          </a:p>
        </p:txBody>
      </p:sp>
      <p:sp>
        <p:nvSpPr>
          <p:cNvPr id="46" name="Rounded Rectangle 45"/>
          <p:cNvSpPr/>
          <p:nvPr/>
        </p:nvSpPr>
        <p:spPr>
          <a:xfrm>
            <a:off x="594360" y="5120640"/>
            <a:ext cx="3200400" cy="274320"/>
          </a:xfrm>
          <a:prstGeom prst="roundRect">
            <a:avLst/>
          </a:prstGeom>
          <a:solidFill>
            <a:srgbClr val="FFFFFF"/>
          </a:solidFill>
          <a:ln w="635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120640"/>
            <a:ext cx="3017520" cy="274320"/>
          </a:xfrm>
          <a:prstGeom prst="rect">
            <a:avLst/>
          </a:prstGeom>
          <a:noFill/>
        </p:spPr>
        <p:txBody>
          <a:bodyPr wrap="square" anchor="ctr">
            <a:spAutoFit/>
          </a:bodyPr>
          <a:lstStyle/>
          <a:p>
            <a:pPr algn="l">
              <a:defRPr sz="800" b="0" i="0">
                <a:solidFill>
                  <a:srgbClr val="9999AA"/>
                </a:solidFill>
                <a:latin typeface="Consolas"/>
              </a:defRPr>
            </a:pPr>
            <a:r>
              <a:t>Triggers: Duress + Failed Auth</a:t>
            </a:r>
          </a:p>
        </p:txBody>
      </p:sp>
      <p:sp>
        <p:nvSpPr>
          <p:cNvPr id="48" name="Rounded Rectangle 47"/>
          <p:cNvSpPr/>
          <p:nvPr/>
        </p:nvSpPr>
        <p:spPr>
          <a:xfrm>
            <a:off x="4251960" y="4023360"/>
            <a:ext cx="3474720" cy="1691640"/>
          </a:xfrm>
          <a:prstGeom prst="roundRect">
            <a:avLst/>
          </a:prstGeom>
          <a:solidFill>
            <a:srgbClr val="EDE5FC"/>
          </a:solidFill>
          <a:ln w="19050">
            <a:solidFill>
              <a:srgbClr val="6C4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343400" y="4114800"/>
            <a:ext cx="1188720" cy="274320"/>
          </a:xfrm>
          <a:prstGeom prst="roundRect">
            <a:avLst/>
          </a:prstGeom>
          <a:solidFill>
            <a:srgbClr val="6C47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43400" y="4114800"/>
            <a:ext cx="1188720" cy="274320"/>
          </a:xfrm>
          <a:prstGeom prst="rect">
            <a:avLst/>
          </a:prstGeom>
          <a:noFill/>
        </p:spPr>
        <p:txBody>
          <a:bodyPr wrap="square" anchor="ctr">
            <a:spAutoFit/>
          </a:bodyPr>
          <a:lstStyle/>
          <a:p>
            <a:pPr algn="ctr">
              <a:defRPr sz="800" b="1" i="0">
                <a:solidFill>
                  <a:srgbClr val="FFFFFF"/>
                </a:solidFill>
                <a:latin typeface="Consolas"/>
              </a:defRPr>
            </a:pPr>
            <a:r>
              <a:t>DEVELOPMENT</a:t>
            </a:r>
          </a:p>
        </p:txBody>
      </p:sp>
      <p:sp>
        <p:nvSpPr>
          <p:cNvPr id="51" name="TextBox 50"/>
          <p:cNvSpPr txBox="1"/>
          <p:nvPr/>
        </p:nvSpPr>
        <p:spPr>
          <a:xfrm>
            <a:off x="5623560" y="4114800"/>
            <a:ext cx="2011680" cy="274320"/>
          </a:xfrm>
          <a:prstGeom prst="rect">
            <a:avLst/>
          </a:prstGeom>
          <a:noFill/>
        </p:spPr>
        <p:txBody>
          <a:bodyPr wrap="square" anchor="t">
            <a:spAutoFit/>
          </a:bodyPr>
          <a:lstStyle/>
          <a:p>
            <a:pPr algn="l">
              <a:defRPr sz="1200" b="1" i="0">
                <a:solidFill>
                  <a:srgbClr val="1A1A2E"/>
                </a:solidFill>
                <a:latin typeface="Calibri"/>
              </a:defRPr>
            </a:pPr>
            <a:r>
              <a:t>Ephemeral Credentials</a:t>
            </a:r>
          </a:p>
        </p:txBody>
      </p:sp>
      <p:sp>
        <p:nvSpPr>
          <p:cNvPr id="52" name="TextBox 51"/>
          <p:cNvSpPr txBox="1"/>
          <p:nvPr/>
        </p:nvSpPr>
        <p:spPr>
          <a:xfrm>
            <a:off x="4389120" y="4480560"/>
            <a:ext cx="3200400" cy="548640"/>
          </a:xfrm>
          <a:prstGeom prst="rect">
            <a:avLst/>
          </a:prstGeom>
          <a:noFill/>
        </p:spPr>
        <p:txBody>
          <a:bodyPr wrap="square" anchor="t">
            <a:spAutoFit/>
          </a:bodyPr>
          <a:lstStyle/>
          <a:p>
            <a:pPr algn="l">
              <a:defRPr sz="1000" b="0" i="0">
                <a:solidFill>
                  <a:srgbClr val="666677"/>
                </a:solidFill>
                <a:latin typeface="Calibri"/>
              </a:defRPr>
            </a:pPr>
            <a:r>
              <a:t>Temp tokens and test credentials.</a:t>
            </a:r>
            <a:br/>
            <a:r>
              <a:t>Auto-cleanup when project</a:t>
            </a:r>
            <a:br/>
            <a:r>
              <a:t>period ends.</a:t>
            </a:r>
          </a:p>
        </p:txBody>
      </p:sp>
      <p:sp>
        <p:nvSpPr>
          <p:cNvPr id="53" name="Rounded Rectangle 52"/>
          <p:cNvSpPr/>
          <p:nvPr/>
        </p:nvSpPr>
        <p:spPr>
          <a:xfrm>
            <a:off x="4389120" y="5120640"/>
            <a:ext cx="3200400" cy="274320"/>
          </a:xfrm>
          <a:prstGeom prst="roundRect">
            <a:avLst/>
          </a:prstGeom>
          <a:solidFill>
            <a:srgbClr val="FFFFFF"/>
          </a:solidFill>
          <a:ln w="635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80560" y="5120640"/>
            <a:ext cx="3017520" cy="274320"/>
          </a:xfrm>
          <a:prstGeom prst="rect">
            <a:avLst/>
          </a:prstGeom>
          <a:noFill/>
        </p:spPr>
        <p:txBody>
          <a:bodyPr wrap="square" anchor="ctr">
            <a:spAutoFit/>
          </a:bodyPr>
          <a:lstStyle/>
          <a:p>
            <a:pPr algn="l">
              <a:defRPr sz="800" b="0" i="0">
                <a:solidFill>
                  <a:srgbClr val="9999AA"/>
                </a:solidFill>
                <a:latin typeface="Consolas"/>
              </a:defRPr>
            </a:pPr>
            <a:r>
              <a:t>Triggers: Global TTL</a:t>
            </a:r>
          </a:p>
        </p:txBody>
      </p:sp>
      <p:sp>
        <p:nvSpPr>
          <p:cNvPr id="55" name="Rounded Rectangle 54"/>
          <p:cNvSpPr/>
          <p:nvPr/>
        </p:nvSpPr>
        <p:spPr>
          <a:xfrm>
            <a:off x="8046720" y="4023360"/>
            <a:ext cx="3474720" cy="1691640"/>
          </a:xfrm>
          <a:prstGeom prst="roundRect">
            <a:avLst/>
          </a:prstGeom>
          <a:solidFill>
            <a:srgbClr val="E3EFFA"/>
          </a:solidFill>
          <a:ln w="19050">
            <a:solidFill>
              <a:srgbClr val="008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138160" y="4114800"/>
            <a:ext cx="1188720" cy="27432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38160" y="4114800"/>
            <a:ext cx="1188720" cy="274320"/>
          </a:xfrm>
          <a:prstGeom prst="rect">
            <a:avLst/>
          </a:prstGeom>
          <a:noFill/>
        </p:spPr>
        <p:txBody>
          <a:bodyPr wrap="square" anchor="ctr">
            <a:spAutoFit/>
          </a:bodyPr>
          <a:lstStyle/>
          <a:p>
            <a:pPr algn="ctr">
              <a:defRPr sz="800" b="1" i="0">
                <a:solidFill>
                  <a:srgbClr val="FFFFFF"/>
                </a:solidFill>
                <a:latin typeface="Consolas"/>
              </a:defRPr>
            </a:pPr>
            <a:r>
              <a:t>COMPLIANCE</a:t>
            </a:r>
          </a:p>
        </p:txBody>
      </p:sp>
      <p:sp>
        <p:nvSpPr>
          <p:cNvPr id="58" name="TextBox 57"/>
          <p:cNvSpPr txBox="1"/>
          <p:nvPr/>
        </p:nvSpPr>
        <p:spPr>
          <a:xfrm>
            <a:off x="9418320" y="4114800"/>
            <a:ext cx="2011680" cy="274320"/>
          </a:xfrm>
          <a:prstGeom prst="rect">
            <a:avLst/>
          </a:prstGeom>
          <a:noFill/>
        </p:spPr>
        <p:txBody>
          <a:bodyPr wrap="square" anchor="t">
            <a:spAutoFit/>
          </a:bodyPr>
          <a:lstStyle/>
          <a:p>
            <a:pPr algn="l">
              <a:defRPr sz="1200" b="1" i="0">
                <a:solidFill>
                  <a:srgbClr val="1A1A2E"/>
                </a:solidFill>
                <a:latin typeface="Calibri"/>
              </a:defRPr>
            </a:pPr>
            <a:r>
              <a:t>GDPR Handling</a:t>
            </a:r>
          </a:p>
        </p:txBody>
      </p:sp>
      <p:sp>
        <p:nvSpPr>
          <p:cNvPr id="59" name="TextBox 58"/>
          <p:cNvSpPr txBox="1"/>
          <p:nvPr/>
        </p:nvSpPr>
        <p:spPr>
          <a:xfrm>
            <a:off x="8183880" y="4480560"/>
            <a:ext cx="3200400" cy="548640"/>
          </a:xfrm>
          <a:prstGeom prst="rect">
            <a:avLst/>
          </a:prstGeom>
          <a:noFill/>
        </p:spPr>
        <p:txBody>
          <a:bodyPr wrap="square" anchor="t">
            <a:spAutoFit/>
          </a:bodyPr>
          <a:lstStyle/>
          <a:p>
            <a:pPr algn="l">
              <a:defRPr sz="1000" b="0" i="0">
                <a:solidFill>
                  <a:srgbClr val="666677"/>
                </a:solidFill>
                <a:latin typeface="Calibri"/>
              </a:defRPr>
            </a:pPr>
            <a:r>
              <a:t>Right to be forgotten with</a:t>
            </a:r>
            <a:br/>
            <a:r>
              <a:t>full encrypted audit trail.</a:t>
            </a:r>
            <a:br/>
            <a:r>
              <a:t>Auto-deletion guaranteed.</a:t>
            </a:r>
          </a:p>
        </p:txBody>
      </p:sp>
      <p:sp>
        <p:nvSpPr>
          <p:cNvPr id="60" name="Rounded Rectangle 59"/>
          <p:cNvSpPr/>
          <p:nvPr/>
        </p:nvSpPr>
        <p:spPr>
          <a:xfrm>
            <a:off x="8183880" y="5120640"/>
            <a:ext cx="3200400" cy="274320"/>
          </a:xfrm>
          <a:prstGeom prst="roundRect">
            <a:avLst/>
          </a:prstGeom>
          <a:solidFill>
            <a:srgbClr val="FFFFFF"/>
          </a:solidFill>
          <a:ln w="635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75320" y="5120640"/>
            <a:ext cx="3017520" cy="274320"/>
          </a:xfrm>
          <a:prstGeom prst="rect">
            <a:avLst/>
          </a:prstGeom>
          <a:noFill/>
        </p:spPr>
        <p:txBody>
          <a:bodyPr wrap="square" anchor="ctr">
            <a:spAutoFit/>
          </a:bodyPr>
          <a:lstStyle/>
          <a:p>
            <a:pPr algn="l">
              <a:defRPr sz="800" b="0" i="0">
                <a:solidFill>
                  <a:srgbClr val="9999AA"/>
                </a:solidFill>
                <a:latin typeface="Consolas"/>
              </a:defRPr>
            </a:pPr>
            <a:r>
              <a:t>Triggers: All Triggers + Audit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274320" y="-274320"/>
            <a:ext cx="2011680" cy="109728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0"/>
            <a:ext cx="54864" cy="100584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777240"/>
            <a:ext cx="457200" cy="381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868680"/>
            <a:ext cx="381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12880"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0" y="6217920"/>
            <a:ext cx="1828800" cy="73152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10241280" y="5943600"/>
            <a:ext cx="2103120" cy="109728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64240" y="5669280"/>
            <a:ext cx="38100" cy="4572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21440" y="5852160"/>
            <a:ext cx="36576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0" y="137160"/>
            <a:ext cx="5029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82880"/>
            <a:ext cx="502920" cy="548640"/>
          </a:xfrm>
          <a:prstGeom prst="rect">
            <a:avLst/>
          </a:prstGeom>
          <a:noFill/>
        </p:spPr>
        <p:txBody>
          <a:bodyPr wrap="square" anchor="ctr">
            <a:spAutoFit/>
          </a:bodyPr>
          <a:lstStyle/>
          <a:p>
            <a:pPr algn="ctr">
              <a:defRPr sz="1600" b="1" i="0">
                <a:solidFill>
                  <a:srgbClr val="FFFFFF"/>
                </a:solidFill>
                <a:latin typeface="Consolas"/>
              </a:defRPr>
            </a:pPr>
            <a:r>
              <a:t>AU</a:t>
            </a:r>
          </a:p>
        </p:txBody>
      </p:sp>
      <p:sp>
        <p:nvSpPr>
          <p:cNvPr id="13" name="TextBox 12"/>
          <p:cNvSpPr txBox="1"/>
          <p:nvPr/>
        </p:nvSpPr>
        <p:spPr>
          <a:xfrm>
            <a:off x="10424160" y="137160"/>
            <a:ext cx="1645920" cy="365760"/>
          </a:xfrm>
          <a:prstGeom prst="rect">
            <a:avLst/>
          </a:prstGeom>
          <a:noFill/>
        </p:spPr>
        <p:txBody>
          <a:bodyPr wrap="square" anchor="t">
            <a:spAutoFit/>
          </a:bodyPr>
          <a:lstStyle/>
          <a:p>
            <a:pPr algn="l">
              <a:defRPr sz="1800" b="1" i="0">
                <a:solidFill>
                  <a:srgbClr val="1A3C6E"/>
                </a:solidFill>
                <a:latin typeface="Calibri"/>
              </a:defRPr>
            </a:pPr>
            <a:r>
              <a:t>ANURAG</a:t>
            </a:r>
          </a:p>
        </p:txBody>
      </p:sp>
      <p:sp>
        <p:nvSpPr>
          <p:cNvPr id="14" name="TextBox 13"/>
          <p:cNvSpPr txBox="1"/>
          <p:nvPr/>
        </p:nvSpPr>
        <p:spPr>
          <a:xfrm>
            <a:off x="10424160" y="457200"/>
            <a:ext cx="1645920" cy="274320"/>
          </a:xfrm>
          <a:prstGeom prst="rect">
            <a:avLst/>
          </a:prstGeom>
          <a:noFill/>
        </p:spPr>
        <p:txBody>
          <a:bodyPr wrap="square" anchor="t">
            <a:spAutoFit/>
          </a:bodyPr>
          <a:lstStyle/>
          <a:p>
            <a:pPr algn="l">
              <a:defRPr sz="900" b="1" i="0">
                <a:solidFill>
                  <a:srgbClr val="1A3C6E"/>
                </a:solidFill>
                <a:latin typeface="Calibri"/>
              </a:defRPr>
            </a:pPr>
            <a:r>
              <a:t>U N I V E R S I T Y</a:t>
            </a:r>
          </a:p>
        </p:txBody>
      </p:sp>
      <p:sp>
        <p:nvSpPr>
          <p:cNvPr id="15" name="Rounded Rectangle 14"/>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17</a:t>
            </a:r>
          </a:p>
        </p:txBody>
      </p:sp>
      <p:sp>
        <p:nvSpPr>
          <p:cNvPr id="17" name="Rounded Rectangle 16"/>
          <p:cNvSpPr/>
          <p:nvPr/>
        </p:nvSpPr>
        <p:spPr>
          <a:xfrm>
            <a:off x="457200" y="1097280"/>
            <a:ext cx="11247120" cy="64008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143000"/>
            <a:ext cx="10881360" cy="548640"/>
          </a:xfrm>
          <a:prstGeom prst="rect">
            <a:avLst/>
          </a:prstGeom>
          <a:noFill/>
        </p:spPr>
        <p:txBody>
          <a:bodyPr wrap="square" anchor="ctr">
            <a:spAutoFit/>
          </a:bodyPr>
          <a:lstStyle/>
          <a:p>
            <a:pPr algn="ctr">
              <a:defRPr sz="2400" b="1" i="0">
                <a:solidFill>
                  <a:srgbClr val="FFFFFF"/>
                </a:solidFill>
                <a:latin typeface="Calibri"/>
              </a:defRPr>
            </a:pPr>
            <a:r>
              <a:t>CONCLUSION</a:t>
            </a:r>
          </a:p>
        </p:txBody>
      </p:sp>
      <p:sp>
        <p:nvSpPr>
          <p:cNvPr id="19" name="Rounded Rectangle 18"/>
          <p:cNvSpPr/>
          <p:nvPr/>
        </p:nvSpPr>
        <p:spPr>
          <a:xfrm>
            <a:off x="457200" y="1920240"/>
            <a:ext cx="11247120" cy="2194560"/>
          </a:xfrm>
          <a:prstGeom prst="roundRect">
            <a:avLst/>
          </a:prstGeom>
          <a:solidFill>
            <a:srgbClr val="F0F2F7"/>
          </a:solidFill>
          <a:ln w="12700">
            <a:solidFill>
              <a:srgbClr val="D0D3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011680"/>
            <a:ext cx="10698480" cy="640080"/>
          </a:xfrm>
          <a:prstGeom prst="rect">
            <a:avLst/>
          </a:prstGeom>
          <a:noFill/>
        </p:spPr>
        <p:txBody>
          <a:bodyPr wrap="square" anchor="t">
            <a:spAutoFit/>
          </a:bodyPr>
          <a:lstStyle/>
          <a:p>
            <a:pPr algn="ctr">
              <a:defRPr sz="1200" b="0" i="0">
                <a:solidFill>
                  <a:srgbClr val="333344"/>
                </a:solidFill>
                <a:latin typeface="Calibri"/>
              </a:defRPr>
            </a:pPr>
            <a:r>
              <a:t>The Self-Destructing Encrypted File System (ZeroTraceFS) successfully demonstrates that sensitive data lifecycle management can be implemented natively within the R programming environment without requiring external tools, admin privileges, or cloud infrastructure.</a:t>
            </a:r>
          </a:p>
        </p:txBody>
      </p:sp>
      <p:sp>
        <p:nvSpPr>
          <p:cNvPr id="21" name="TextBox 20"/>
          <p:cNvSpPr txBox="1"/>
          <p:nvPr/>
        </p:nvSpPr>
        <p:spPr>
          <a:xfrm>
            <a:off x="731520" y="2651760"/>
            <a:ext cx="10698480" cy="640080"/>
          </a:xfrm>
          <a:prstGeom prst="rect">
            <a:avLst/>
          </a:prstGeom>
          <a:noFill/>
        </p:spPr>
        <p:txBody>
          <a:bodyPr wrap="square" anchor="t">
            <a:spAutoFit/>
          </a:bodyPr>
          <a:lstStyle/>
          <a:p>
            <a:pPr algn="ctr">
              <a:defRPr sz="1200" b="0" i="0">
                <a:solidFill>
                  <a:srgbClr val="333344"/>
                </a:solidFill>
                <a:latin typeface="Calibri"/>
              </a:defRPr>
            </a:pPr>
            <a:r>
              <a:t>By combining AES-256-CBC encryption with seven independent self-destruct mechanisms and multi-pass secure disk wiping, ZeroTraceFS ensures that confidential data — from medical records to API keys — cannot outlive its intended purpose.</a:t>
            </a:r>
          </a:p>
        </p:txBody>
      </p:sp>
      <p:sp>
        <p:nvSpPr>
          <p:cNvPr id="22" name="TextBox 21"/>
          <p:cNvSpPr txBox="1"/>
          <p:nvPr/>
        </p:nvSpPr>
        <p:spPr>
          <a:xfrm>
            <a:off x="731520" y="3291840"/>
            <a:ext cx="10698480" cy="548640"/>
          </a:xfrm>
          <a:prstGeom prst="rect">
            <a:avLst/>
          </a:prstGeom>
          <a:noFill/>
        </p:spPr>
        <p:txBody>
          <a:bodyPr wrap="square" anchor="t">
            <a:spAutoFit/>
          </a:bodyPr>
          <a:lstStyle/>
          <a:p>
            <a:pPr algn="ctr">
              <a:defRPr sz="1200" b="0" i="0">
                <a:solidFill>
                  <a:srgbClr val="333344"/>
                </a:solidFill>
                <a:latin typeface="Calibri"/>
              </a:defRPr>
            </a:pPr>
            <a:r>
              <a:t>Data is stored encrypted on disk for persistence across sessions, while plaintext never touches persistent storage. When destruction triggers activate, files are overwritten multiple times on disk before deletion.</a:t>
            </a:r>
          </a:p>
        </p:txBody>
      </p:sp>
      <p:sp>
        <p:nvSpPr>
          <p:cNvPr id="23" name="Rectangle 22"/>
          <p:cNvSpPr/>
          <p:nvPr/>
        </p:nvSpPr>
        <p:spPr>
          <a:xfrm>
            <a:off x="457200" y="3977639"/>
            <a:ext cx="11247120" cy="12700"/>
          </a:xfrm>
          <a:prstGeom prst="rect">
            <a:avLst/>
          </a:prstGeom>
          <a:solidFill>
            <a:srgbClr val="D0D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069080"/>
            <a:ext cx="11247120" cy="274320"/>
          </a:xfrm>
          <a:prstGeom prst="rect">
            <a:avLst/>
          </a:prstGeom>
          <a:noFill/>
        </p:spPr>
        <p:txBody>
          <a:bodyPr wrap="square" anchor="t">
            <a:spAutoFit/>
          </a:bodyPr>
          <a:lstStyle/>
          <a:p>
            <a:pPr algn="ctr">
              <a:defRPr sz="1200" b="1" i="0">
                <a:solidFill>
                  <a:srgbClr val="1A3C6E"/>
                </a:solidFill>
                <a:latin typeface="Consolas"/>
              </a:defRPr>
            </a:pPr>
            <a:r>
              <a:t>KEY CONTRIBUTIONS</a:t>
            </a:r>
          </a:p>
        </p:txBody>
      </p:sp>
      <p:sp>
        <p:nvSpPr>
          <p:cNvPr id="25" name="Oval 24"/>
          <p:cNvSpPr/>
          <p:nvPr/>
        </p:nvSpPr>
        <p:spPr>
          <a:xfrm>
            <a:off x="2286000" y="4453128"/>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6000" y="4453128"/>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27" name="TextBox 26"/>
          <p:cNvSpPr txBox="1"/>
          <p:nvPr/>
        </p:nvSpPr>
        <p:spPr>
          <a:xfrm>
            <a:off x="2606040" y="4453128"/>
            <a:ext cx="7269480" cy="228600"/>
          </a:xfrm>
          <a:prstGeom prst="rect">
            <a:avLst/>
          </a:prstGeom>
          <a:noFill/>
        </p:spPr>
        <p:txBody>
          <a:bodyPr wrap="square" anchor="t">
            <a:spAutoFit/>
          </a:bodyPr>
          <a:lstStyle/>
          <a:p>
            <a:pPr algn="l">
              <a:defRPr sz="1100" b="0" i="0">
                <a:solidFill>
                  <a:srgbClr val="333344"/>
                </a:solidFill>
                <a:latin typeface="Calibri"/>
              </a:defRPr>
            </a:pPr>
            <a:r>
              <a:t>First R-native encrypted file system with automated destruction capabilities</a:t>
            </a:r>
          </a:p>
        </p:txBody>
      </p:sp>
      <p:sp>
        <p:nvSpPr>
          <p:cNvPr id="28" name="Oval 27"/>
          <p:cNvSpPr/>
          <p:nvPr/>
        </p:nvSpPr>
        <p:spPr>
          <a:xfrm>
            <a:off x="2286000" y="4800600"/>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0" y="4800600"/>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30" name="TextBox 29"/>
          <p:cNvSpPr txBox="1"/>
          <p:nvPr/>
        </p:nvSpPr>
        <p:spPr>
          <a:xfrm>
            <a:off x="2606040" y="4800600"/>
            <a:ext cx="7269480" cy="228600"/>
          </a:xfrm>
          <a:prstGeom prst="rect">
            <a:avLst/>
          </a:prstGeom>
          <a:noFill/>
        </p:spPr>
        <p:txBody>
          <a:bodyPr wrap="square" anchor="t">
            <a:spAutoFit/>
          </a:bodyPr>
          <a:lstStyle/>
          <a:p>
            <a:pPr algn="l">
              <a:defRPr sz="1100" b="0" i="0">
                <a:solidFill>
                  <a:srgbClr val="333344"/>
                </a:solidFill>
                <a:latin typeface="Calibri"/>
              </a:defRPr>
            </a:pPr>
            <a:r>
              <a:t>Disk-backed encrypted storage with forensic-proof secure deletion</a:t>
            </a:r>
          </a:p>
        </p:txBody>
      </p:sp>
      <p:sp>
        <p:nvSpPr>
          <p:cNvPr id="31" name="Oval 30"/>
          <p:cNvSpPr/>
          <p:nvPr/>
        </p:nvSpPr>
        <p:spPr>
          <a:xfrm>
            <a:off x="2286000" y="5148071"/>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6000" y="5148071"/>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33" name="TextBox 32"/>
          <p:cNvSpPr txBox="1"/>
          <p:nvPr/>
        </p:nvSpPr>
        <p:spPr>
          <a:xfrm>
            <a:off x="2606040" y="5148071"/>
            <a:ext cx="7269480" cy="228600"/>
          </a:xfrm>
          <a:prstGeom prst="rect">
            <a:avLst/>
          </a:prstGeom>
          <a:noFill/>
        </p:spPr>
        <p:txBody>
          <a:bodyPr wrap="square" anchor="t">
            <a:spAutoFit/>
          </a:bodyPr>
          <a:lstStyle/>
          <a:p>
            <a:pPr algn="l">
              <a:defRPr sz="1100" b="0" i="0">
                <a:solidFill>
                  <a:srgbClr val="333344"/>
                </a:solidFill>
                <a:latin typeface="Calibri"/>
              </a:defRPr>
            </a:pPr>
            <a:r>
              <a:t>Novel duress password mechanism for data science environments</a:t>
            </a:r>
          </a:p>
        </p:txBody>
      </p:sp>
      <p:sp>
        <p:nvSpPr>
          <p:cNvPr id="34" name="Oval 33"/>
          <p:cNvSpPr/>
          <p:nvPr/>
        </p:nvSpPr>
        <p:spPr>
          <a:xfrm>
            <a:off x="2286000" y="5495544"/>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86000" y="5495544"/>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36" name="TextBox 35"/>
          <p:cNvSpPr txBox="1"/>
          <p:nvPr/>
        </p:nvSpPr>
        <p:spPr>
          <a:xfrm>
            <a:off x="2606040" y="5495544"/>
            <a:ext cx="7269480" cy="228600"/>
          </a:xfrm>
          <a:prstGeom prst="rect">
            <a:avLst/>
          </a:prstGeom>
          <a:noFill/>
        </p:spPr>
        <p:txBody>
          <a:bodyPr wrap="square" anchor="t">
            <a:spAutoFit/>
          </a:bodyPr>
          <a:lstStyle/>
          <a:p>
            <a:pPr algn="l">
              <a:defRPr sz="1100" b="0" i="0">
                <a:solidFill>
                  <a:srgbClr val="333344"/>
                </a:solidFill>
                <a:latin typeface="Calibri"/>
              </a:defRPr>
            </a:pPr>
            <a:r>
              <a:t>Dead man’s switch for unattended research data protection</a:t>
            </a:r>
          </a:p>
        </p:txBody>
      </p:sp>
      <p:sp>
        <p:nvSpPr>
          <p:cNvPr id="37" name="Oval 36"/>
          <p:cNvSpPr/>
          <p:nvPr/>
        </p:nvSpPr>
        <p:spPr>
          <a:xfrm>
            <a:off x="2286000" y="5843015"/>
            <a:ext cx="228600" cy="228600"/>
          </a:xfrm>
          <a:prstGeom prst="ellipse">
            <a:avLst/>
          </a:prstGeom>
          <a:solidFill>
            <a:srgbClr val="E6F7EE"/>
          </a:solidFill>
          <a:ln w="12700">
            <a:solidFill>
              <a:srgbClr val="1B9E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286000" y="5843015"/>
            <a:ext cx="228600" cy="228600"/>
          </a:xfrm>
          <a:prstGeom prst="rect">
            <a:avLst/>
          </a:prstGeom>
          <a:noFill/>
        </p:spPr>
        <p:txBody>
          <a:bodyPr wrap="square" anchor="ctr">
            <a:spAutoFit/>
          </a:bodyPr>
          <a:lstStyle/>
          <a:p>
            <a:pPr algn="ctr">
              <a:defRPr sz="1000" b="1" i="0">
                <a:solidFill>
                  <a:srgbClr val="1B9E5E"/>
                </a:solidFill>
                <a:latin typeface="Consolas"/>
              </a:defRPr>
            </a:pPr>
            <a:r>
              <a:t>✓</a:t>
            </a:r>
          </a:p>
        </p:txBody>
      </p:sp>
      <p:sp>
        <p:nvSpPr>
          <p:cNvPr id="39" name="TextBox 38"/>
          <p:cNvSpPr txBox="1"/>
          <p:nvPr/>
        </p:nvSpPr>
        <p:spPr>
          <a:xfrm>
            <a:off x="2606040" y="5843015"/>
            <a:ext cx="7269480" cy="228600"/>
          </a:xfrm>
          <a:prstGeom prst="rect">
            <a:avLst/>
          </a:prstGeom>
          <a:noFill/>
        </p:spPr>
        <p:txBody>
          <a:bodyPr wrap="square" anchor="t">
            <a:spAutoFit/>
          </a:bodyPr>
          <a:lstStyle/>
          <a:p>
            <a:pPr algn="l">
              <a:defRPr sz="1100" b="0" i="0">
                <a:solidFill>
                  <a:srgbClr val="333344"/>
                </a:solidFill>
                <a:latin typeface="Calibri"/>
              </a:defRPr>
            </a:pPr>
            <a:r>
              <a:t>Addresses GDPR and HIPAA data lifecycle compliance requirements</a:t>
            </a:r>
          </a:p>
        </p:txBody>
      </p:sp>
      <p:sp>
        <p:nvSpPr>
          <p:cNvPr id="40" name="Rectangle 39"/>
          <p:cNvSpPr/>
          <p:nvPr/>
        </p:nvSpPr>
        <p:spPr>
          <a:xfrm>
            <a:off x="2743200" y="5623560"/>
            <a:ext cx="6675120" cy="2540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5715000"/>
            <a:ext cx="11247120" cy="411480"/>
          </a:xfrm>
          <a:prstGeom prst="rect">
            <a:avLst/>
          </a:prstGeom>
          <a:noFill/>
        </p:spPr>
        <p:txBody>
          <a:bodyPr wrap="square" anchor="t">
            <a:spAutoFit/>
          </a:bodyPr>
          <a:lstStyle/>
          <a:p>
            <a:pPr algn="ctr">
              <a:defRPr sz="2000" b="1" i="0">
                <a:solidFill>
                  <a:srgbClr val="D41F2C"/>
                </a:solidFill>
                <a:latin typeface="Consolas"/>
              </a:defRPr>
            </a:pPr>
            <a:r>
              <a:t>Encrypt.   Store.   Use.   Destroy.   Automatically.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ight Triangle 1"/>
          <p:cNvSpPr/>
          <p:nvPr/>
        </p:nvSpPr>
        <p:spPr>
          <a:xfrm>
            <a:off x="-914400" y="-914400"/>
            <a:ext cx="4572000" cy="2743200"/>
          </a:xfrm>
          <a:prstGeom prst="rtTriangle">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0"/>
            <a:ext cx="54864" cy="1828800"/>
          </a:xfrm>
          <a:prstGeom prst="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a:off x="8686800" y="5029200"/>
            <a:ext cx="4114800" cy="2286000"/>
          </a:xfrm>
          <a:prstGeom prst="rtTriangle">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0" y="4572000"/>
            <a:ext cx="38100" cy="73152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0" y="274320"/>
            <a:ext cx="548640" cy="685800"/>
          </a:xfrm>
          <a:prstGeom prst="round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320040"/>
            <a:ext cx="548640" cy="594360"/>
          </a:xfrm>
          <a:prstGeom prst="rect">
            <a:avLst/>
          </a:prstGeom>
          <a:noFill/>
        </p:spPr>
        <p:txBody>
          <a:bodyPr wrap="square" anchor="ctr">
            <a:spAutoFit/>
          </a:bodyPr>
          <a:lstStyle/>
          <a:p>
            <a:pPr algn="ctr">
              <a:defRPr sz="1800" b="1" i="0">
                <a:solidFill>
                  <a:srgbClr val="FFFFFF"/>
                </a:solidFill>
                <a:latin typeface="Consolas"/>
              </a:defRPr>
            </a:pPr>
            <a:r>
              <a:t>AU</a:t>
            </a:r>
          </a:p>
        </p:txBody>
      </p:sp>
      <p:sp>
        <p:nvSpPr>
          <p:cNvPr id="8" name="TextBox 7"/>
          <p:cNvSpPr txBox="1"/>
          <p:nvPr/>
        </p:nvSpPr>
        <p:spPr>
          <a:xfrm>
            <a:off x="10241280" y="274320"/>
            <a:ext cx="1828800" cy="365760"/>
          </a:xfrm>
          <a:prstGeom prst="rect">
            <a:avLst/>
          </a:prstGeom>
          <a:noFill/>
        </p:spPr>
        <p:txBody>
          <a:bodyPr wrap="square" anchor="t">
            <a:spAutoFit/>
          </a:bodyPr>
          <a:lstStyle/>
          <a:p>
            <a:pPr algn="l">
              <a:defRPr sz="2000" b="1" i="0">
                <a:solidFill>
                  <a:srgbClr val="1A3C6E"/>
                </a:solidFill>
                <a:latin typeface="Calibri"/>
              </a:defRPr>
            </a:pPr>
            <a:r>
              <a:t>ANURAG</a:t>
            </a:r>
          </a:p>
        </p:txBody>
      </p:sp>
      <p:sp>
        <p:nvSpPr>
          <p:cNvPr id="9" name="TextBox 8"/>
          <p:cNvSpPr txBox="1"/>
          <p:nvPr/>
        </p:nvSpPr>
        <p:spPr>
          <a:xfrm>
            <a:off x="10241280" y="594360"/>
            <a:ext cx="1828800" cy="274320"/>
          </a:xfrm>
          <a:prstGeom prst="rect">
            <a:avLst/>
          </a:prstGeom>
          <a:noFill/>
        </p:spPr>
        <p:txBody>
          <a:bodyPr wrap="square" anchor="t">
            <a:spAutoFit/>
          </a:bodyPr>
          <a:lstStyle/>
          <a:p>
            <a:pPr algn="l">
              <a:defRPr sz="1000" b="1" i="0">
                <a:solidFill>
                  <a:srgbClr val="1A3C6E"/>
                </a:solidFill>
                <a:latin typeface="Calibri"/>
              </a:defRPr>
            </a:pPr>
            <a:r>
              <a:t>U N I V E R S I T Y</a:t>
            </a:r>
          </a:p>
        </p:txBody>
      </p:sp>
      <p:sp>
        <p:nvSpPr>
          <p:cNvPr id="10" name="TextBox 9"/>
          <p:cNvSpPr txBox="1"/>
          <p:nvPr/>
        </p:nvSpPr>
        <p:spPr>
          <a:xfrm>
            <a:off x="0" y="1828800"/>
            <a:ext cx="12191695" cy="1097280"/>
          </a:xfrm>
          <a:prstGeom prst="rect">
            <a:avLst/>
          </a:prstGeom>
          <a:noFill/>
        </p:spPr>
        <p:txBody>
          <a:bodyPr wrap="square" anchor="t">
            <a:spAutoFit/>
          </a:bodyPr>
          <a:lstStyle/>
          <a:p>
            <a:pPr algn="ctr">
              <a:defRPr sz="5600" b="1" i="0">
                <a:solidFill>
                  <a:srgbClr val="1A3C6E"/>
                </a:solidFill>
                <a:latin typeface="Calibri"/>
              </a:defRPr>
            </a:pPr>
            <a:r>
              <a:t>Thank You</a:t>
            </a:r>
          </a:p>
        </p:txBody>
      </p:sp>
      <p:sp>
        <p:nvSpPr>
          <p:cNvPr id="11" name="Rectangle 10"/>
          <p:cNvSpPr/>
          <p:nvPr/>
        </p:nvSpPr>
        <p:spPr>
          <a:xfrm>
            <a:off x="4114800" y="2926080"/>
            <a:ext cx="3931920" cy="38100"/>
          </a:xfrm>
          <a:prstGeom prst="rect">
            <a:avLst/>
          </a:prstGeom>
          <a:solidFill>
            <a:srgbClr val="D41F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0" y="3200400"/>
            <a:ext cx="12191695" cy="548640"/>
          </a:xfrm>
          <a:prstGeom prst="rect">
            <a:avLst/>
          </a:prstGeom>
          <a:noFill/>
        </p:spPr>
        <p:txBody>
          <a:bodyPr wrap="square" anchor="t">
            <a:spAutoFit/>
          </a:bodyPr>
          <a:lstStyle/>
          <a:p>
            <a:pPr algn="ctr">
              <a:defRPr sz="1800" b="0" i="0">
                <a:solidFill>
                  <a:srgbClr val="1A1A2E"/>
                </a:solidFill>
                <a:latin typeface="Calibri"/>
              </a:defRPr>
            </a:pPr>
            <a:r>
              <a:t>Self-Destructing Encrypted File System in R</a:t>
            </a:r>
          </a:p>
        </p:txBody>
      </p:sp>
      <p:sp>
        <p:nvSpPr>
          <p:cNvPr id="13" name="TextBox 12"/>
          <p:cNvSpPr txBox="1"/>
          <p:nvPr/>
        </p:nvSpPr>
        <p:spPr>
          <a:xfrm>
            <a:off x="0" y="3749039"/>
            <a:ext cx="12191695" cy="365760"/>
          </a:xfrm>
          <a:prstGeom prst="rect">
            <a:avLst/>
          </a:prstGeom>
          <a:noFill/>
        </p:spPr>
        <p:txBody>
          <a:bodyPr wrap="square" anchor="t">
            <a:spAutoFit/>
          </a:bodyPr>
          <a:lstStyle/>
          <a:p>
            <a:pPr algn="ctr">
              <a:defRPr sz="1100" b="0" i="0">
                <a:solidFill>
                  <a:srgbClr val="666677"/>
                </a:solidFill>
                <a:latin typeface="Calibri"/>
              </a:defRPr>
            </a:pPr>
            <a:r>
              <a:t>A secure encrypted file system with automated data lifecycle management</a:t>
            </a:r>
          </a:p>
        </p:txBody>
      </p:sp>
      <p:sp>
        <p:nvSpPr>
          <p:cNvPr id="14" name="Rounded Rectangle 13"/>
          <p:cNvSpPr/>
          <p:nvPr/>
        </p:nvSpPr>
        <p:spPr>
          <a:xfrm>
            <a:off x="3200400" y="4114800"/>
            <a:ext cx="5760720" cy="27432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0" y="4114800"/>
            <a:ext cx="5760720" cy="274320"/>
          </a:xfrm>
          <a:prstGeom prst="rect">
            <a:avLst/>
          </a:prstGeom>
          <a:noFill/>
        </p:spPr>
        <p:txBody>
          <a:bodyPr wrap="square" anchor="ctr">
            <a:spAutoFit/>
          </a:bodyPr>
          <a:lstStyle/>
          <a:p>
            <a:pPr algn="ctr">
              <a:defRPr sz="1000" b="1" i="0">
                <a:solidFill>
                  <a:srgbClr val="E84C55"/>
                </a:solidFill>
                <a:latin typeface="Consolas"/>
              </a:defRPr>
            </a:pPr>
            <a:r>
              <a:t>ZeroTraceFS  —  Because some data should never be found.</a:t>
            </a:r>
          </a:p>
        </p:txBody>
      </p:sp>
      <p:sp>
        <p:nvSpPr>
          <p:cNvPr id="16" name="Rounded Rectangle 15"/>
          <p:cNvSpPr/>
          <p:nvPr/>
        </p:nvSpPr>
        <p:spPr>
          <a:xfrm>
            <a:off x="4572000" y="4572000"/>
            <a:ext cx="3017520" cy="914400"/>
          </a:xfrm>
          <a:prstGeom prst="roundRect">
            <a:avLst/>
          </a:prstGeom>
          <a:solidFill>
            <a:srgbClr val="E3EFFA"/>
          </a:solidFill>
          <a:ln w="25400">
            <a:solidFill>
              <a:srgbClr val="1A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4663440"/>
            <a:ext cx="3017520" cy="457200"/>
          </a:xfrm>
          <a:prstGeom prst="rect">
            <a:avLst/>
          </a:prstGeom>
          <a:noFill/>
        </p:spPr>
        <p:txBody>
          <a:bodyPr wrap="square" anchor="t">
            <a:spAutoFit/>
          </a:bodyPr>
          <a:lstStyle/>
          <a:p>
            <a:pPr algn="ctr">
              <a:defRPr sz="2400" b="1" i="0">
                <a:solidFill>
                  <a:srgbClr val="1A3C6E"/>
                </a:solidFill>
                <a:latin typeface="Calibri"/>
              </a:defRPr>
            </a:pPr>
            <a:r>
              <a:t>Questions?</a:t>
            </a:r>
          </a:p>
        </p:txBody>
      </p:sp>
      <p:sp>
        <p:nvSpPr>
          <p:cNvPr id="18" name="TextBox 17"/>
          <p:cNvSpPr txBox="1"/>
          <p:nvPr/>
        </p:nvSpPr>
        <p:spPr>
          <a:xfrm>
            <a:off x="4572000" y="5074920"/>
            <a:ext cx="3017520" cy="274320"/>
          </a:xfrm>
          <a:prstGeom prst="rect">
            <a:avLst/>
          </a:prstGeom>
          <a:noFill/>
        </p:spPr>
        <p:txBody>
          <a:bodyPr wrap="square" anchor="t">
            <a:spAutoFit/>
          </a:bodyPr>
          <a:lstStyle/>
          <a:p>
            <a:pPr algn="ctr">
              <a:defRPr sz="1100" b="0" i="0">
                <a:solidFill>
                  <a:srgbClr val="666677"/>
                </a:solidFill>
                <a:latin typeface="Calibri"/>
              </a:defRPr>
            </a:pPr>
            <a:r>
              <a:t>Q &amp; A Session</a:t>
            </a:r>
          </a:p>
        </p:txBody>
      </p:sp>
      <p:sp>
        <p:nvSpPr>
          <p:cNvPr id="19" name="TextBox 18"/>
          <p:cNvSpPr txBox="1"/>
          <p:nvPr/>
        </p:nvSpPr>
        <p:spPr>
          <a:xfrm>
            <a:off x="0" y="5943600"/>
            <a:ext cx="12191695" cy="320040"/>
          </a:xfrm>
          <a:prstGeom prst="rect">
            <a:avLst/>
          </a:prstGeom>
          <a:noFill/>
        </p:spPr>
        <p:txBody>
          <a:bodyPr wrap="square" anchor="t">
            <a:spAutoFit/>
          </a:bodyPr>
          <a:lstStyle/>
          <a:p>
            <a:pPr algn="ctr">
              <a:defRPr sz="1000" b="0" i="0">
                <a:solidFill>
                  <a:srgbClr val="9999AA"/>
                </a:solidFill>
                <a:latin typeface="Consolas"/>
              </a:defRPr>
            </a:pPr>
            <a:r>
              <a:t>Department of Data Science  |  Anurag University  |  2025-26</a:t>
            </a:r>
          </a:p>
        </p:txBody>
      </p:sp>
      <p:sp>
        <p:nvSpPr>
          <p:cNvPr id="20" name="Rounded Rectangle 19"/>
          <p:cNvSpPr/>
          <p:nvPr/>
        </p:nvSpPr>
        <p:spPr>
          <a:xfrm>
            <a:off x="11247120" y="6263640"/>
            <a:ext cx="548640" cy="365760"/>
          </a:xfrm>
          <a:prstGeom prst="roundRect">
            <a:avLst/>
          </a:prstGeom>
          <a:solidFill>
            <a:srgbClr val="008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47120" y="6263640"/>
            <a:ext cx="548640" cy="365760"/>
          </a:xfrm>
          <a:prstGeom prst="rect">
            <a:avLst/>
          </a:prstGeom>
          <a:noFill/>
        </p:spPr>
        <p:txBody>
          <a:bodyPr wrap="square" anchor="ctr">
            <a:spAutoFit/>
          </a:bodyPr>
          <a:lstStyle/>
          <a:p>
            <a:pPr algn="ctr">
              <a:defRPr sz="1200" b="1" i="0">
                <a:solidFill>
                  <a:srgbClr val="FFFFFF"/>
                </a:solidFill>
                <a:latin typeface="Consolas"/>
              </a:defRPr>
            </a:pPr>
            <a: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